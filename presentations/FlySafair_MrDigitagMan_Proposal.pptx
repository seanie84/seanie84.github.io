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9509760" y="-2011680"/>
            <a:ext cx="4206240" cy="4206240"/>
          </a:xfrm>
          <a:prstGeom prst="ellipse">
            <a:avLst/>
          </a:prstGeom>
          <a:solidFill>
            <a:srgbClr val="133155"/>
          </a:solidFill>
          <a:ln/>
        </p:spPr>
      </p:sp>
      <p:sp>
        <p:nvSpPr>
          <p:cNvPr id="3" name="Shape 1"/>
          <p:cNvSpPr/>
          <p:nvPr/>
        </p:nvSpPr>
        <p:spPr>
          <a:xfrm>
            <a:off x="10607040" y="-914400"/>
            <a:ext cx="2103120" cy="2103120"/>
          </a:xfrm>
          <a:prstGeom prst="ellipse">
            <a:avLst/>
          </a:prstGeom>
          <a:solidFill>
            <a:srgbClr val="0E2648"/>
          </a:solidFill>
          <a:ln/>
        </p:spPr>
      </p:sp>
      <p:sp>
        <p:nvSpPr>
          <p:cNvPr id="4" name="Shape 2"/>
          <p:cNvSpPr/>
          <p:nvPr/>
        </p:nvSpPr>
        <p:spPr>
          <a:xfrm>
            <a:off x="548640" y="457200"/>
            <a:ext cx="525780" cy="525780"/>
          </a:xfrm>
          <a:prstGeom prst="roundRect">
            <a:avLst>
              <a:gd name="adj" fmla="val 24000"/>
            </a:avLst>
          </a:prstGeom>
          <a:solidFill>
            <a:srgbClr val="F17400"/>
          </a:solidFill>
          <a:ln/>
        </p:spPr>
      </p:sp>
      <p:sp>
        <p:nvSpPr>
          <p:cNvPr id="5" name="Text 3"/>
          <p:cNvSpPr txBox="1"/>
          <p:nvPr/>
        </p:nvSpPr>
        <p:spPr>
          <a:xfrm>
            <a:off x="548640" y="457200"/>
            <a:ext cx="525780" cy="525780"/>
          </a:xfrm>
          <a:prstGeom prst="rect">
            <a:avLst/>
          </a:prstGeom>
          <a:noFill/>
          <a:ln/>
        </p:spPr>
        <p:txBody>
          <a:bodyPr wrap="square" lIns="0" tIns="0" rIns="0" bIns="0" rtlCol="0" anchor="ctr"/>
          <a:lstStyle/>
          <a:p>
            <a:pPr algn="ctr" indent="0" marL="0">
              <a:buNone/>
            </a:pPr>
            <a:r>
              <a:rPr lang="en-US" sz="1725" b="1" dirty="0">
                <a:solidFill>
                  <a:srgbClr val="FFFFFF"/>
                </a:solidFill>
                <a:latin typeface="Arial" pitchFamily="34" charset="0"/>
                <a:ea typeface="Arial" pitchFamily="34" charset="-122"/>
                <a:cs typeface="Arial" pitchFamily="34" charset="-120"/>
              </a:rPr>
              <a:t>MD</a:t>
            </a:r>
            <a:endParaRPr lang="en-US" sz="1725" dirty="0"/>
          </a:p>
        </p:txBody>
      </p:sp>
      <p:sp>
        <p:nvSpPr>
          <p:cNvPr id="6" name="Text 4"/>
          <p:cNvSpPr txBox="1"/>
          <p:nvPr/>
        </p:nvSpPr>
        <p:spPr>
          <a:xfrm>
            <a:off x="1200607" y="438912"/>
            <a:ext cx="3291840" cy="315468"/>
          </a:xfrm>
          <a:prstGeom prst="rect">
            <a:avLst/>
          </a:prstGeom>
          <a:noFill/>
          <a:ln/>
        </p:spPr>
        <p:txBody>
          <a:bodyPr wrap="square" lIns="0" tIns="0" rIns="0" bIns="0" rtlCol="0" anchor="ctr"/>
          <a:lstStyle/>
          <a:p>
            <a:pPr indent="0" marL="0">
              <a:buNone/>
            </a:pPr>
            <a:r>
              <a:rPr lang="en-US" sz="1610" b="1" dirty="0">
                <a:solidFill>
                  <a:srgbClr val="FFFFFF"/>
                </a:solidFill>
                <a:latin typeface="Arial" pitchFamily="34" charset="0"/>
                <a:ea typeface="Arial" pitchFamily="34" charset="-122"/>
                <a:cs typeface="Arial" pitchFamily="34" charset="-120"/>
              </a:rPr>
              <a:t>MR DIGITAG </a:t>
            </a:r>
            <a:pPr indent="0" marL="0">
              <a:buNone/>
            </a:pPr>
            <a:r>
              <a:rPr lang="en-US" sz="1610" b="1" dirty="0">
                <a:solidFill>
                  <a:srgbClr val="F17400"/>
                </a:solidFill>
                <a:latin typeface="Arial" pitchFamily="34" charset="0"/>
                <a:ea typeface="Arial" pitchFamily="34" charset="-122"/>
                <a:cs typeface="Arial" pitchFamily="34" charset="-120"/>
              </a:rPr>
              <a:t>MAN</a:t>
            </a:r>
            <a:endParaRPr lang="en-US" sz="1610" dirty="0"/>
          </a:p>
        </p:txBody>
      </p:sp>
      <p:sp>
        <p:nvSpPr>
          <p:cNvPr id="7" name="Text 5"/>
          <p:cNvSpPr txBox="1"/>
          <p:nvPr/>
        </p:nvSpPr>
        <p:spPr>
          <a:xfrm>
            <a:off x="1211123" y="741121"/>
            <a:ext cx="3840480" cy="201168"/>
          </a:xfrm>
          <a:prstGeom prst="rect">
            <a:avLst/>
          </a:prstGeom>
          <a:noFill/>
          <a:ln/>
        </p:spPr>
        <p:txBody>
          <a:bodyPr wrap="square" lIns="0" tIns="0" rIns="0" bIns="0" rtlCol="0" anchor="ctr"/>
          <a:lstStyle/>
          <a:p>
            <a:pPr indent="0" marL="0">
              <a:buNone/>
            </a:pPr>
            <a:r>
              <a:rPr lang="en-US" sz="863" spc="160" kern="0" dirty="0">
                <a:solidFill>
                  <a:srgbClr val="7C8BA5"/>
                </a:solidFill>
                <a:latin typeface="Arial" pitchFamily="34" charset="0"/>
                <a:ea typeface="Arial" pitchFamily="34" charset="-122"/>
                <a:cs typeface="Arial" pitchFamily="34" charset="-120"/>
              </a:rPr>
              <a:t>WE ADD VALUE, SECURITY &amp; INTELLIGENCE</a:t>
            </a:r>
            <a:endParaRPr lang="en-US" sz="863" dirty="0"/>
          </a:p>
        </p:txBody>
      </p:sp>
      <p:sp>
        <p:nvSpPr>
          <p:cNvPr id="8" name="Shape 6"/>
          <p:cNvSpPr/>
          <p:nvPr/>
        </p:nvSpPr>
        <p:spPr>
          <a:xfrm>
            <a:off x="548640" y="1572768"/>
            <a:ext cx="4160520" cy="329184"/>
          </a:xfrm>
          <a:prstGeom prst="roundRect">
            <a:avLst>
              <a:gd name="adj" fmla="val 50000"/>
            </a:avLst>
          </a:prstGeom>
          <a:solidFill>
            <a:srgbClr val="0B1B34">
              <a:alpha val="0"/>
            </a:srgbClr>
          </a:solidFill>
          <a:ln w="12700">
            <a:solidFill>
              <a:srgbClr val="3D5170"/>
            </a:solidFill>
            <a:prstDash val="solid"/>
          </a:ln>
        </p:spPr>
      </p:sp>
      <p:sp>
        <p:nvSpPr>
          <p:cNvPr id="9" name="Text 7"/>
          <p:cNvSpPr txBox="1"/>
          <p:nvPr/>
        </p:nvSpPr>
        <p:spPr>
          <a:xfrm>
            <a:off x="548640" y="1572768"/>
            <a:ext cx="416052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A PROPOSAL FOR FLYSAFAIR</a:t>
            </a:r>
            <a:endParaRPr lang="en-US" sz="950" dirty="0"/>
          </a:p>
        </p:txBody>
      </p:sp>
      <p:sp>
        <p:nvSpPr>
          <p:cNvPr id="10" name="Shape 8"/>
          <p:cNvSpPr/>
          <p:nvPr/>
        </p:nvSpPr>
        <p:spPr>
          <a:xfrm>
            <a:off x="4864608" y="1572768"/>
            <a:ext cx="3931920" cy="329184"/>
          </a:xfrm>
          <a:prstGeom prst="roundRect">
            <a:avLst>
              <a:gd name="adj" fmla="val 50000"/>
            </a:avLst>
          </a:prstGeom>
          <a:solidFill>
            <a:srgbClr val="F17400"/>
          </a:solidFill>
          <a:ln w="12700">
            <a:solidFill>
              <a:srgbClr val="F17400"/>
            </a:solidFill>
            <a:prstDash val="solid"/>
          </a:ln>
        </p:spPr>
      </p:sp>
      <p:sp>
        <p:nvSpPr>
          <p:cNvPr id="11" name="Text 9"/>
          <p:cNvSpPr txBox="1"/>
          <p:nvPr/>
        </p:nvSpPr>
        <p:spPr>
          <a:xfrm>
            <a:off x="4864608" y="1572768"/>
            <a:ext cx="393192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100% SOUTH AFRICAN-OWNED &amp; OPERATED</a:t>
            </a:r>
            <a:endParaRPr lang="en-US" sz="950" dirty="0"/>
          </a:p>
        </p:txBody>
      </p:sp>
      <p:sp>
        <p:nvSpPr>
          <p:cNvPr id="12" name="Text 10"/>
          <p:cNvSpPr txBox="1"/>
          <p:nvPr/>
        </p:nvSpPr>
        <p:spPr>
          <a:xfrm>
            <a:off x="548640" y="2084832"/>
            <a:ext cx="11064240" cy="1463040"/>
          </a:xfrm>
          <a:prstGeom prst="rect">
            <a:avLst/>
          </a:prstGeom>
          <a:noFill/>
          <a:ln/>
        </p:spPr>
        <p:txBody>
          <a:bodyPr wrap="square" lIns="0" tIns="0" rIns="0" bIns="0" rtlCol="0" anchor="ctr"/>
          <a:lstStyle/>
          <a:p>
            <a:pPr indent="0" marL="0">
              <a:lnSpc>
                <a:spcPts val="5000"/>
              </a:lnSpc>
              <a:buNone/>
            </a:pPr>
            <a:r>
              <a:rPr lang="en-US" sz="4300" b="1" dirty="0">
                <a:solidFill>
                  <a:srgbClr val="FFFFFF"/>
                </a:solidFill>
                <a:latin typeface="Arial" pitchFamily="34" charset="0"/>
                <a:ea typeface="Arial" pitchFamily="34" charset="-122"/>
                <a:cs typeface="Arial" pitchFamily="34" charset="-120"/>
              </a:rPr>
              <a:t>EVERY BAG. EVERY PASSENGER.</a:t>
            </a:r>
            <a:endParaRPr lang="en-US" sz="4300" dirty="0"/>
          </a:p>
          <a:p>
            <a:pPr indent="0" marL="0">
              <a:lnSpc>
                <a:spcPts val="5000"/>
              </a:lnSpc>
              <a:buNone/>
            </a:pPr>
            <a:r>
              <a:rPr lang="en-US" sz="4300" b="1" dirty="0">
                <a:solidFill>
                  <a:srgbClr val="FFFFFF"/>
                </a:solidFill>
                <a:latin typeface="Arial" pitchFamily="34" charset="0"/>
                <a:ea typeface="Arial" pitchFamily="34" charset="-122"/>
                <a:cs typeface="Arial" pitchFamily="34" charset="-120"/>
              </a:rPr>
              <a:t>EVERY RAND — VISIBLE.</a:t>
            </a:r>
            <a:endParaRPr lang="en-US" sz="4300" dirty="0"/>
          </a:p>
        </p:txBody>
      </p:sp>
      <p:sp>
        <p:nvSpPr>
          <p:cNvPr id="13" name="Text 11"/>
          <p:cNvSpPr txBox="1"/>
          <p:nvPr/>
        </p:nvSpPr>
        <p:spPr>
          <a:xfrm>
            <a:off x="548640" y="3639312"/>
            <a:ext cx="10241280" cy="777240"/>
          </a:xfrm>
          <a:prstGeom prst="rect">
            <a:avLst/>
          </a:prstGeom>
          <a:noFill/>
          <a:ln/>
        </p:spPr>
        <p:txBody>
          <a:bodyPr wrap="square" lIns="0" tIns="0" rIns="0" bIns="0" rtlCol="0" anchor="ctr"/>
          <a:lstStyle/>
          <a:p>
            <a:pPr indent="0" marL="0">
              <a:lnSpc>
                <a:spcPts val="1800"/>
              </a:lnSpc>
              <a:buNone/>
            </a:pPr>
            <a:r>
              <a:rPr lang="en-US" sz="1300" dirty="0">
                <a:solidFill>
                  <a:srgbClr val="A9B6CB"/>
                </a:solidFill>
                <a:latin typeface="Arial" pitchFamily="34" charset="0"/>
                <a:ea typeface="Arial" pitchFamily="34" charset="-122"/>
                <a:cs typeface="Arial" pitchFamily="34" charset="-120"/>
              </a:rPr>
              <a:t>A GPS visibility and intelligence network for FlySafair — protecting checked baggage on ±180 daily flights across South Africa's busiest airports, opening a self-funding new revenue stream at every check-in and in every ticket sale, and putting Nexas AI to work in every division of the airline.</a:t>
            </a:r>
            <a:endParaRPr lang="en-US" sz="1300" dirty="0"/>
          </a:p>
        </p:txBody>
      </p:sp>
      <p:sp>
        <p:nvSpPr>
          <p:cNvPr id="14" name="Shape 12"/>
          <p:cNvSpPr/>
          <p:nvPr/>
        </p:nvSpPr>
        <p:spPr>
          <a:xfrm>
            <a:off x="548640" y="4617720"/>
            <a:ext cx="11091672" cy="1417320"/>
          </a:xfrm>
          <a:prstGeom prst="rect">
            <a:avLst/>
          </a:prstGeom>
          <a:solidFill>
            <a:srgbClr val="0E2648"/>
          </a:solidFill>
          <a:ln/>
        </p:spPr>
      </p:sp>
      <p:sp>
        <p:nvSpPr>
          <p:cNvPr id="15" name="Text 13"/>
          <p:cNvSpPr txBox="1"/>
          <p:nvPr/>
        </p:nvSpPr>
        <p:spPr>
          <a:xfrm>
            <a:off x="777240" y="4773168"/>
            <a:ext cx="2377440" cy="457200"/>
          </a:xfrm>
          <a:prstGeom prst="rect">
            <a:avLst/>
          </a:prstGeom>
          <a:noFill/>
          <a:ln/>
        </p:spPr>
        <p:txBody>
          <a:bodyPr wrap="square" lIns="0" tIns="0" rIns="0" bIns="0" rtlCol="0" anchor="ctr"/>
          <a:lstStyle/>
          <a:p>
            <a:pPr indent="0" marL="0">
              <a:buNone/>
            </a:pPr>
            <a:r>
              <a:rPr lang="en-US" sz="2700" b="1" dirty="0">
                <a:solidFill>
                  <a:srgbClr val="F17400"/>
                </a:solidFill>
                <a:latin typeface="Arial" pitchFamily="34" charset="0"/>
                <a:ea typeface="Arial" pitchFamily="34" charset="-122"/>
                <a:cs typeface="Arial" pitchFamily="34" charset="-120"/>
              </a:rPr>
              <a:t>10.5M</a:t>
            </a:r>
            <a:endParaRPr lang="en-US" sz="2700" dirty="0"/>
          </a:p>
        </p:txBody>
      </p:sp>
      <p:sp>
        <p:nvSpPr>
          <p:cNvPr id="16" name="Text 14"/>
          <p:cNvSpPr txBox="1"/>
          <p:nvPr/>
        </p:nvSpPr>
        <p:spPr>
          <a:xfrm>
            <a:off x="777240" y="5266944"/>
            <a:ext cx="2331720" cy="640080"/>
          </a:xfrm>
          <a:prstGeom prst="rect">
            <a:avLst/>
          </a:prstGeom>
          <a:noFill/>
          <a:ln/>
        </p:spPr>
        <p:txBody>
          <a:bodyPr wrap="square" lIns="0" tIns="0" rIns="0" bIns="0" rtlCol="0" anchor="ctr"/>
          <a:lstStyle/>
          <a:p>
            <a:pPr indent="0" marL="0">
              <a:lnSpc>
                <a:spcPts val="1100"/>
              </a:lnSpc>
              <a:buNone/>
            </a:pPr>
            <a:r>
              <a:rPr lang="en-US" sz="850" dirty="0">
                <a:solidFill>
                  <a:srgbClr val="A9B6CB"/>
                </a:solidFill>
                <a:latin typeface="Arial" pitchFamily="34" charset="0"/>
                <a:ea typeface="Arial" pitchFamily="34" charset="-122"/>
                <a:cs typeface="Arial" pitchFamily="34" charset="-120"/>
              </a:rPr>
              <a:t>Passengers a year on the FlySafair network — ±30,000 every day</a:t>
            </a:r>
            <a:endParaRPr lang="en-US" sz="850" dirty="0"/>
          </a:p>
        </p:txBody>
      </p:sp>
      <p:sp>
        <p:nvSpPr>
          <p:cNvPr id="17" name="Text 15"/>
          <p:cNvSpPr txBox="1"/>
          <p:nvPr/>
        </p:nvSpPr>
        <p:spPr>
          <a:xfrm>
            <a:off x="3550615" y="4773168"/>
            <a:ext cx="2377440" cy="457200"/>
          </a:xfrm>
          <a:prstGeom prst="rect">
            <a:avLst/>
          </a:prstGeom>
          <a:noFill/>
          <a:ln/>
        </p:spPr>
        <p:txBody>
          <a:bodyPr wrap="square" lIns="0" tIns="0" rIns="0" bIns="0" rtlCol="0" anchor="ctr"/>
          <a:lstStyle/>
          <a:p>
            <a:pPr indent="0" marL="0">
              <a:buNone/>
            </a:pPr>
            <a:r>
              <a:rPr lang="en-US" sz="2700" b="1" dirty="0">
                <a:solidFill>
                  <a:srgbClr val="F17400"/>
                </a:solidFill>
                <a:latin typeface="Arial" pitchFamily="34" charset="0"/>
                <a:ea typeface="Arial" pitchFamily="34" charset="-122"/>
                <a:cs typeface="Arial" pitchFamily="34" charset="-120"/>
              </a:rPr>
              <a:t>±180</a:t>
            </a:r>
            <a:endParaRPr lang="en-US" sz="2700" dirty="0"/>
          </a:p>
        </p:txBody>
      </p:sp>
      <p:sp>
        <p:nvSpPr>
          <p:cNvPr id="18" name="Text 16"/>
          <p:cNvSpPr txBox="1"/>
          <p:nvPr/>
        </p:nvSpPr>
        <p:spPr>
          <a:xfrm>
            <a:off x="3550615" y="5266944"/>
            <a:ext cx="2331720" cy="640080"/>
          </a:xfrm>
          <a:prstGeom prst="rect">
            <a:avLst/>
          </a:prstGeom>
          <a:noFill/>
          <a:ln/>
        </p:spPr>
        <p:txBody>
          <a:bodyPr wrap="square" lIns="0" tIns="0" rIns="0" bIns="0" rtlCol="0" anchor="ctr"/>
          <a:lstStyle/>
          <a:p>
            <a:pPr indent="0" marL="0">
              <a:lnSpc>
                <a:spcPts val="1100"/>
              </a:lnSpc>
              <a:buNone/>
            </a:pPr>
            <a:r>
              <a:rPr lang="en-US" sz="850" dirty="0">
                <a:solidFill>
                  <a:srgbClr val="A9B6CB"/>
                </a:solidFill>
                <a:latin typeface="Arial" pitchFamily="34" charset="0"/>
                <a:ea typeface="Arial" pitchFamily="34" charset="-122"/>
                <a:cs typeface="Arial" pitchFamily="34" charset="-120"/>
              </a:rPr>
              <a:t>Daily departures across 11 airports in SA and the region</a:t>
            </a:r>
            <a:endParaRPr lang="en-US" sz="850" dirty="0"/>
          </a:p>
        </p:txBody>
      </p:sp>
      <p:sp>
        <p:nvSpPr>
          <p:cNvPr id="19" name="Shape 17"/>
          <p:cNvSpPr/>
          <p:nvPr/>
        </p:nvSpPr>
        <p:spPr>
          <a:xfrm>
            <a:off x="3322015" y="4800600"/>
            <a:ext cx="0" cy="1051560"/>
          </a:xfrm>
          <a:prstGeom prst="line">
            <a:avLst/>
          </a:prstGeom>
          <a:noFill/>
          <a:ln w="12700">
            <a:solidFill>
              <a:srgbClr val="23395C"/>
            </a:solidFill>
            <a:prstDash val="solid"/>
          </a:ln>
        </p:spPr>
      </p:sp>
      <p:sp>
        <p:nvSpPr>
          <p:cNvPr id="20" name="Text 18"/>
          <p:cNvSpPr txBox="1"/>
          <p:nvPr/>
        </p:nvSpPr>
        <p:spPr>
          <a:xfrm>
            <a:off x="6323990" y="4773168"/>
            <a:ext cx="2377440" cy="457200"/>
          </a:xfrm>
          <a:prstGeom prst="rect">
            <a:avLst/>
          </a:prstGeom>
          <a:noFill/>
          <a:ln/>
        </p:spPr>
        <p:txBody>
          <a:bodyPr wrap="square" lIns="0" tIns="0" rIns="0" bIns="0" rtlCol="0" anchor="ctr"/>
          <a:lstStyle/>
          <a:p>
            <a:pPr indent="0" marL="0">
              <a:buNone/>
            </a:pPr>
            <a:r>
              <a:rPr lang="en-US" sz="2700" b="1" dirty="0">
                <a:solidFill>
                  <a:srgbClr val="F17400"/>
                </a:solidFill>
                <a:latin typeface="Arial" pitchFamily="34" charset="0"/>
                <a:ea typeface="Arial" pitchFamily="34" charset="-122"/>
                <a:cs typeface="Arial" pitchFamily="34" charset="-120"/>
              </a:rPr>
              <a:t>R333M</a:t>
            </a:r>
            <a:endParaRPr lang="en-US" sz="2700" dirty="0"/>
          </a:p>
        </p:txBody>
      </p:sp>
      <p:sp>
        <p:nvSpPr>
          <p:cNvPr id="21" name="Text 19"/>
          <p:cNvSpPr txBox="1"/>
          <p:nvPr/>
        </p:nvSpPr>
        <p:spPr>
          <a:xfrm>
            <a:off x="6323990" y="5266944"/>
            <a:ext cx="2331720" cy="640080"/>
          </a:xfrm>
          <a:prstGeom prst="rect">
            <a:avLst/>
          </a:prstGeom>
          <a:noFill/>
          <a:ln/>
        </p:spPr>
        <p:txBody>
          <a:bodyPr wrap="square" lIns="0" tIns="0" rIns="0" bIns="0" rtlCol="0" anchor="ctr"/>
          <a:lstStyle/>
          <a:p>
            <a:pPr indent="0" marL="0">
              <a:lnSpc>
                <a:spcPts val="1100"/>
              </a:lnSpc>
              <a:buNone/>
            </a:pPr>
            <a:r>
              <a:rPr lang="en-US" sz="850" dirty="0">
                <a:solidFill>
                  <a:srgbClr val="A9B6CB"/>
                </a:solidFill>
                <a:latin typeface="Arial" pitchFamily="34" charset="0"/>
                <a:ea typeface="Arial" pitchFamily="34" charset="-122"/>
                <a:cs typeface="Arial" pitchFamily="34" charset="-120"/>
              </a:rPr>
              <a:t>5-year modelled baggage loss, tampering &amp; never-arrived exposure</a:t>
            </a:r>
            <a:endParaRPr lang="en-US" sz="850" dirty="0"/>
          </a:p>
        </p:txBody>
      </p:sp>
      <p:sp>
        <p:nvSpPr>
          <p:cNvPr id="22" name="Shape 20"/>
          <p:cNvSpPr/>
          <p:nvPr/>
        </p:nvSpPr>
        <p:spPr>
          <a:xfrm>
            <a:off x="6095390" y="4800600"/>
            <a:ext cx="0" cy="1051560"/>
          </a:xfrm>
          <a:prstGeom prst="line">
            <a:avLst/>
          </a:prstGeom>
          <a:noFill/>
          <a:ln w="12700">
            <a:solidFill>
              <a:srgbClr val="23395C"/>
            </a:solidFill>
            <a:prstDash val="solid"/>
          </a:ln>
        </p:spPr>
      </p:sp>
      <p:sp>
        <p:nvSpPr>
          <p:cNvPr id="23" name="Text 21"/>
          <p:cNvSpPr txBox="1"/>
          <p:nvPr/>
        </p:nvSpPr>
        <p:spPr>
          <a:xfrm>
            <a:off x="9097366" y="4773168"/>
            <a:ext cx="2377440" cy="457200"/>
          </a:xfrm>
          <a:prstGeom prst="rect">
            <a:avLst/>
          </a:prstGeom>
          <a:noFill/>
          <a:ln/>
        </p:spPr>
        <p:txBody>
          <a:bodyPr wrap="square" lIns="0" tIns="0" rIns="0" bIns="0" rtlCol="0" anchor="ctr"/>
          <a:lstStyle/>
          <a:p>
            <a:pPr indent="0" marL="0">
              <a:buNone/>
            </a:pPr>
            <a:r>
              <a:rPr lang="en-US" sz="2700" b="1" dirty="0">
                <a:solidFill>
                  <a:srgbClr val="F17400"/>
                </a:solidFill>
                <a:latin typeface="Arial" pitchFamily="34" charset="0"/>
                <a:ea typeface="Arial" pitchFamily="34" charset="-122"/>
                <a:cs typeface="Arial" pitchFamily="34" charset="-120"/>
              </a:rPr>
              <a:t>R2.07B</a:t>
            </a:r>
            <a:endParaRPr lang="en-US" sz="2700" dirty="0"/>
          </a:p>
        </p:txBody>
      </p:sp>
      <p:sp>
        <p:nvSpPr>
          <p:cNvPr id="24" name="Text 22"/>
          <p:cNvSpPr txBox="1"/>
          <p:nvPr/>
        </p:nvSpPr>
        <p:spPr>
          <a:xfrm>
            <a:off x="9097366" y="5266944"/>
            <a:ext cx="2331720" cy="640080"/>
          </a:xfrm>
          <a:prstGeom prst="rect">
            <a:avLst/>
          </a:prstGeom>
          <a:noFill/>
          <a:ln/>
        </p:spPr>
        <p:txBody>
          <a:bodyPr wrap="square" lIns="0" tIns="0" rIns="0" bIns="0" rtlCol="0" anchor="ctr"/>
          <a:lstStyle/>
          <a:p>
            <a:pPr indent="0" marL="0">
              <a:lnSpc>
                <a:spcPts val="1100"/>
              </a:lnSpc>
              <a:buNone/>
            </a:pPr>
            <a:r>
              <a:rPr lang="en-US" sz="850" dirty="0">
                <a:solidFill>
                  <a:srgbClr val="A9B6CB"/>
                </a:solidFill>
                <a:latin typeface="Arial" pitchFamily="34" charset="0"/>
                <a:ea typeface="Arial" pitchFamily="34" charset="-122"/>
                <a:cs typeface="Arial" pitchFamily="34" charset="-120"/>
              </a:rPr>
              <a:t>5-year combined recovery + new-revenue opportunity (modelled)</a:t>
            </a:r>
            <a:endParaRPr lang="en-US" sz="850" dirty="0"/>
          </a:p>
        </p:txBody>
      </p:sp>
      <p:sp>
        <p:nvSpPr>
          <p:cNvPr id="25" name="Shape 23"/>
          <p:cNvSpPr/>
          <p:nvPr/>
        </p:nvSpPr>
        <p:spPr>
          <a:xfrm>
            <a:off x="8868766" y="4800600"/>
            <a:ext cx="0" cy="1051560"/>
          </a:xfrm>
          <a:prstGeom prst="line">
            <a:avLst/>
          </a:prstGeom>
          <a:noFill/>
          <a:ln w="12700">
            <a:solidFill>
              <a:srgbClr val="23395C"/>
            </a:solidFill>
            <a:prstDash val="solid"/>
          </a:ln>
        </p:spPr>
      </p:sp>
      <p:sp>
        <p:nvSpPr>
          <p:cNvPr id="26" name="Text 24"/>
          <p:cNvSpPr txBox="1"/>
          <p:nvPr/>
        </p:nvSpPr>
        <p:spPr>
          <a:xfrm>
            <a:off x="548640" y="6309360"/>
            <a:ext cx="10972800" cy="274320"/>
          </a:xfrm>
          <a:prstGeom prst="rect">
            <a:avLst/>
          </a:prstGeom>
          <a:noFill/>
          <a:ln/>
        </p:spPr>
        <p:txBody>
          <a:bodyPr wrap="square" lIns="0" tIns="0" rIns="0" bIns="0" rtlCol="0" anchor="ctr"/>
          <a:lstStyle/>
          <a:p>
            <a:pPr indent="0" marL="0">
              <a:buNone/>
            </a:pPr>
            <a:r>
              <a:rPr lang="en-US" sz="850" dirty="0">
                <a:solidFill>
                  <a:srgbClr val="7C8BA5"/>
                </a:solidFill>
                <a:latin typeface="Arial" pitchFamily="34" charset="0"/>
                <a:ea typeface="Arial" pitchFamily="34" charset="-122"/>
                <a:cs typeface="Arial" pitchFamily="34" charset="-120"/>
              </a:rPr>
              <a:t>Prepared for FlySafair (Pty) Ltd | Mr Digitag Man (Pty) Ltd | August 2026 | Commercial in Confidence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EXECUTIVE SUMMARY</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The opportunity, in one page</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For an airline moving 10.5 million passengers a year with the world's best on-time record, invisible baggage is the one gap still worth closing.</a:t>
            </a:r>
            <a:endParaRPr lang="en-US" sz="1150" dirty="0"/>
          </a:p>
        </p:txBody>
      </p:sp>
      <p:sp>
        <p:nvSpPr>
          <p:cNvPr id="5" name="Shape 3"/>
          <p:cNvSpPr/>
          <p:nvPr/>
        </p:nvSpPr>
        <p:spPr>
          <a:xfrm>
            <a:off x="548640" y="1389888"/>
            <a:ext cx="2679192" cy="1298448"/>
          </a:xfrm>
          <a:prstGeom prst="rect">
            <a:avLst/>
          </a:prstGeom>
          <a:solidFill>
            <a:srgbClr val="FFFFFF"/>
          </a:solidFill>
          <a:ln w="12700">
            <a:solidFill>
              <a:srgbClr val="D9E0EA"/>
            </a:solidFill>
            <a:prstDash val="solid"/>
          </a:ln>
        </p:spPr>
      </p:sp>
      <p:sp>
        <p:nvSpPr>
          <p:cNvPr id="6" name="Text 4"/>
          <p:cNvSpPr txBox="1"/>
          <p:nvPr/>
        </p:nvSpPr>
        <p:spPr>
          <a:xfrm>
            <a:off x="713232" y="1499616"/>
            <a:ext cx="2350008" cy="502920"/>
          </a:xfrm>
          <a:prstGeom prst="rect">
            <a:avLst/>
          </a:prstGeom>
          <a:noFill/>
          <a:ln/>
        </p:spPr>
        <p:txBody>
          <a:bodyPr wrap="square" lIns="0" tIns="0" rIns="0" bIns="0" rtlCol="0" anchor="ctr"/>
          <a:lstStyle/>
          <a:p>
            <a:pPr indent="0" marL="0">
              <a:buNone/>
            </a:pPr>
            <a:r>
              <a:rPr lang="en-US" sz="2600" b="1" dirty="0">
                <a:solidFill>
                  <a:srgbClr val="F17400"/>
                </a:solidFill>
                <a:latin typeface="Arial" pitchFamily="34" charset="0"/>
                <a:ea typeface="Arial" pitchFamily="34" charset="-122"/>
                <a:cs typeface="Arial" pitchFamily="34" charset="-120"/>
              </a:rPr>
              <a:t>R333M</a:t>
            </a:r>
            <a:endParaRPr lang="en-US" sz="2600" dirty="0"/>
          </a:p>
        </p:txBody>
      </p:sp>
      <p:sp>
        <p:nvSpPr>
          <p:cNvPr id="7" name="Text 5"/>
          <p:cNvSpPr txBox="1"/>
          <p:nvPr/>
        </p:nvSpPr>
        <p:spPr>
          <a:xfrm>
            <a:off x="713232" y="2020824"/>
            <a:ext cx="2350008" cy="6126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5-yr modelled exposure: baggage loss, tampering &amp; bags that never arrive (before any recovery)</a:t>
            </a:r>
            <a:endParaRPr lang="en-US" sz="850" dirty="0"/>
          </a:p>
        </p:txBody>
      </p:sp>
      <p:sp>
        <p:nvSpPr>
          <p:cNvPr id="8" name="Shape 6"/>
          <p:cNvSpPr/>
          <p:nvPr/>
        </p:nvSpPr>
        <p:spPr>
          <a:xfrm>
            <a:off x="3390595" y="1389888"/>
            <a:ext cx="2679192" cy="1298448"/>
          </a:xfrm>
          <a:prstGeom prst="rect">
            <a:avLst/>
          </a:prstGeom>
          <a:solidFill>
            <a:srgbClr val="FFFFFF"/>
          </a:solidFill>
          <a:ln w="12700">
            <a:solidFill>
              <a:srgbClr val="D9E0EA"/>
            </a:solidFill>
            <a:prstDash val="solid"/>
          </a:ln>
        </p:spPr>
      </p:sp>
      <p:sp>
        <p:nvSpPr>
          <p:cNvPr id="9" name="Text 7"/>
          <p:cNvSpPr txBox="1"/>
          <p:nvPr/>
        </p:nvSpPr>
        <p:spPr>
          <a:xfrm>
            <a:off x="3555187" y="1499616"/>
            <a:ext cx="2350008" cy="502920"/>
          </a:xfrm>
          <a:prstGeom prst="rect">
            <a:avLst/>
          </a:prstGeom>
          <a:noFill/>
          <a:ln/>
        </p:spPr>
        <p:txBody>
          <a:bodyPr wrap="square" lIns="0" tIns="0" rIns="0" bIns="0" rtlCol="0" anchor="ctr"/>
          <a:lstStyle/>
          <a:p>
            <a:pPr indent="0" marL="0">
              <a:buNone/>
            </a:pPr>
            <a:r>
              <a:rPr lang="en-US" sz="2000" b="1" dirty="0">
                <a:solidFill>
                  <a:srgbClr val="F17400"/>
                </a:solidFill>
                <a:latin typeface="Arial" pitchFamily="34" charset="0"/>
                <a:ea typeface="Arial" pitchFamily="34" charset="-122"/>
                <a:cs typeface="Arial" pitchFamily="34" charset="-120"/>
              </a:rPr>
              <a:t>Up to R471M/yr</a:t>
            </a:r>
            <a:endParaRPr lang="en-US" sz="2000" dirty="0"/>
          </a:p>
        </p:txBody>
      </p:sp>
      <p:sp>
        <p:nvSpPr>
          <p:cNvPr id="10" name="Text 8"/>
          <p:cNvSpPr txBox="1"/>
          <p:nvPr/>
        </p:nvSpPr>
        <p:spPr>
          <a:xfrm>
            <a:off x="3555187" y="2020824"/>
            <a:ext cx="2350008" cy="6126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Potential passenger-funded retail revenue at a 15% ticket-flow attach rate</a:t>
            </a:r>
            <a:endParaRPr lang="en-US" sz="850" dirty="0"/>
          </a:p>
        </p:txBody>
      </p:sp>
      <p:sp>
        <p:nvSpPr>
          <p:cNvPr id="11" name="Shape 9"/>
          <p:cNvSpPr/>
          <p:nvPr/>
        </p:nvSpPr>
        <p:spPr>
          <a:xfrm>
            <a:off x="6232550" y="1389888"/>
            <a:ext cx="2679192" cy="1298448"/>
          </a:xfrm>
          <a:prstGeom prst="rect">
            <a:avLst/>
          </a:prstGeom>
          <a:solidFill>
            <a:srgbClr val="FFFFFF"/>
          </a:solidFill>
          <a:ln w="12700">
            <a:solidFill>
              <a:srgbClr val="D9E0EA"/>
            </a:solidFill>
            <a:prstDash val="solid"/>
          </a:ln>
        </p:spPr>
      </p:sp>
      <p:sp>
        <p:nvSpPr>
          <p:cNvPr id="12" name="Text 10"/>
          <p:cNvSpPr txBox="1"/>
          <p:nvPr/>
        </p:nvSpPr>
        <p:spPr>
          <a:xfrm>
            <a:off x="6397142" y="1499616"/>
            <a:ext cx="2350008" cy="502920"/>
          </a:xfrm>
          <a:prstGeom prst="rect">
            <a:avLst/>
          </a:prstGeom>
          <a:noFill/>
          <a:ln/>
        </p:spPr>
        <p:txBody>
          <a:bodyPr wrap="square" lIns="0" tIns="0" rIns="0" bIns="0" rtlCol="0" anchor="ctr"/>
          <a:lstStyle/>
          <a:p>
            <a:pPr indent="0" marL="0">
              <a:buNone/>
            </a:pPr>
            <a:r>
              <a:rPr lang="en-US" sz="2600" b="1" dirty="0">
                <a:solidFill>
                  <a:srgbClr val="F17400"/>
                </a:solidFill>
                <a:latin typeface="Arial" pitchFamily="34" charset="0"/>
                <a:ea typeface="Arial" pitchFamily="34" charset="-122"/>
                <a:cs typeface="Arial" pitchFamily="34" charset="-120"/>
              </a:rPr>
              <a:t>36</a:t>
            </a:r>
            <a:endParaRPr lang="en-US" sz="2600" dirty="0"/>
          </a:p>
        </p:txBody>
      </p:sp>
      <p:sp>
        <p:nvSpPr>
          <p:cNvPr id="13" name="Text 11"/>
          <p:cNvSpPr txBox="1"/>
          <p:nvPr/>
        </p:nvSpPr>
        <p:spPr>
          <a:xfrm>
            <a:off x="6397142" y="2020824"/>
            <a:ext cx="2350008" cy="6126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Global airlines already live on this exact crowd-find × baggage-tracing integration</a:t>
            </a:r>
            <a:endParaRPr lang="en-US" sz="850" dirty="0"/>
          </a:p>
        </p:txBody>
      </p:sp>
      <p:sp>
        <p:nvSpPr>
          <p:cNvPr id="14" name="Shape 12"/>
          <p:cNvSpPr/>
          <p:nvPr/>
        </p:nvSpPr>
        <p:spPr>
          <a:xfrm>
            <a:off x="9074506" y="1389888"/>
            <a:ext cx="2679192" cy="1298448"/>
          </a:xfrm>
          <a:prstGeom prst="rect">
            <a:avLst/>
          </a:prstGeom>
          <a:solidFill>
            <a:srgbClr val="FFFFFF"/>
          </a:solidFill>
          <a:ln w="12700">
            <a:solidFill>
              <a:srgbClr val="D9E0EA"/>
            </a:solidFill>
            <a:prstDash val="solid"/>
          </a:ln>
        </p:spPr>
      </p:sp>
      <p:sp>
        <p:nvSpPr>
          <p:cNvPr id="15" name="Text 13"/>
          <p:cNvSpPr txBox="1"/>
          <p:nvPr/>
        </p:nvSpPr>
        <p:spPr>
          <a:xfrm>
            <a:off x="9239098" y="1499616"/>
            <a:ext cx="2350008" cy="502920"/>
          </a:xfrm>
          <a:prstGeom prst="rect">
            <a:avLst/>
          </a:prstGeom>
          <a:noFill/>
          <a:ln/>
        </p:spPr>
        <p:txBody>
          <a:bodyPr wrap="square" lIns="0" tIns="0" rIns="0" bIns="0" rtlCol="0" anchor="ctr"/>
          <a:lstStyle/>
          <a:p>
            <a:pPr indent="0" marL="0">
              <a:buNone/>
            </a:pPr>
            <a:r>
              <a:rPr lang="en-US" sz="2600" b="1" dirty="0">
                <a:solidFill>
                  <a:srgbClr val="F17400"/>
                </a:solidFill>
                <a:latin typeface="Arial" pitchFamily="34" charset="0"/>
                <a:ea typeface="Arial" pitchFamily="34" charset="-122"/>
                <a:cs typeface="Arial" pitchFamily="34" charset="-120"/>
              </a:rPr>
              <a:t>No.1</a:t>
            </a:r>
            <a:endParaRPr lang="en-US" sz="2600" dirty="0"/>
          </a:p>
        </p:txBody>
      </p:sp>
      <p:sp>
        <p:nvSpPr>
          <p:cNvPr id="16" name="Text 14"/>
          <p:cNvSpPr txBox="1"/>
          <p:nvPr/>
        </p:nvSpPr>
        <p:spPr>
          <a:xfrm>
            <a:off x="9239098" y="2020824"/>
            <a:ext cx="2350008" cy="6126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Most on-time airline in the world, 2024 (Cirium) — 95.9% on-time performance</a:t>
            </a:r>
            <a:endParaRPr lang="en-US" sz="850" dirty="0"/>
          </a:p>
        </p:txBody>
      </p:sp>
      <p:sp>
        <p:nvSpPr>
          <p:cNvPr id="17" name="Shape 15"/>
          <p:cNvSpPr/>
          <p:nvPr/>
        </p:nvSpPr>
        <p:spPr>
          <a:xfrm>
            <a:off x="548640" y="2944368"/>
            <a:ext cx="11091672" cy="3127248"/>
          </a:xfrm>
          <a:prstGeom prst="rect">
            <a:avLst/>
          </a:prstGeom>
          <a:solidFill>
            <a:srgbClr val="0B1B34"/>
          </a:solidFill>
          <a:ln/>
        </p:spPr>
      </p:sp>
      <p:sp>
        <p:nvSpPr>
          <p:cNvPr id="18" name="Text 16"/>
          <p:cNvSpPr txBox="1"/>
          <p:nvPr/>
        </p:nvSpPr>
        <p:spPr>
          <a:xfrm>
            <a:off x="822960" y="3145536"/>
            <a:ext cx="7315200" cy="256032"/>
          </a:xfrm>
          <a:prstGeom prst="rect">
            <a:avLst/>
          </a:prstGeom>
          <a:noFill/>
          <a:ln/>
        </p:spPr>
        <p:txBody>
          <a:bodyPr wrap="square" lIns="0" tIns="0" rIns="0" bIns="0" rtlCol="0" anchor="ctr"/>
          <a:lstStyle/>
          <a:p>
            <a:pPr indent="0" marL="0">
              <a:buNone/>
            </a:pPr>
            <a:r>
              <a:rPr lang="en-US" sz="1050" b="1" spc="200" kern="0" dirty="0">
                <a:solidFill>
                  <a:srgbClr val="F17400"/>
                </a:solidFill>
                <a:latin typeface="Arial" pitchFamily="34" charset="0"/>
                <a:ea typeface="Arial" pitchFamily="34" charset="-122"/>
                <a:cs typeface="Arial" pitchFamily="34" charset="-120"/>
              </a:rPr>
              <a:t>THE CASE, IN THREE SENTENCES</a:t>
            </a:r>
            <a:endParaRPr lang="en-US" sz="1050" dirty="0"/>
          </a:p>
        </p:txBody>
      </p:sp>
      <p:sp>
        <p:nvSpPr>
          <p:cNvPr id="19" name="Text 17"/>
          <p:cNvSpPr txBox="1"/>
          <p:nvPr/>
        </p:nvSpPr>
        <p:spPr>
          <a:xfrm>
            <a:off x="822960" y="3493008"/>
            <a:ext cx="10515600" cy="1828800"/>
          </a:xfrm>
          <a:prstGeom prst="rect">
            <a:avLst/>
          </a:prstGeom>
          <a:noFill/>
          <a:ln/>
        </p:spPr>
        <p:txBody>
          <a:bodyPr wrap="square" lIns="0" tIns="0" rIns="0" bIns="0" rtlCol="0" anchor="ctr"/>
          <a:lstStyle/>
          <a:p>
            <a:pPr indent="0" marL="0">
              <a:lnSpc>
                <a:spcPts val="1650"/>
              </a:lnSpc>
              <a:buNone/>
            </a:pPr>
            <a:r>
              <a:rPr lang="en-US" sz="1150" dirty="0">
                <a:solidFill>
                  <a:srgbClr val="A9B6CB"/>
                </a:solidFill>
                <a:latin typeface="Arial" pitchFamily="34" charset="0"/>
                <a:ea typeface="Arial" pitchFamily="34" charset="-122"/>
                <a:cs typeface="Arial" pitchFamily="34" charset="-120"/>
              </a:rPr>
              <a:t>FlySafair already runs the most punctual airline operation on earth and carries roughly six of every ten domestic passengers in South Africa — ±30,000 people and ±17,300 checked bags every single day. But scale changes the math: even at a world-class domestic benchmark of 2.7 mishandled bags per 1,000 passengers, that still means ±78 mishandled bags a day — a modelled R59 million a year in losses, tampering claims and bags that never arrive, R333 million over five years, none of it visible between bag-drop and carousel. Mr Digitag Man's GPS product family closes that gap with technology already live at 36 global airlines, funds itself through vending or ticket-flow sales worth up to R2.65 billion over five years — and Nexas AI turns the same data into working intelligence for every division of the airline.</a:t>
            </a:r>
            <a:endParaRPr lang="en-US" sz="1150" dirty="0"/>
          </a:p>
        </p:txBody>
      </p:sp>
      <p:sp>
        <p:nvSpPr>
          <p:cNvPr id="20" name="Text 18"/>
          <p:cNvSpPr txBox="1"/>
          <p:nvPr/>
        </p:nvSpPr>
        <p:spPr>
          <a:xfrm>
            <a:off x="822960" y="5614416"/>
            <a:ext cx="10515600" cy="274320"/>
          </a:xfrm>
          <a:prstGeom prst="rect">
            <a:avLst/>
          </a:prstGeom>
          <a:noFill/>
          <a:ln/>
        </p:spPr>
        <p:txBody>
          <a:bodyPr wrap="square" lIns="0" tIns="0" rIns="0" bIns="0" rtlCol="0" anchor="ctr"/>
          <a:lstStyle/>
          <a:p>
            <a:pPr indent="0" marL="0">
              <a:buNone/>
            </a:pPr>
            <a:r>
              <a:rPr lang="en-US" sz="1150" b="1" i="1" dirty="0">
                <a:solidFill>
                  <a:srgbClr val="F17400"/>
                </a:solidFill>
                <a:latin typeface="Arial" pitchFamily="34" charset="0"/>
                <a:ea typeface="Arial" pitchFamily="34" charset="-122"/>
                <a:cs typeface="Arial" pitchFamily="34" charset="-120"/>
              </a:rPr>
              <a:t>One airline. One visibility layer. Two ways to fund it — both profitable.</a:t>
            </a:r>
            <a:endParaRPr lang="en-US" sz="1150" dirty="0"/>
          </a:p>
        </p:txBody>
      </p:sp>
      <p:sp>
        <p:nvSpPr>
          <p:cNvPr id="21" name="Shape 19"/>
          <p:cNvSpPr/>
          <p:nvPr/>
        </p:nvSpPr>
        <p:spPr>
          <a:xfrm>
            <a:off x="0" y="6583680"/>
            <a:ext cx="12191695" cy="274320"/>
          </a:xfrm>
          <a:prstGeom prst="rect">
            <a:avLst/>
          </a:prstGeom>
          <a:solidFill>
            <a:srgbClr val="0B1B34"/>
          </a:solidFill>
          <a:ln/>
        </p:spPr>
      </p:sp>
      <p:sp>
        <p:nvSpPr>
          <p:cNvPr id="22" name="Text 20"/>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3" name="Text 21"/>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 / 29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01 · THE OPPORTUNITY</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A R112-billion industry problem — even for the best-run airlines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SITA's 2026 Baggage IT Insights Report — the industry's own annual benchmark, published June 2026.</a:t>
            </a:r>
            <a:endParaRPr lang="en-US" sz="1150" dirty="0"/>
          </a:p>
        </p:txBody>
      </p:sp>
      <p:sp>
        <p:nvSpPr>
          <p:cNvPr id="5" name="Shape 3"/>
          <p:cNvSpPr/>
          <p:nvPr/>
        </p:nvSpPr>
        <p:spPr>
          <a:xfrm>
            <a:off x="548640" y="1481328"/>
            <a:ext cx="5394960" cy="1298448"/>
          </a:xfrm>
          <a:prstGeom prst="rect">
            <a:avLst/>
          </a:prstGeom>
          <a:solidFill>
            <a:srgbClr val="F4F7FB"/>
          </a:solidFill>
          <a:ln w="12700">
            <a:solidFill>
              <a:srgbClr val="D9E0EA"/>
            </a:solidFill>
            <a:prstDash val="solid"/>
          </a:ln>
        </p:spPr>
      </p:sp>
      <p:sp>
        <p:nvSpPr>
          <p:cNvPr id="6" name="Shape 4"/>
          <p:cNvSpPr/>
          <p:nvPr/>
        </p:nvSpPr>
        <p:spPr>
          <a:xfrm>
            <a:off x="749808" y="1856232"/>
            <a:ext cx="548640" cy="548640"/>
          </a:xfrm>
          <a:prstGeom prst="ellipse">
            <a:avLst/>
          </a:prstGeom>
          <a:solidFill>
            <a:srgbClr val="F17400"/>
          </a:solidFill>
          <a:ln/>
        </p:spPr>
      </p:sp>
      <p:sp>
        <p:nvSpPr>
          <p:cNvPr id="7" name="Text 5"/>
          <p:cNvSpPr txBox="1"/>
          <p:nvPr/>
        </p:nvSpPr>
        <p:spPr>
          <a:xfrm>
            <a:off x="749808" y="185623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508760" y="1609344"/>
            <a:ext cx="4297680" cy="1060704"/>
          </a:xfrm>
          <a:prstGeom prst="rect">
            <a:avLst/>
          </a:prstGeom>
          <a:noFill/>
          <a:ln/>
        </p:spPr>
        <p:txBody>
          <a:bodyPr wrap="square" lIns="0" tIns="0" rIns="0" bIns="0" rtlCol="0" anchor="ctr"/>
          <a:lstStyle/>
          <a:p>
            <a:pPr indent="0" marL="0">
              <a:lnSpc>
                <a:spcPts val="1400"/>
              </a:lnSpc>
              <a:buNone/>
            </a:pPr>
            <a:r>
              <a:rPr lang="en-US" sz="1050" dirty="0">
                <a:solidFill>
                  <a:srgbClr val="5E6B7E"/>
                </a:solidFill>
                <a:latin typeface="Arial" pitchFamily="34" charset="0"/>
                <a:ea typeface="Arial" pitchFamily="34" charset="-122"/>
                <a:cs typeface="Arial" pitchFamily="34" charset="-120"/>
              </a:rPr>
              <a:t>5 billion passengers flew in 2025 — and 24 million bags were still mishandled, even after a 23% year-on-year improvement.</a:t>
            </a:r>
            <a:endParaRPr lang="en-US" sz="1050" dirty="0"/>
          </a:p>
        </p:txBody>
      </p:sp>
      <p:sp>
        <p:nvSpPr>
          <p:cNvPr id="9" name="Shape 7"/>
          <p:cNvSpPr/>
          <p:nvPr/>
        </p:nvSpPr>
        <p:spPr>
          <a:xfrm>
            <a:off x="6236208" y="1481328"/>
            <a:ext cx="5394960" cy="1298448"/>
          </a:xfrm>
          <a:prstGeom prst="rect">
            <a:avLst/>
          </a:prstGeom>
          <a:solidFill>
            <a:srgbClr val="F4F7FB"/>
          </a:solidFill>
          <a:ln w="12700">
            <a:solidFill>
              <a:srgbClr val="D9E0EA"/>
            </a:solidFill>
            <a:prstDash val="solid"/>
          </a:ln>
        </p:spPr>
      </p:sp>
      <p:sp>
        <p:nvSpPr>
          <p:cNvPr id="10" name="Shape 8"/>
          <p:cNvSpPr/>
          <p:nvPr/>
        </p:nvSpPr>
        <p:spPr>
          <a:xfrm>
            <a:off x="6437376" y="1856232"/>
            <a:ext cx="548640" cy="548640"/>
          </a:xfrm>
          <a:prstGeom prst="ellipse">
            <a:avLst/>
          </a:prstGeom>
          <a:solidFill>
            <a:srgbClr val="F17400"/>
          </a:solidFill>
          <a:ln/>
        </p:spPr>
      </p:sp>
      <p:sp>
        <p:nvSpPr>
          <p:cNvPr id="11" name="Text 9"/>
          <p:cNvSpPr txBox="1"/>
          <p:nvPr/>
        </p:nvSpPr>
        <p:spPr>
          <a:xfrm>
            <a:off x="6437376" y="185623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7196328" y="1609344"/>
            <a:ext cx="4297680" cy="1060704"/>
          </a:xfrm>
          <a:prstGeom prst="rect">
            <a:avLst/>
          </a:prstGeom>
          <a:noFill/>
          <a:ln/>
        </p:spPr>
        <p:txBody>
          <a:bodyPr wrap="square" lIns="0" tIns="0" rIns="0" bIns="0" rtlCol="0" anchor="ctr"/>
          <a:lstStyle/>
          <a:p>
            <a:pPr indent="0" marL="0">
              <a:lnSpc>
                <a:spcPts val="1400"/>
              </a:lnSpc>
              <a:buNone/>
            </a:pPr>
            <a:r>
              <a:rPr lang="en-US" sz="1050" dirty="0">
                <a:solidFill>
                  <a:srgbClr val="5E6B7E"/>
                </a:solidFill>
                <a:latin typeface="Arial" pitchFamily="34" charset="0"/>
                <a:ea typeface="Arial" pitchFamily="34" charset="-122"/>
                <a:cs typeface="Arial" pitchFamily="34" charset="-120"/>
              </a:rPr>
              <a:t>Every mishandled bag costs the industry an average of R4,600 ($260) — the current global benchmark.</a:t>
            </a:r>
            <a:endParaRPr lang="en-US" sz="1050" dirty="0"/>
          </a:p>
        </p:txBody>
      </p:sp>
      <p:sp>
        <p:nvSpPr>
          <p:cNvPr id="13" name="Shape 11"/>
          <p:cNvSpPr/>
          <p:nvPr/>
        </p:nvSpPr>
        <p:spPr>
          <a:xfrm>
            <a:off x="548640" y="2962656"/>
            <a:ext cx="5394960" cy="1298448"/>
          </a:xfrm>
          <a:prstGeom prst="rect">
            <a:avLst/>
          </a:prstGeom>
          <a:solidFill>
            <a:srgbClr val="F4F7FB"/>
          </a:solidFill>
          <a:ln w="12700">
            <a:solidFill>
              <a:srgbClr val="D9E0EA"/>
            </a:solidFill>
            <a:prstDash val="solid"/>
          </a:ln>
        </p:spPr>
      </p:sp>
      <p:sp>
        <p:nvSpPr>
          <p:cNvPr id="14" name="Shape 12"/>
          <p:cNvSpPr/>
          <p:nvPr/>
        </p:nvSpPr>
        <p:spPr>
          <a:xfrm>
            <a:off x="749808" y="3337560"/>
            <a:ext cx="548640" cy="548640"/>
          </a:xfrm>
          <a:prstGeom prst="ellipse">
            <a:avLst/>
          </a:prstGeom>
          <a:solidFill>
            <a:srgbClr val="F17400"/>
          </a:solidFill>
          <a:ln/>
        </p:spPr>
      </p:sp>
      <p:sp>
        <p:nvSpPr>
          <p:cNvPr id="15" name="Text 13"/>
          <p:cNvSpPr txBox="1"/>
          <p:nvPr/>
        </p:nvSpPr>
        <p:spPr>
          <a:xfrm>
            <a:off x="749808" y="3337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1508760" y="3090672"/>
            <a:ext cx="4297680" cy="1060704"/>
          </a:xfrm>
          <a:prstGeom prst="rect">
            <a:avLst/>
          </a:prstGeom>
          <a:noFill/>
          <a:ln/>
        </p:spPr>
        <p:txBody>
          <a:bodyPr wrap="square" lIns="0" tIns="0" rIns="0" bIns="0" rtlCol="0" anchor="ctr"/>
          <a:lstStyle/>
          <a:p>
            <a:pPr indent="0" marL="0">
              <a:lnSpc>
                <a:spcPts val="1400"/>
              </a:lnSpc>
              <a:buNone/>
            </a:pPr>
            <a:r>
              <a:rPr lang="en-US" sz="1050" dirty="0">
                <a:solidFill>
                  <a:srgbClr val="5E6B7E"/>
                </a:solidFill>
                <a:latin typeface="Arial" pitchFamily="34" charset="0"/>
                <a:ea typeface="Arial" pitchFamily="34" charset="-122"/>
                <a:cs typeface="Arial" pitchFamily="34" charset="-120"/>
              </a:rPr>
              <a:t>A permanently lost bag costs R11,240 ($635) — 2.4× a delayed one — because compensation, not operations, drives the cost.</a:t>
            </a:r>
            <a:endParaRPr lang="en-US" sz="1050" dirty="0"/>
          </a:p>
        </p:txBody>
      </p:sp>
      <p:sp>
        <p:nvSpPr>
          <p:cNvPr id="17" name="Shape 15"/>
          <p:cNvSpPr/>
          <p:nvPr/>
        </p:nvSpPr>
        <p:spPr>
          <a:xfrm>
            <a:off x="6236208" y="2962656"/>
            <a:ext cx="5394960" cy="1298448"/>
          </a:xfrm>
          <a:prstGeom prst="rect">
            <a:avLst/>
          </a:prstGeom>
          <a:solidFill>
            <a:srgbClr val="F4F7FB"/>
          </a:solidFill>
          <a:ln w="12700">
            <a:solidFill>
              <a:srgbClr val="D9E0EA"/>
            </a:solidFill>
            <a:prstDash val="solid"/>
          </a:ln>
        </p:spPr>
      </p:sp>
      <p:sp>
        <p:nvSpPr>
          <p:cNvPr id="18" name="Shape 16"/>
          <p:cNvSpPr/>
          <p:nvPr/>
        </p:nvSpPr>
        <p:spPr>
          <a:xfrm>
            <a:off x="6437376" y="3337560"/>
            <a:ext cx="548640" cy="548640"/>
          </a:xfrm>
          <a:prstGeom prst="ellipse">
            <a:avLst/>
          </a:prstGeom>
          <a:solidFill>
            <a:srgbClr val="F17400"/>
          </a:solidFill>
          <a:ln/>
        </p:spPr>
      </p:sp>
      <p:sp>
        <p:nvSpPr>
          <p:cNvPr id="19" name="Text 17"/>
          <p:cNvSpPr txBox="1"/>
          <p:nvPr/>
        </p:nvSpPr>
        <p:spPr>
          <a:xfrm>
            <a:off x="6437376" y="3337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8"/>
          <p:cNvSpPr txBox="1"/>
          <p:nvPr/>
        </p:nvSpPr>
        <p:spPr>
          <a:xfrm>
            <a:off x="7196328" y="3090672"/>
            <a:ext cx="4297680" cy="1060704"/>
          </a:xfrm>
          <a:prstGeom prst="rect">
            <a:avLst/>
          </a:prstGeom>
          <a:noFill/>
          <a:ln/>
        </p:spPr>
        <p:txBody>
          <a:bodyPr wrap="square" lIns="0" tIns="0" rIns="0" bIns="0" rtlCol="0" anchor="ctr"/>
          <a:lstStyle/>
          <a:p>
            <a:pPr indent="0" marL="0">
              <a:lnSpc>
                <a:spcPts val="1400"/>
              </a:lnSpc>
              <a:buNone/>
            </a:pPr>
            <a:r>
              <a:rPr lang="en-US" sz="1050" dirty="0">
                <a:solidFill>
                  <a:srgbClr val="5E6B7E"/>
                </a:solidFill>
                <a:latin typeface="Arial" pitchFamily="34" charset="0"/>
                <a:ea typeface="Arial" pitchFamily="34" charset="-122"/>
                <a:cs typeface="Arial" pitchFamily="34" charset="-120"/>
              </a:rPr>
              <a:t>Up to 70% of the cost of a lost or damaged bag is compensation paid directly to the passenger.</a:t>
            </a:r>
            <a:endParaRPr lang="en-US" sz="1050" dirty="0"/>
          </a:p>
        </p:txBody>
      </p:sp>
      <p:sp>
        <p:nvSpPr>
          <p:cNvPr id="21" name="Shape 19"/>
          <p:cNvSpPr/>
          <p:nvPr/>
        </p:nvSpPr>
        <p:spPr>
          <a:xfrm>
            <a:off x="548640" y="4663440"/>
            <a:ext cx="11094415" cy="1051560"/>
          </a:xfrm>
          <a:prstGeom prst="rect">
            <a:avLst/>
          </a:prstGeom>
          <a:solidFill>
            <a:srgbClr val="0B1B34"/>
          </a:solidFill>
          <a:ln/>
        </p:spPr>
      </p:sp>
      <p:sp>
        <p:nvSpPr>
          <p:cNvPr id="22" name="Text 20"/>
          <p:cNvSpPr txBox="1"/>
          <p:nvPr/>
        </p:nvSpPr>
        <p:spPr>
          <a:xfrm>
            <a:off x="777240" y="4663440"/>
            <a:ext cx="10637215" cy="1051560"/>
          </a:xfrm>
          <a:prstGeom prst="rect">
            <a:avLst/>
          </a:prstGeom>
          <a:noFill/>
          <a:ln/>
        </p:spPr>
        <p:txBody>
          <a:bodyPr wrap="square" lIns="0" tIns="0" rIns="0" bIns="0" rtlCol="0" anchor="ctr"/>
          <a:lstStyle/>
          <a:p>
            <a:pPr indent="0" marL="0">
              <a:lnSpc>
                <a:spcPts val="1450"/>
              </a:lnSpc>
              <a:buNone/>
            </a:pPr>
            <a:r>
              <a:rPr lang="en-US" sz="1050" b="1" dirty="0">
                <a:solidFill>
                  <a:srgbClr val="F17400"/>
                </a:solidFill>
                <a:latin typeface="Arial" pitchFamily="34" charset="0"/>
                <a:ea typeface="Arial" pitchFamily="34" charset="-122"/>
                <a:cs typeface="Arial" pitchFamily="34" charset="-120"/>
              </a:rPr>
              <a:t>R112 billion ($6.3bn). </a:t>
            </a:r>
            <a:pPr indent="0" marL="0">
              <a:lnSpc>
                <a:spcPts val="1450"/>
              </a:lnSpc>
              <a:buNone/>
            </a:pPr>
            <a:r>
              <a:rPr lang="en-US" sz="1050" dirty="0">
                <a:solidFill>
                  <a:srgbClr val="A9B6CB"/>
                </a:solidFill>
                <a:latin typeface="Arial" pitchFamily="34" charset="0"/>
                <a:ea typeface="Arial" pitchFamily="34" charset="-122"/>
                <a:cs typeface="Arial" pitchFamily="34" charset="-120"/>
              </a:rPr>
              <a:t>That is what mishandled baggage still costs the global airline industry every year — down 23% on the back of real technology investment, but still real money leaving the industry. The direction of travel is clear: the carriers driving that improvement are the ones already investing in tracking. Standing still means falling behind a curve everyone else is already riding.</a:t>
            </a:r>
            <a:endParaRPr lang="en-US" sz="1050" dirty="0"/>
          </a:p>
        </p:txBody>
      </p:sp>
      <p:sp>
        <p:nvSpPr>
          <p:cNvPr id="23" name="Shape 21"/>
          <p:cNvSpPr/>
          <p:nvPr/>
        </p:nvSpPr>
        <p:spPr>
          <a:xfrm>
            <a:off x="0" y="6583680"/>
            <a:ext cx="12191695" cy="274320"/>
          </a:xfrm>
          <a:prstGeom prst="rect">
            <a:avLst/>
          </a:prstGeom>
          <a:solidFill>
            <a:srgbClr val="0B1B34"/>
          </a:solidFill>
          <a:ln/>
        </p:spPr>
      </p:sp>
      <p:sp>
        <p:nvSpPr>
          <p:cNvPr id="24" name="Text 22"/>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5" name="Text 23"/>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3 / 29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01 · THE OPPORTUNITY</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South Africa's baggage problem isn't distance — it's hands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FlySafair's point-to-point network is modelled at the world's best benchmark class — what remains is loss, tampering and theft.</a:t>
            </a:r>
            <a:endParaRPr lang="en-US" sz="1150" dirty="0"/>
          </a:p>
        </p:txBody>
      </p:sp>
      <p:sp>
        <p:nvSpPr>
          <p:cNvPr id="5" name="Text 3"/>
          <p:cNvSpPr txBox="1"/>
          <p:nvPr/>
        </p:nvSpPr>
        <p:spPr>
          <a:xfrm>
            <a:off x="548640" y="1600200"/>
            <a:ext cx="5394960" cy="201168"/>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Europe (international)</a:t>
            </a:r>
            <a:endParaRPr lang="en-US" sz="950" dirty="0"/>
          </a:p>
        </p:txBody>
      </p:sp>
      <p:sp>
        <p:nvSpPr>
          <p:cNvPr id="6" name="Shape 4"/>
          <p:cNvSpPr/>
          <p:nvPr/>
        </p:nvSpPr>
        <p:spPr>
          <a:xfrm>
            <a:off x="548640" y="1837944"/>
            <a:ext cx="3931920" cy="310896"/>
          </a:xfrm>
          <a:prstGeom prst="rect">
            <a:avLst/>
          </a:prstGeom>
          <a:solidFill>
            <a:srgbClr val="E05252"/>
          </a:solidFill>
          <a:ln/>
        </p:spPr>
      </p:sp>
      <p:sp>
        <p:nvSpPr>
          <p:cNvPr id="7" name="Text 5"/>
          <p:cNvSpPr txBox="1"/>
          <p:nvPr/>
        </p:nvSpPr>
        <p:spPr>
          <a:xfrm>
            <a:off x="4590288" y="1837944"/>
            <a:ext cx="731520" cy="310896"/>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12.7</a:t>
            </a:r>
            <a:endParaRPr lang="en-US" sz="1100" dirty="0"/>
          </a:p>
        </p:txBody>
      </p:sp>
      <p:sp>
        <p:nvSpPr>
          <p:cNvPr id="8" name="Text 6"/>
          <p:cNvSpPr txBox="1"/>
          <p:nvPr/>
        </p:nvSpPr>
        <p:spPr>
          <a:xfrm>
            <a:off x="548640" y="2313432"/>
            <a:ext cx="5394960" cy="201168"/>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Middle East (international)</a:t>
            </a:r>
            <a:endParaRPr lang="en-US" sz="950" dirty="0"/>
          </a:p>
        </p:txBody>
      </p:sp>
      <p:sp>
        <p:nvSpPr>
          <p:cNvPr id="9" name="Shape 7"/>
          <p:cNvSpPr/>
          <p:nvPr/>
        </p:nvSpPr>
        <p:spPr>
          <a:xfrm>
            <a:off x="548640" y="2551176"/>
            <a:ext cx="1640880" cy="310896"/>
          </a:xfrm>
          <a:prstGeom prst="rect">
            <a:avLst/>
          </a:prstGeom>
          <a:solidFill>
            <a:srgbClr val="9AA7B8"/>
          </a:solidFill>
          <a:ln/>
        </p:spPr>
      </p:sp>
      <p:sp>
        <p:nvSpPr>
          <p:cNvPr id="10" name="Text 8"/>
          <p:cNvSpPr txBox="1"/>
          <p:nvPr/>
        </p:nvSpPr>
        <p:spPr>
          <a:xfrm>
            <a:off x="2299248" y="2551176"/>
            <a:ext cx="731520" cy="310896"/>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5.3</a:t>
            </a:r>
            <a:endParaRPr lang="en-US" sz="1100" dirty="0"/>
          </a:p>
        </p:txBody>
      </p:sp>
      <p:sp>
        <p:nvSpPr>
          <p:cNvPr id="11" name="Text 9"/>
          <p:cNvSpPr txBox="1"/>
          <p:nvPr/>
        </p:nvSpPr>
        <p:spPr>
          <a:xfrm>
            <a:off x="548640" y="3026664"/>
            <a:ext cx="5394960" cy="201168"/>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Global average</a:t>
            </a:r>
            <a:endParaRPr lang="en-US" sz="950" dirty="0"/>
          </a:p>
        </p:txBody>
      </p:sp>
      <p:sp>
        <p:nvSpPr>
          <p:cNvPr id="12" name="Shape 10"/>
          <p:cNvSpPr/>
          <p:nvPr/>
        </p:nvSpPr>
        <p:spPr>
          <a:xfrm>
            <a:off x="548640" y="3264408"/>
            <a:ext cx="1517040" cy="310896"/>
          </a:xfrm>
          <a:prstGeom prst="rect">
            <a:avLst/>
          </a:prstGeom>
          <a:solidFill>
            <a:srgbClr val="9AA7B8"/>
          </a:solidFill>
          <a:ln/>
        </p:spPr>
      </p:sp>
      <p:sp>
        <p:nvSpPr>
          <p:cNvPr id="13" name="Text 11"/>
          <p:cNvSpPr txBox="1"/>
          <p:nvPr/>
        </p:nvSpPr>
        <p:spPr>
          <a:xfrm>
            <a:off x="2175408" y="3264408"/>
            <a:ext cx="731520" cy="310896"/>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4.9</a:t>
            </a:r>
            <a:endParaRPr lang="en-US" sz="1100" dirty="0"/>
          </a:p>
        </p:txBody>
      </p:sp>
      <p:sp>
        <p:nvSpPr>
          <p:cNvPr id="14" name="Text 12"/>
          <p:cNvSpPr txBox="1"/>
          <p:nvPr/>
        </p:nvSpPr>
        <p:spPr>
          <a:xfrm>
            <a:off x="548640" y="3739896"/>
            <a:ext cx="5394960" cy="201168"/>
          </a:xfrm>
          <a:prstGeom prst="rect">
            <a:avLst/>
          </a:prstGeom>
          <a:noFill/>
          <a:ln/>
        </p:spPr>
        <p:txBody>
          <a:bodyPr wrap="square" lIns="0" tIns="0" rIns="0" bIns="0" rtlCol="0" anchor="ctr"/>
          <a:lstStyle/>
          <a:p>
            <a:pPr indent="0" marL="0">
              <a:buNone/>
            </a:pPr>
            <a:r>
              <a:rPr lang="en-US" sz="950" b="1" dirty="0">
                <a:solidFill>
                  <a:srgbClr val="13294B"/>
                </a:solidFill>
                <a:latin typeface="Arial" pitchFamily="34" charset="0"/>
                <a:ea typeface="Arial" pitchFamily="34" charset="-122"/>
                <a:cs typeface="Arial" pitchFamily="34" charset="-120"/>
              </a:rPr>
              <a:t>Domestic point-to-point — FlySafair model</a:t>
            </a:r>
            <a:endParaRPr lang="en-US" sz="950" dirty="0"/>
          </a:p>
        </p:txBody>
      </p:sp>
      <p:sp>
        <p:nvSpPr>
          <p:cNvPr id="15" name="Shape 13"/>
          <p:cNvSpPr/>
          <p:nvPr/>
        </p:nvSpPr>
        <p:spPr>
          <a:xfrm>
            <a:off x="548640" y="3977640"/>
            <a:ext cx="835920" cy="310896"/>
          </a:xfrm>
          <a:prstGeom prst="rect">
            <a:avLst/>
          </a:prstGeom>
          <a:solidFill>
            <a:srgbClr val="F17400"/>
          </a:solidFill>
          <a:ln/>
        </p:spPr>
      </p:sp>
      <p:sp>
        <p:nvSpPr>
          <p:cNvPr id="16" name="Text 14"/>
          <p:cNvSpPr txBox="1"/>
          <p:nvPr/>
        </p:nvSpPr>
        <p:spPr>
          <a:xfrm>
            <a:off x="1494288" y="3977640"/>
            <a:ext cx="731520" cy="310896"/>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2.7</a:t>
            </a:r>
            <a:endParaRPr lang="en-US" sz="1100" dirty="0"/>
          </a:p>
        </p:txBody>
      </p:sp>
      <p:sp>
        <p:nvSpPr>
          <p:cNvPr id="17" name="Text 15"/>
          <p:cNvSpPr txBox="1"/>
          <p:nvPr/>
        </p:nvSpPr>
        <p:spPr>
          <a:xfrm>
            <a:off x="548640" y="4498848"/>
            <a:ext cx="5394960" cy="228600"/>
          </a:xfrm>
          <a:prstGeom prst="rect">
            <a:avLst/>
          </a:prstGeom>
          <a:noFill/>
          <a:ln/>
        </p:spPr>
        <p:txBody>
          <a:bodyPr wrap="square" lIns="0" tIns="0" rIns="0" bIns="0" rtlCol="0" anchor="ctr"/>
          <a:lstStyle/>
          <a:p>
            <a:pPr indent="0" marL="0">
              <a:buNone/>
            </a:pPr>
            <a:r>
              <a:rPr lang="en-US" sz="850" i="1" dirty="0">
                <a:solidFill>
                  <a:srgbClr val="8A96A8"/>
                </a:solidFill>
                <a:latin typeface="Arial" pitchFamily="34" charset="0"/>
                <a:ea typeface="Arial" pitchFamily="34" charset="-122"/>
                <a:cs typeface="Arial" pitchFamily="34" charset="-120"/>
              </a:rPr>
              <a:t>Bags mishandled per 1,000 passengers, 2025 (SITA 2026 Baggage IT Insights)</a:t>
            </a:r>
            <a:endParaRPr lang="en-US" sz="850" dirty="0"/>
          </a:p>
        </p:txBody>
      </p:sp>
      <p:sp>
        <p:nvSpPr>
          <p:cNvPr id="18" name="Shape 16"/>
          <p:cNvSpPr/>
          <p:nvPr/>
        </p:nvSpPr>
        <p:spPr>
          <a:xfrm>
            <a:off x="6309360" y="1481328"/>
            <a:ext cx="5330952" cy="1481328"/>
          </a:xfrm>
          <a:prstGeom prst="rect">
            <a:avLst/>
          </a:prstGeom>
          <a:solidFill>
            <a:srgbClr val="F4F7FB"/>
          </a:solidFill>
          <a:ln w="12700">
            <a:solidFill>
              <a:srgbClr val="D9E0EA"/>
            </a:solidFill>
            <a:prstDash val="solid"/>
          </a:ln>
        </p:spPr>
      </p:sp>
      <p:sp>
        <p:nvSpPr>
          <p:cNvPr id="19" name="Text 17"/>
          <p:cNvSpPr txBox="1"/>
          <p:nvPr/>
        </p:nvSpPr>
        <p:spPr>
          <a:xfrm>
            <a:off x="6537960" y="1627632"/>
            <a:ext cx="292608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2.7/1,000</a:t>
            </a:r>
            <a:endParaRPr lang="en-US" sz="3000" dirty="0"/>
          </a:p>
        </p:txBody>
      </p:sp>
      <p:sp>
        <p:nvSpPr>
          <p:cNvPr id="20" name="Text 18"/>
          <p:cNvSpPr txBox="1"/>
          <p:nvPr/>
        </p:nvSpPr>
        <p:spPr>
          <a:xfrm>
            <a:off x="6537960" y="2157984"/>
            <a:ext cx="4892040" cy="731520"/>
          </a:xfrm>
          <a:prstGeom prst="rect">
            <a:avLst/>
          </a:prstGeom>
          <a:noFill/>
          <a:ln/>
        </p:spPr>
        <p:txBody>
          <a:bodyPr wrap="square" lIns="0" tIns="0" rIns="0" bIns="0" rtlCol="0" anchor="ctr"/>
          <a:lstStyle/>
          <a:p>
            <a:pPr indent="0" marL="0">
              <a:lnSpc>
                <a:spcPts val="1300"/>
              </a:lnSpc>
              <a:buNone/>
            </a:pPr>
            <a:r>
              <a:rPr lang="en-US" sz="1000" dirty="0">
                <a:solidFill>
                  <a:srgbClr val="5E6B7E"/>
                </a:solidFill>
                <a:latin typeface="Arial" pitchFamily="34" charset="0"/>
                <a:ea typeface="Arial" pitchFamily="34" charset="-122"/>
                <a:cs typeface="Arial" pitchFamily="34" charset="-120"/>
              </a:rPr>
              <a:t>the benchmark this model applies to FlySafair — roughly 1 bag in every 370 passengers. World-class — and at FlySafair's scale still ±78 bags going astray every day.</a:t>
            </a:r>
            <a:endParaRPr lang="en-US" sz="1000" dirty="0"/>
          </a:p>
        </p:txBody>
      </p:sp>
      <p:sp>
        <p:nvSpPr>
          <p:cNvPr id="21" name="Text 19"/>
          <p:cNvSpPr txBox="1"/>
          <p:nvPr/>
        </p:nvSpPr>
        <p:spPr>
          <a:xfrm>
            <a:off x="6309360" y="3200400"/>
            <a:ext cx="530352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THE PART THE GLOBAL STATS DON'T SHOW</a:t>
            </a:r>
            <a:endParaRPr lang="en-US" sz="1000" dirty="0"/>
          </a:p>
        </p:txBody>
      </p:sp>
      <p:sp>
        <p:nvSpPr>
          <p:cNvPr id="22" name="Text 20"/>
          <p:cNvSpPr txBox="1"/>
          <p:nvPr/>
        </p:nvSpPr>
        <p:spPr>
          <a:xfrm>
            <a:off x="6309360" y="3511296"/>
            <a:ext cx="5330952" cy="2103120"/>
          </a:xfrm>
          <a:prstGeom prst="rect">
            <a:avLst/>
          </a:prstGeom>
          <a:noFill/>
          <a:ln/>
        </p:spPr>
        <p:txBody>
          <a:bodyPr wrap="square" lIns="0" tIns="0" rIns="0" bIns="0" rtlCol="0" anchor="t"/>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700"/>
              </a:spcAft>
              <a:buNone/>
            </a:pPr>
            <a:r>
              <a:rPr lang="en-US" sz="1000" dirty="0">
                <a:solidFill>
                  <a:srgbClr val="5E6B7E"/>
                </a:solidFill>
                <a:latin typeface="Arial" pitchFamily="34" charset="0"/>
                <a:ea typeface="Arial" pitchFamily="34" charset="-122"/>
                <a:cs typeface="Arial" pitchFamily="34" charset="-120"/>
              </a:rPr>
              <a:t>South African airports have fought a long, public battle with baggage pilferage — ACSA has run repeated anti-theft crackdowns at O.R. Tambo and King Shaka.</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700"/>
              </a:spcAft>
              <a:buNone/>
            </a:pPr>
            <a:r>
              <a:rPr lang="en-US" sz="1000" dirty="0">
                <a:solidFill>
                  <a:srgbClr val="5E6B7E"/>
                </a:solidFill>
                <a:latin typeface="Arial" pitchFamily="34" charset="0"/>
                <a:ea typeface="Arial" pitchFamily="34" charset="-122"/>
                <a:cs typeface="Arial" pitchFamily="34" charset="-120"/>
              </a:rPr>
              <a:t>Tampering is a security failure, not a routing failure: a barcode tag shows where a bag was scanned — never what happened to it in between.</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700"/>
              </a:spcAft>
              <a:buNone/>
            </a:pPr>
            <a:r>
              <a:rPr lang="en-US" sz="1000" dirty="0">
                <a:solidFill>
                  <a:srgbClr val="5E6B7E"/>
                </a:solidFill>
                <a:latin typeface="Arial" pitchFamily="34" charset="0"/>
                <a:ea typeface="Arial" pitchFamily="34" charset="-122"/>
                <a:cs typeface="Arial" pitchFamily="34" charset="-120"/>
              </a:rPr>
              <a:t>FlySafair compensates valid claims — but no refund recovers the passenger's trust, or takes down the social-media video.</a:t>
            </a:r>
            <a:endParaRPr lang="en-US" sz="1000" dirty="0"/>
          </a:p>
        </p:txBody>
      </p:sp>
      <p:sp>
        <p:nvSpPr>
          <p:cNvPr id="23" name="Shape 21"/>
          <p:cNvSpPr/>
          <p:nvPr/>
        </p:nvSpPr>
        <p:spPr>
          <a:xfrm>
            <a:off x="548640" y="5715000"/>
            <a:ext cx="11094415" cy="658368"/>
          </a:xfrm>
          <a:prstGeom prst="rect">
            <a:avLst/>
          </a:prstGeom>
          <a:solidFill>
            <a:srgbClr val="0B1B34"/>
          </a:solidFill>
          <a:ln/>
        </p:spPr>
      </p:sp>
      <p:sp>
        <p:nvSpPr>
          <p:cNvPr id="24" name="Text 22"/>
          <p:cNvSpPr txBox="1"/>
          <p:nvPr/>
        </p:nvSpPr>
        <p:spPr>
          <a:xfrm>
            <a:off x="777240" y="5715000"/>
            <a:ext cx="10637215" cy="658368"/>
          </a:xfrm>
          <a:prstGeom prst="rect">
            <a:avLst/>
          </a:prstGeom>
          <a:noFill/>
          <a:ln/>
        </p:spPr>
        <p:txBody>
          <a:bodyPr wrap="square" lIns="0" tIns="0" rIns="0" bIns="0" rtlCol="0" anchor="ctr"/>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The takeaway: </a:t>
            </a:r>
            <a:pPr indent="0" marL="0">
              <a:lnSpc>
                <a:spcPts val="1300"/>
              </a:lnSpc>
              <a:buNone/>
            </a:pPr>
            <a:r>
              <a:rPr lang="en-US" sz="1000" dirty="0">
                <a:solidFill>
                  <a:srgbClr val="A9B6CB"/>
                </a:solidFill>
                <a:latin typeface="Arial" pitchFamily="34" charset="0"/>
                <a:ea typeface="Arial" pitchFamily="34" charset="-122"/>
                <a:cs typeface="Arial" pitchFamily="34" charset="-120"/>
              </a:rPr>
              <a:t>FlySafair is modelled at the best benchmark class in world aviation — and the exposure that remains still compounds to a modelled R59M a year, R333M over five years. The next three slides price it, airport by airport and failure mode by failure mode.</a:t>
            </a:r>
            <a:endParaRPr lang="en-US" sz="1000" dirty="0"/>
          </a:p>
        </p:txBody>
      </p:sp>
      <p:sp>
        <p:nvSpPr>
          <p:cNvPr id="25" name="Shape 23"/>
          <p:cNvSpPr/>
          <p:nvPr/>
        </p:nvSpPr>
        <p:spPr>
          <a:xfrm>
            <a:off x="0" y="6583680"/>
            <a:ext cx="12191695" cy="274320"/>
          </a:xfrm>
          <a:prstGeom prst="rect">
            <a:avLst/>
          </a:prstGeom>
          <a:solidFill>
            <a:srgbClr val="0B1B34"/>
          </a:solidFill>
          <a:ln/>
        </p:spPr>
      </p:sp>
      <p:sp>
        <p:nvSpPr>
          <p:cNvPr id="26" name="Text 24"/>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7" name="Text 25"/>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4 / 29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01 · THE NETWORK</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±180 flights a day. Eleven airports. One exposed network.</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FlySafair's peak published schedule, modelled airport by airport — every departure is a batch of bags leaving passengers' sight.</a:t>
            </a:r>
            <a:endParaRPr lang="en-US" sz="1150" dirty="0"/>
          </a:p>
        </p:txBody>
      </p:sp>
      <p:sp>
        <p:nvSpPr>
          <p:cNvPr id="5" name="Shape 3"/>
          <p:cNvSpPr/>
          <p:nvPr/>
        </p:nvSpPr>
        <p:spPr>
          <a:xfrm>
            <a:off x="548640" y="1417320"/>
            <a:ext cx="2514600" cy="1115568"/>
          </a:xfrm>
          <a:prstGeom prst="rect">
            <a:avLst/>
          </a:prstGeom>
          <a:solidFill>
            <a:srgbClr val="FFFFFF"/>
          </a:solidFill>
          <a:ln w="12700">
            <a:solidFill>
              <a:srgbClr val="D9E0EA"/>
            </a:solidFill>
            <a:prstDash val="solid"/>
          </a:ln>
        </p:spPr>
      </p:sp>
      <p:sp>
        <p:nvSpPr>
          <p:cNvPr id="6" name="Text 4"/>
          <p:cNvSpPr txBox="1"/>
          <p:nvPr/>
        </p:nvSpPr>
        <p:spPr>
          <a:xfrm>
            <a:off x="713232" y="1527048"/>
            <a:ext cx="218541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65,700</a:t>
            </a:r>
            <a:endParaRPr lang="en-US" sz="2200" dirty="0"/>
          </a:p>
        </p:txBody>
      </p:sp>
      <p:sp>
        <p:nvSpPr>
          <p:cNvPr id="7" name="Text 5"/>
          <p:cNvSpPr txBox="1"/>
          <p:nvPr/>
        </p:nvSpPr>
        <p:spPr>
          <a:xfrm>
            <a:off x="713232" y="1956816"/>
            <a:ext cx="2185416" cy="52120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flights a year across the network</a:t>
            </a:r>
            <a:endParaRPr lang="en-US" sz="850" dirty="0"/>
          </a:p>
        </p:txBody>
      </p:sp>
      <p:sp>
        <p:nvSpPr>
          <p:cNvPr id="8" name="Shape 6"/>
          <p:cNvSpPr/>
          <p:nvPr/>
        </p:nvSpPr>
        <p:spPr>
          <a:xfrm>
            <a:off x="548640" y="2651760"/>
            <a:ext cx="2514600" cy="1115568"/>
          </a:xfrm>
          <a:prstGeom prst="rect">
            <a:avLst/>
          </a:prstGeom>
          <a:solidFill>
            <a:srgbClr val="FFFFFF"/>
          </a:solidFill>
          <a:ln w="12700">
            <a:solidFill>
              <a:srgbClr val="D9E0EA"/>
            </a:solidFill>
            <a:prstDash val="solid"/>
          </a:ln>
        </p:spPr>
      </p:sp>
      <p:sp>
        <p:nvSpPr>
          <p:cNvPr id="9" name="Text 7"/>
          <p:cNvSpPr txBox="1"/>
          <p:nvPr/>
        </p:nvSpPr>
        <p:spPr>
          <a:xfrm>
            <a:off x="713232" y="2761488"/>
            <a:ext cx="218541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±29,600</a:t>
            </a:r>
            <a:endParaRPr lang="en-US" sz="2200" dirty="0"/>
          </a:p>
        </p:txBody>
      </p:sp>
      <p:sp>
        <p:nvSpPr>
          <p:cNvPr id="10" name="Text 8"/>
          <p:cNvSpPr txBox="1"/>
          <p:nvPr/>
        </p:nvSpPr>
        <p:spPr>
          <a:xfrm>
            <a:off x="713232" y="3191256"/>
            <a:ext cx="2185416" cy="52120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passengers boarding on a peak day</a:t>
            </a:r>
            <a:endParaRPr lang="en-US" sz="850" dirty="0"/>
          </a:p>
        </p:txBody>
      </p:sp>
      <p:sp>
        <p:nvSpPr>
          <p:cNvPr id="11" name="Shape 9"/>
          <p:cNvSpPr/>
          <p:nvPr/>
        </p:nvSpPr>
        <p:spPr>
          <a:xfrm>
            <a:off x="548640" y="3886200"/>
            <a:ext cx="2514600" cy="1115568"/>
          </a:xfrm>
          <a:prstGeom prst="rect">
            <a:avLst/>
          </a:prstGeom>
          <a:solidFill>
            <a:srgbClr val="FFFFFF"/>
          </a:solidFill>
          <a:ln w="12700">
            <a:solidFill>
              <a:srgbClr val="D9E0EA"/>
            </a:solidFill>
            <a:prstDash val="solid"/>
          </a:ln>
        </p:spPr>
      </p:sp>
      <p:sp>
        <p:nvSpPr>
          <p:cNvPr id="12" name="Text 10"/>
          <p:cNvSpPr txBox="1"/>
          <p:nvPr/>
        </p:nvSpPr>
        <p:spPr>
          <a:xfrm>
            <a:off x="713232" y="3995928"/>
            <a:ext cx="218541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±17,300</a:t>
            </a:r>
            <a:endParaRPr lang="en-US" sz="2200" dirty="0"/>
          </a:p>
        </p:txBody>
      </p:sp>
      <p:sp>
        <p:nvSpPr>
          <p:cNvPr id="13" name="Text 11"/>
          <p:cNvSpPr txBox="1"/>
          <p:nvPr/>
        </p:nvSpPr>
        <p:spPr>
          <a:xfrm>
            <a:off x="713232" y="4425696"/>
            <a:ext cx="2185416" cy="52120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checked bags into the belly every day — ±6.3M a year</a:t>
            </a:r>
            <a:endParaRPr lang="en-US" sz="850" dirty="0"/>
          </a:p>
        </p:txBody>
      </p:sp>
      <p:sp>
        <p:nvSpPr>
          <p:cNvPr id="14" name="Text 12"/>
          <p:cNvSpPr txBox="1"/>
          <p:nvPr/>
        </p:nvSpPr>
        <p:spPr>
          <a:xfrm>
            <a:off x="548640" y="5230368"/>
            <a:ext cx="2514600" cy="1188720"/>
          </a:xfrm>
          <a:prstGeom prst="rect">
            <a:avLst/>
          </a:prstGeom>
          <a:noFill/>
          <a:ln/>
        </p:spPr>
        <p:txBody>
          <a:bodyPr wrap="square" lIns="0" tIns="0" rIns="0" bIns="0" rtlCol="0" anchor="ctr"/>
          <a:lstStyle/>
          <a:p>
            <a:pPr indent="0" marL="0">
              <a:lnSpc>
                <a:spcPts val="1050"/>
              </a:lnSpc>
              <a:buNone/>
            </a:pPr>
            <a:r>
              <a:rPr lang="en-US" sz="800" i="1" dirty="0">
                <a:solidFill>
                  <a:srgbClr val="8A96A8"/>
                </a:solidFill>
                <a:latin typeface="Arial" pitchFamily="34" charset="0"/>
                <a:ea typeface="Arial" pitchFamily="34" charset="-122"/>
                <a:cs typeface="Arial" pitchFamily="34" charset="-120"/>
              </a:rPr>
              <a:t>Indicative peak-season schedule modelled from FlySafair's published network, August 2026 — frequencies vary by day and season. The annual financial model uses a conservative 10.5M passengers.</a:t>
            </a:r>
            <a:endParaRPr lang="en-US" sz="800" dirty="0"/>
          </a:p>
        </p:txBody>
      </p:sp>
      <p:sp>
        <p:nvSpPr>
          <p:cNvPr id="15" name="Shape 13"/>
          <p:cNvSpPr/>
          <p:nvPr/>
        </p:nvSpPr>
        <p:spPr>
          <a:xfrm>
            <a:off x="3291840" y="1417320"/>
            <a:ext cx="8348472" cy="365760"/>
          </a:xfrm>
          <a:prstGeom prst="rect">
            <a:avLst/>
          </a:prstGeom>
          <a:solidFill>
            <a:srgbClr val="0B1B34"/>
          </a:solidFill>
          <a:ln/>
        </p:spPr>
      </p:sp>
      <p:sp>
        <p:nvSpPr>
          <p:cNvPr id="16" name="Text 14"/>
          <p:cNvSpPr txBox="1"/>
          <p:nvPr/>
        </p:nvSpPr>
        <p:spPr>
          <a:xfrm>
            <a:off x="3401568" y="1417320"/>
            <a:ext cx="3794760" cy="365760"/>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Airport</a:t>
            </a:r>
            <a:endParaRPr lang="en-US" sz="900" dirty="0"/>
          </a:p>
        </p:txBody>
      </p:sp>
      <p:sp>
        <p:nvSpPr>
          <p:cNvPr id="17" name="Text 15"/>
          <p:cNvSpPr txBox="1"/>
          <p:nvPr/>
        </p:nvSpPr>
        <p:spPr>
          <a:xfrm>
            <a:off x="7379208" y="1417320"/>
            <a:ext cx="685800" cy="365760"/>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Code</a:t>
            </a:r>
            <a:endParaRPr lang="en-US" sz="900" dirty="0"/>
          </a:p>
        </p:txBody>
      </p:sp>
      <p:sp>
        <p:nvSpPr>
          <p:cNvPr id="18" name="Text 16"/>
          <p:cNvSpPr txBox="1"/>
          <p:nvPr/>
        </p:nvSpPr>
        <p:spPr>
          <a:xfrm>
            <a:off x="8247888" y="1417320"/>
            <a:ext cx="1508760" cy="36576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Daily departures</a:t>
            </a:r>
            <a:endParaRPr lang="en-US" sz="900" dirty="0"/>
          </a:p>
        </p:txBody>
      </p:sp>
      <p:sp>
        <p:nvSpPr>
          <p:cNvPr id="19" name="Text 17"/>
          <p:cNvSpPr txBox="1"/>
          <p:nvPr/>
        </p:nvSpPr>
        <p:spPr>
          <a:xfrm>
            <a:off x="9939528" y="1417320"/>
            <a:ext cx="1627632" cy="36576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Est. daily boarding pax</a:t>
            </a:r>
            <a:endParaRPr lang="en-US" sz="900" dirty="0"/>
          </a:p>
        </p:txBody>
      </p:sp>
      <p:sp>
        <p:nvSpPr>
          <p:cNvPr id="20" name="Text 18"/>
          <p:cNvSpPr txBox="1"/>
          <p:nvPr/>
        </p:nvSpPr>
        <p:spPr>
          <a:xfrm>
            <a:off x="3401568" y="1783080"/>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O.R. Tambo Int'l, Johannesburg</a:t>
            </a:r>
            <a:endParaRPr lang="en-US" sz="950" dirty="0"/>
          </a:p>
        </p:txBody>
      </p:sp>
      <p:sp>
        <p:nvSpPr>
          <p:cNvPr id="21" name="Text 19"/>
          <p:cNvSpPr txBox="1"/>
          <p:nvPr/>
        </p:nvSpPr>
        <p:spPr>
          <a:xfrm>
            <a:off x="7379208" y="1783080"/>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JNB</a:t>
            </a:r>
            <a:endParaRPr lang="en-US" sz="950" dirty="0"/>
          </a:p>
        </p:txBody>
      </p:sp>
      <p:sp>
        <p:nvSpPr>
          <p:cNvPr id="22" name="Text 20"/>
          <p:cNvSpPr txBox="1"/>
          <p:nvPr/>
        </p:nvSpPr>
        <p:spPr>
          <a:xfrm>
            <a:off x="8247888" y="1783080"/>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62</a:t>
            </a:r>
            <a:endParaRPr lang="en-US" sz="950" dirty="0"/>
          </a:p>
        </p:txBody>
      </p:sp>
      <p:sp>
        <p:nvSpPr>
          <p:cNvPr id="23" name="Text 21"/>
          <p:cNvSpPr txBox="1"/>
          <p:nvPr/>
        </p:nvSpPr>
        <p:spPr>
          <a:xfrm>
            <a:off x="9939528" y="1783080"/>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±10,190</a:t>
            </a:r>
            <a:endParaRPr lang="en-US" sz="950" dirty="0"/>
          </a:p>
        </p:txBody>
      </p:sp>
      <p:sp>
        <p:nvSpPr>
          <p:cNvPr id="24" name="Shape 22"/>
          <p:cNvSpPr/>
          <p:nvPr/>
        </p:nvSpPr>
        <p:spPr>
          <a:xfrm>
            <a:off x="3291840" y="2135124"/>
            <a:ext cx="8348472" cy="0"/>
          </a:xfrm>
          <a:prstGeom prst="line">
            <a:avLst/>
          </a:prstGeom>
          <a:noFill/>
          <a:ln w="9525">
            <a:solidFill>
              <a:srgbClr val="D9E0EA"/>
            </a:solidFill>
            <a:prstDash val="solid"/>
          </a:ln>
        </p:spPr>
      </p:sp>
      <p:sp>
        <p:nvSpPr>
          <p:cNvPr id="25" name="Text 23"/>
          <p:cNvSpPr txBox="1"/>
          <p:nvPr/>
        </p:nvSpPr>
        <p:spPr>
          <a:xfrm>
            <a:off x="3401568" y="2135124"/>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Cape Town International</a:t>
            </a:r>
            <a:endParaRPr lang="en-US" sz="950" dirty="0"/>
          </a:p>
        </p:txBody>
      </p:sp>
      <p:sp>
        <p:nvSpPr>
          <p:cNvPr id="26" name="Text 24"/>
          <p:cNvSpPr txBox="1"/>
          <p:nvPr/>
        </p:nvSpPr>
        <p:spPr>
          <a:xfrm>
            <a:off x="7379208" y="2135124"/>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CPT</a:t>
            </a:r>
            <a:endParaRPr lang="en-US" sz="950" dirty="0"/>
          </a:p>
        </p:txBody>
      </p:sp>
      <p:sp>
        <p:nvSpPr>
          <p:cNvPr id="27" name="Text 25"/>
          <p:cNvSpPr txBox="1"/>
          <p:nvPr/>
        </p:nvSpPr>
        <p:spPr>
          <a:xfrm>
            <a:off x="8247888" y="2135124"/>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48</a:t>
            </a:r>
            <a:endParaRPr lang="en-US" sz="950" dirty="0"/>
          </a:p>
        </p:txBody>
      </p:sp>
      <p:sp>
        <p:nvSpPr>
          <p:cNvPr id="28" name="Text 26"/>
          <p:cNvSpPr txBox="1"/>
          <p:nvPr/>
        </p:nvSpPr>
        <p:spPr>
          <a:xfrm>
            <a:off x="9939528" y="2135124"/>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±7,890</a:t>
            </a:r>
            <a:endParaRPr lang="en-US" sz="950" dirty="0"/>
          </a:p>
        </p:txBody>
      </p:sp>
      <p:sp>
        <p:nvSpPr>
          <p:cNvPr id="29" name="Shape 27"/>
          <p:cNvSpPr/>
          <p:nvPr/>
        </p:nvSpPr>
        <p:spPr>
          <a:xfrm>
            <a:off x="3291840" y="2487168"/>
            <a:ext cx="8348472" cy="0"/>
          </a:xfrm>
          <a:prstGeom prst="line">
            <a:avLst/>
          </a:prstGeom>
          <a:noFill/>
          <a:ln w="9525">
            <a:solidFill>
              <a:srgbClr val="D9E0EA"/>
            </a:solidFill>
            <a:prstDash val="solid"/>
          </a:ln>
        </p:spPr>
      </p:sp>
      <p:sp>
        <p:nvSpPr>
          <p:cNvPr id="30" name="Text 28"/>
          <p:cNvSpPr txBox="1"/>
          <p:nvPr/>
        </p:nvSpPr>
        <p:spPr>
          <a:xfrm>
            <a:off x="3401568" y="2487168"/>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King Shaka Int'l, Durban</a:t>
            </a:r>
            <a:endParaRPr lang="en-US" sz="950" dirty="0"/>
          </a:p>
        </p:txBody>
      </p:sp>
      <p:sp>
        <p:nvSpPr>
          <p:cNvPr id="31" name="Text 29"/>
          <p:cNvSpPr txBox="1"/>
          <p:nvPr/>
        </p:nvSpPr>
        <p:spPr>
          <a:xfrm>
            <a:off x="7379208" y="2487168"/>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DUR</a:t>
            </a:r>
            <a:endParaRPr lang="en-US" sz="950" dirty="0"/>
          </a:p>
        </p:txBody>
      </p:sp>
      <p:sp>
        <p:nvSpPr>
          <p:cNvPr id="32" name="Text 30"/>
          <p:cNvSpPr txBox="1"/>
          <p:nvPr/>
        </p:nvSpPr>
        <p:spPr>
          <a:xfrm>
            <a:off x="8247888" y="2487168"/>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26</a:t>
            </a:r>
            <a:endParaRPr lang="en-US" sz="950" dirty="0"/>
          </a:p>
        </p:txBody>
      </p:sp>
      <p:sp>
        <p:nvSpPr>
          <p:cNvPr id="33" name="Text 31"/>
          <p:cNvSpPr txBox="1"/>
          <p:nvPr/>
        </p:nvSpPr>
        <p:spPr>
          <a:xfrm>
            <a:off x="9939528" y="2487168"/>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±4,280</a:t>
            </a:r>
            <a:endParaRPr lang="en-US" sz="950" dirty="0"/>
          </a:p>
        </p:txBody>
      </p:sp>
      <p:sp>
        <p:nvSpPr>
          <p:cNvPr id="34" name="Shape 32"/>
          <p:cNvSpPr/>
          <p:nvPr/>
        </p:nvSpPr>
        <p:spPr>
          <a:xfrm>
            <a:off x="3291840" y="2839212"/>
            <a:ext cx="8348472" cy="0"/>
          </a:xfrm>
          <a:prstGeom prst="line">
            <a:avLst/>
          </a:prstGeom>
          <a:noFill/>
          <a:ln w="9525">
            <a:solidFill>
              <a:srgbClr val="D9E0EA"/>
            </a:solidFill>
            <a:prstDash val="solid"/>
          </a:ln>
        </p:spPr>
      </p:sp>
      <p:sp>
        <p:nvSpPr>
          <p:cNvPr id="35" name="Text 33"/>
          <p:cNvSpPr txBox="1"/>
          <p:nvPr/>
        </p:nvSpPr>
        <p:spPr>
          <a:xfrm>
            <a:off x="3401568" y="2839212"/>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Lanseria International</a:t>
            </a:r>
            <a:endParaRPr lang="en-US" sz="950" dirty="0"/>
          </a:p>
        </p:txBody>
      </p:sp>
      <p:sp>
        <p:nvSpPr>
          <p:cNvPr id="36" name="Text 34"/>
          <p:cNvSpPr txBox="1"/>
          <p:nvPr/>
        </p:nvSpPr>
        <p:spPr>
          <a:xfrm>
            <a:off x="7379208" y="2839212"/>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HLA</a:t>
            </a:r>
            <a:endParaRPr lang="en-US" sz="950" dirty="0"/>
          </a:p>
        </p:txBody>
      </p:sp>
      <p:sp>
        <p:nvSpPr>
          <p:cNvPr id="37" name="Text 35"/>
          <p:cNvSpPr txBox="1"/>
          <p:nvPr/>
        </p:nvSpPr>
        <p:spPr>
          <a:xfrm>
            <a:off x="8247888" y="2839212"/>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12</a:t>
            </a:r>
            <a:endParaRPr lang="en-US" sz="950" dirty="0"/>
          </a:p>
        </p:txBody>
      </p:sp>
      <p:sp>
        <p:nvSpPr>
          <p:cNvPr id="38" name="Text 36"/>
          <p:cNvSpPr txBox="1"/>
          <p:nvPr/>
        </p:nvSpPr>
        <p:spPr>
          <a:xfrm>
            <a:off x="9939528" y="2839212"/>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±1,970</a:t>
            </a:r>
            <a:endParaRPr lang="en-US" sz="950" dirty="0"/>
          </a:p>
        </p:txBody>
      </p:sp>
      <p:sp>
        <p:nvSpPr>
          <p:cNvPr id="39" name="Shape 37"/>
          <p:cNvSpPr/>
          <p:nvPr/>
        </p:nvSpPr>
        <p:spPr>
          <a:xfrm>
            <a:off x="3291840" y="3191256"/>
            <a:ext cx="8348472" cy="0"/>
          </a:xfrm>
          <a:prstGeom prst="line">
            <a:avLst/>
          </a:prstGeom>
          <a:noFill/>
          <a:ln w="9525">
            <a:solidFill>
              <a:srgbClr val="D9E0EA"/>
            </a:solidFill>
            <a:prstDash val="solid"/>
          </a:ln>
        </p:spPr>
      </p:sp>
      <p:sp>
        <p:nvSpPr>
          <p:cNvPr id="40" name="Text 38"/>
          <p:cNvSpPr txBox="1"/>
          <p:nvPr/>
        </p:nvSpPr>
        <p:spPr>
          <a:xfrm>
            <a:off x="3401568" y="3191256"/>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Chief Dawid Stuurman Int'l, Gqeberha</a:t>
            </a:r>
            <a:endParaRPr lang="en-US" sz="950" dirty="0"/>
          </a:p>
        </p:txBody>
      </p:sp>
      <p:sp>
        <p:nvSpPr>
          <p:cNvPr id="41" name="Text 39"/>
          <p:cNvSpPr txBox="1"/>
          <p:nvPr/>
        </p:nvSpPr>
        <p:spPr>
          <a:xfrm>
            <a:off x="7379208" y="3191256"/>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PLZ</a:t>
            </a:r>
            <a:endParaRPr lang="en-US" sz="950" dirty="0"/>
          </a:p>
        </p:txBody>
      </p:sp>
      <p:sp>
        <p:nvSpPr>
          <p:cNvPr id="42" name="Text 40"/>
          <p:cNvSpPr txBox="1"/>
          <p:nvPr/>
        </p:nvSpPr>
        <p:spPr>
          <a:xfrm>
            <a:off x="8247888" y="3191256"/>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10</a:t>
            </a:r>
            <a:endParaRPr lang="en-US" sz="950" dirty="0"/>
          </a:p>
        </p:txBody>
      </p:sp>
      <p:sp>
        <p:nvSpPr>
          <p:cNvPr id="43" name="Text 41"/>
          <p:cNvSpPr txBox="1"/>
          <p:nvPr/>
        </p:nvSpPr>
        <p:spPr>
          <a:xfrm>
            <a:off x="9939528" y="3191256"/>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±1,640</a:t>
            </a:r>
            <a:endParaRPr lang="en-US" sz="950" dirty="0"/>
          </a:p>
        </p:txBody>
      </p:sp>
      <p:sp>
        <p:nvSpPr>
          <p:cNvPr id="44" name="Shape 42"/>
          <p:cNvSpPr/>
          <p:nvPr/>
        </p:nvSpPr>
        <p:spPr>
          <a:xfrm>
            <a:off x="3291840" y="3543300"/>
            <a:ext cx="8348472" cy="0"/>
          </a:xfrm>
          <a:prstGeom prst="line">
            <a:avLst/>
          </a:prstGeom>
          <a:noFill/>
          <a:ln w="9525">
            <a:solidFill>
              <a:srgbClr val="D9E0EA"/>
            </a:solidFill>
            <a:prstDash val="solid"/>
          </a:ln>
        </p:spPr>
      </p:sp>
      <p:sp>
        <p:nvSpPr>
          <p:cNvPr id="45" name="Text 43"/>
          <p:cNvSpPr txBox="1"/>
          <p:nvPr/>
        </p:nvSpPr>
        <p:spPr>
          <a:xfrm>
            <a:off x="3401568" y="3543300"/>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George</a:t>
            </a:r>
            <a:endParaRPr lang="en-US" sz="950" dirty="0"/>
          </a:p>
        </p:txBody>
      </p:sp>
      <p:sp>
        <p:nvSpPr>
          <p:cNvPr id="46" name="Text 44"/>
          <p:cNvSpPr txBox="1"/>
          <p:nvPr/>
        </p:nvSpPr>
        <p:spPr>
          <a:xfrm>
            <a:off x="7379208" y="3543300"/>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GRJ</a:t>
            </a:r>
            <a:endParaRPr lang="en-US" sz="950" dirty="0"/>
          </a:p>
        </p:txBody>
      </p:sp>
      <p:sp>
        <p:nvSpPr>
          <p:cNvPr id="47" name="Text 45"/>
          <p:cNvSpPr txBox="1"/>
          <p:nvPr/>
        </p:nvSpPr>
        <p:spPr>
          <a:xfrm>
            <a:off x="8247888" y="3543300"/>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8</a:t>
            </a:r>
            <a:endParaRPr lang="en-US" sz="950" dirty="0"/>
          </a:p>
        </p:txBody>
      </p:sp>
      <p:sp>
        <p:nvSpPr>
          <p:cNvPr id="48" name="Text 46"/>
          <p:cNvSpPr txBox="1"/>
          <p:nvPr/>
        </p:nvSpPr>
        <p:spPr>
          <a:xfrm>
            <a:off x="9939528" y="3543300"/>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±1,320</a:t>
            </a:r>
            <a:endParaRPr lang="en-US" sz="950" dirty="0"/>
          </a:p>
        </p:txBody>
      </p:sp>
      <p:sp>
        <p:nvSpPr>
          <p:cNvPr id="49" name="Shape 47"/>
          <p:cNvSpPr/>
          <p:nvPr/>
        </p:nvSpPr>
        <p:spPr>
          <a:xfrm>
            <a:off x="3291840" y="3895344"/>
            <a:ext cx="8348472" cy="0"/>
          </a:xfrm>
          <a:prstGeom prst="line">
            <a:avLst/>
          </a:prstGeom>
          <a:noFill/>
          <a:ln w="9525">
            <a:solidFill>
              <a:srgbClr val="D9E0EA"/>
            </a:solidFill>
            <a:prstDash val="solid"/>
          </a:ln>
        </p:spPr>
      </p:sp>
      <p:sp>
        <p:nvSpPr>
          <p:cNvPr id="50" name="Text 48"/>
          <p:cNvSpPr txBox="1"/>
          <p:nvPr/>
        </p:nvSpPr>
        <p:spPr>
          <a:xfrm>
            <a:off x="3401568" y="3895344"/>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King Phalo, East London</a:t>
            </a:r>
            <a:endParaRPr lang="en-US" sz="950" dirty="0"/>
          </a:p>
        </p:txBody>
      </p:sp>
      <p:sp>
        <p:nvSpPr>
          <p:cNvPr id="51" name="Text 49"/>
          <p:cNvSpPr txBox="1"/>
          <p:nvPr/>
        </p:nvSpPr>
        <p:spPr>
          <a:xfrm>
            <a:off x="7379208" y="3895344"/>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ELS</a:t>
            </a:r>
            <a:endParaRPr lang="en-US" sz="950" dirty="0"/>
          </a:p>
        </p:txBody>
      </p:sp>
      <p:sp>
        <p:nvSpPr>
          <p:cNvPr id="52" name="Text 50"/>
          <p:cNvSpPr txBox="1"/>
          <p:nvPr/>
        </p:nvSpPr>
        <p:spPr>
          <a:xfrm>
            <a:off x="8247888" y="3895344"/>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6</a:t>
            </a:r>
            <a:endParaRPr lang="en-US" sz="950" dirty="0"/>
          </a:p>
        </p:txBody>
      </p:sp>
      <p:sp>
        <p:nvSpPr>
          <p:cNvPr id="53" name="Text 51"/>
          <p:cNvSpPr txBox="1"/>
          <p:nvPr/>
        </p:nvSpPr>
        <p:spPr>
          <a:xfrm>
            <a:off x="9939528" y="3895344"/>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±990</a:t>
            </a:r>
            <a:endParaRPr lang="en-US" sz="950" dirty="0"/>
          </a:p>
        </p:txBody>
      </p:sp>
      <p:sp>
        <p:nvSpPr>
          <p:cNvPr id="54" name="Shape 52"/>
          <p:cNvSpPr/>
          <p:nvPr/>
        </p:nvSpPr>
        <p:spPr>
          <a:xfrm>
            <a:off x="3291840" y="4247388"/>
            <a:ext cx="8348472" cy="0"/>
          </a:xfrm>
          <a:prstGeom prst="line">
            <a:avLst/>
          </a:prstGeom>
          <a:noFill/>
          <a:ln w="9525">
            <a:solidFill>
              <a:srgbClr val="D9E0EA"/>
            </a:solidFill>
            <a:prstDash val="solid"/>
          </a:ln>
        </p:spPr>
      </p:sp>
      <p:sp>
        <p:nvSpPr>
          <p:cNvPr id="55" name="Text 53"/>
          <p:cNvSpPr txBox="1"/>
          <p:nvPr/>
        </p:nvSpPr>
        <p:spPr>
          <a:xfrm>
            <a:off x="3401568" y="4247388"/>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Bram Fischer Int'l, Bloemfontein</a:t>
            </a:r>
            <a:endParaRPr lang="en-US" sz="950" dirty="0"/>
          </a:p>
        </p:txBody>
      </p:sp>
      <p:sp>
        <p:nvSpPr>
          <p:cNvPr id="56" name="Text 54"/>
          <p:cNvSpPr txBox="1"/>
          <p:nvPr/>
        </p:nvSpPr>
        <p:spPr>
          <a:xfrm>
            <a:off x="7379208" y="4247388"/>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BFN</a:t>
            </a:r>
            <a:endParaRPr lang="en-US" sz="950" dirty="0"/>
          </a:p>
        </p:txBody>
      </p:sp>
      <p:sp>
        <p:nvSpPr>
          <p:cNvPr id="57" name="Text 55"/>
          <p:cNvSpPr txBox="1"/>
          <p:nvPr/>
        </p:nvSpPr>
        <p:spPr>
          <a:xfrm>
            <a:off x="8247888" y="4247388"/>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3</a:t>
            </a:r>
            <a:endParaRPr lang="en-US" sz="950" dirty="0"/>
          </a:p>
        </p:txBody>
      </p:sp>
      <p:sp>
        <p:nvSpPr>
          <p:cNvPr id="58" name="Text 56"/>
          <p:cNvSpPr txBox="1"/>
          <p:nvPr/>
        </p:nvSpPr>
        <p:spPr>
          <a:xfrm>
            <a:off x="9939528" y="4247388"/>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±490</a:t>
            </a:r>
            <a:endParaRPr lang="en-US" sz="950" dirty="0"/>
          </a:p>
        </p:txBody>
      </p:sp>
      <p:sp>
        <p:nvSpPr>
          <p:cNvPr id="59" name="Shape 57"/>
          <p:cNvSpPr/>
          <p:nvPr/>
        </p:nvSpPr>
        <p:spPr>
          <a:xfrm>
            <a:off x="3291840" y="4599432"/>
            <a:ext cx="8348472" cy="0"/>
          </a:xfrm>
          <a:prstGeom prst="line">
            <a:avLst/>
          </a:prstGeom>
          <a:noFill/>
          <a:ln w="9525">
            <a:solidFill>
              <a:srgbClr val="D9E0EA"/>
            </a:solidFill>
            <a:prstDash val="solid"/>
          </a:ln>
        </p:spPr>
      </p:sp>
      <p:sp>
        <p:nvSpPr>
          <p:cNvPr id="60" name="Text 58"/>
          <p:cNvSpPr txBox="1"/>
          <p:nvPr/>
        </p:nvSpPr>
        <p:spPr>
          <a:xfrm>
            <a:off x="3401568" y="4599432"/>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Kimberley</a:t>
            </a:r>
            <a:endParaRPr lang="en-US" sz="950" dirty="0"/>
          </a:p>
        </p:txBody>
      </p:sp>
      <p:sp>
        <p:nvSpPr>
          <p:cNvPr id="61" name="Text 59"/>
          <p:cNvSpPr txBox="1"/>
          <p:nvPr/>
        </p:nvSpPr>
        <p:spPr>
          <a:xfrm>
            <a:off x="7379208" y="4599432"/>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KIM</a:t>
            </a:r>
            <a:endParaRPr lang="en-US" sz="950" dirty="0"/>
          </a:p>
        </p:txBody>
      </p:sp>
      <p:sp>
        <p:nvSpPr>
          <p:cNvPr id="62" name="Text 60"/>
          <p:cNvSpPr txBox="1"/>
          <p:nvPr/>
        </p:nvSpPr>
        <p:spPr>
          <a:xfrm>
            <a:off x="8247888" y="4599432"/>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2</a:t>
            </a:r>
            <a:endParaRPr lang="en-US" sz="950" dirty="0"/>
          </a:p>
        </p:txBody>
      </p:sp>
      <p:sp>
        <p:nvSpPr>
          <p:cNvPr id="63" name="Text 61"/>
          <p:cNvSpPr txBox="1"/>
          <p:nvPr/>
        </p:nvSpPr>
        <p:spPr>
          <a:xfrm>
            <a:off x="9939528" y="4599432"/>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±330</a:t>
            </a:r>
            <a:endParaRPr lang="en-US" sz="950" dirty="0"/>
          </a:p>
        </p:txBody>
      </p:sp>
      <p:sp>
        <p:nvSpPr>
          <p:cNvPr id="64" name="Shape 62"/>
          <p:cNvSpPr/>
          <p:nvPr/>
        </p:nvSpPr>
        <p:spPr>
          <a:xfrm>
            <a:off x="3291840" y="4951476"/>
            <a:ext cx="8348472" cy="0"/>
          </a:xfrm>
          <a:prstGeom prst="line">
            <a:avLst/>
          </a:prstGeom>
          <a:noFill/>
          <a:ln w="9525">
            <a:solidFill>
              <a:srgbClr val="D9E0EA"/>
            </a:solidFill>
            <a:prstDash val="solid"/>
          </a:ln>
        </p:spPr>
      </p:sp>
      <p:sp>
        <p:nvSpPr>
          <p:cNvPr id="65" name="Text 63"/>
          <p:cNvSpPr txBox="1"/>
          <p:nvPr/>
        </p:nvSpPr>
        <p:spPr>
          <a:xfrm>
            <a:off x="3401568" y="4951476"/>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Mauritius (regional)</a:t>
            </a:r>
            <a:endParaRPr lang="en-US" sz="950" dirty="0"/>
          </a:p>
        </p:txBody>
      </p:sp>
      <p:sp>
        <p:nvSpPr>
          <p:cNvPr id="66" name="Text 64"/>
          <p:cNvSpPr txBox="1"/>
          <p:nvPr/>
        </p:nvSpPr>
        <p:spPr>
          <a:xfrm>
            <a:off x="7379208" y="4951476"/>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MRU</a:t>
            </a:r>
            <a:endParaRPr lang="en-US" sz="950" dirty="0"/>
          </a:p>
        </p:txBody>
      </p:sp>
      <p:sp>
        <p:nvSpPr>
          <p:cNvPr id="67" name="Text 65"/>
          <p:cNvSpPr txBox="1"/>
          <p:nvPr/>
        </p:nvSpPr>
        <p:spPr>
          <a:xfrm>
            <a:off x="8247888" y="4951476"/>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2</a:t>
            </a:r>
            <a:endParaRPr lang="en-US" sz="950" dirty="0"/>
          </a:p>
        </p:txBody>
      </p:sp>
      <p:sp>
        <p:nvSpPr>
          <p:cNvPr id="68" name="Text 66"/>
          <p:cNvSpPr txBox="1"/>
          <p:nvPr/>
        </p:nvSpPr>
        <p:spPr>
          <a:xfrm>
            <a:off x="9939528" y="4951476"/>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±330</a:t>
            </a:r>
            <a:endParaRPr lang="en-US" sz="950" dirty="0"/>
          </a:p>
        </p:txBody>
      </p:sp>
      <p:sp>
        <p:nvSpPr>
          <p:cNvPr id="69" name="Shape 67"/>
          <p:cNvSpPr/>
          <p:nvPr/>
        </p:nvSpPr>
        <p:spPr>
          <a:xfrm>
            <a:off x="3291840" y="5303520"/>
            <a:ext cx="8348472" cy="0"/>
          </a:xfrm>
          <a:prstGeom prst="line">
            <a:avLst/>
          </a:prstGeom>
          <a:noFill/>
          <a:ln w="9525">
            <a:solidFill>
              <a:srgbClr val="D9E0EA"/>
            </a:solidFill>
            <a:prstDash val="solid"/>
          </a:ln>
        </p:spPr>
      </p:sp>
      <p:sp>
        <p:nvSpPr>
          <p:cNvPr id="70" name="Text 68"/>
          <p:cNvSpPr txBox="1"/>
          <p:nvPr/>
        </p:nvSpPr>
        <p:spPr>
          <a:xfrm>
            <a:off x="3401568" y="5303520"/>
            <a:ext cx="3794760" cy="352044"/>
          </a:xfrm>
          <a:prstGeom prst="rect">
            <a:avLst/>
          </a:prstGeom>
          <a:noFill/>
          <a:ln/>
        </p:spPr>
        <p:txBody>
          <a:bodyPr wrap="square" lIns="0" tIns="0" rIns="0" bIns="0" rtlCol="0" anchor="ctr"/>
          <a:lstStyle/>
          <a:p>
            <a:pPr algn="l" indent="0" marL="0">
              <a:buNone/>
            </a:pPr>
            <a:r>
              <a:rPr lang="en-US" sz="950" dirty="0">
                <a:solidFill>
                  <a:srgbClr val="13294B"/>
                </a:solidFill>
                <a:latin typeface="Arial" pitchFamily="34" charset="0"/>
                <a:ea typeface="Arial" pitchFamily="34" charset="-122"/>
                <a:cs typeface="Arial" pitchFamily="34" charset="-120"/>
              </a:rPr>
              <a:t>Zanzibar (regional)</a:t>
            </a:r>
            <a:endParaRPr lang="en-US" sz="950" dirty="0"/>
          </a:p>
        </p:txBody>
      </p:sp>
      <p:sp>
        <p:nvSpPr>
          <p:cNvPr id="71" name="Text 69"/>
          <p:cNvSpPr txBox="1"/>
          <p:nvPr/>
        </p:nvSpPr>
        <p:spPr>
          <a:xfrm>
            <a:off x="7379208" y="5303520"/>
            <a:ext cx="685800" cy="352044"/>
          </a:xfrm>
          <a:prstGeom prst="rect">
            <a:avLst/>
          </a:prstGeom>
          <a:noFill/>
          <a:ln/>
        </p:spPr>
        <p:txBody>
          <a:bodyPr wrap="square" lIns="0" tIns="0" rIns="0" bIns="0" rtlCol="0" anchor="ctr"/>
          <a:lstStyle/>
          <a:p>
            <a:pPr algn="l" indent="0" marL="0">
              <a:buNone/>
            </a:pPr>
            <a:r>
              <a:rPr lang="en-US" sz="950" dirty="0">
                <a:solidFill>
                  <a:srgbClr val="5E6B7E"/>
                </a:solidFill>
                <a:latin typeface="Arial" pitchFamily="34" charset="0"/>
                <a:ea typeface="Arial" pitchFamily="34" charset="-122"/>
                <a:cs typeface="Arial" pitchFamily="34" charset="-120"/>
              </a:rPr>
              <a:t>ZNZ</a:t>
            </a:r>
            <a:endParaRPr lang="en-US" sz="950" dirty="0"/>
          </a:p>
        </p:txBody>
      </p:sp>
      <p:sp>
        <p:nvSpPr>
          <p:cNvPr id="72" name="Text 70"/>
          <p:cNvSpPr txBox="1"/>
          <p:nvPr/>
        </p:nvSpPr>
        <p:spPr>
          <a:xfrm>
            <a:off x="8247888" y="5303520"/>
            <a:ext cx="1508760"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a:t>
            </a:r>
            <a:endParaRPr lang="en-US" sz="950" dirty="0"/>
          </a:p>
        </p:txBody>
      </p:sp>
      <p:sp>
        <p:nvSpPr>
          <p:cNvPr id="73" name="Text 71"/>
          <p:cNvSpPr txBox="1"/>
          <p:nvPr/>
        </p:nvSpPr>
        <p:spPr>
          <a:xfrm>
            <a:off x="9939528" y="5303520"/>
            <a:ext cx="1627632" cy="352044"/>
          </a:xfrm>
          <a:prstGeom prst="rect">
            <a:avLst/>
          </a:prstGeom>
          <a:noFill/>
          <a:ln/>
        </p:spPr>
        <p:txBody>
          <a:bodyPr wrap="square" lIns="0" tIns="0" rIns="0" bIns="0" rtlCol="0" anchor="ctr"/>
          <a:lstStyle/>
          <a:p>
            <a:pPr algn="r" indent="0" marL="0">
              <a:buNone/>
            </a:pPr>
            <a:r>
              <a:rPr lang="en-US" sz="950" dirty="0">
                <a:solidFill>
                  <a:srgbClr val="5E6B7E"/>
                </a:solidFill>
                <a:latin typeface="Arial" pitchFamily="34" charset="0"/>
                <a:ea typeface="Arial" pitchFamily="34" charset="-122"/>
                <a:cs typeface="Arial" pitchFamily="34" charset="-120"/>
              </a:rPr>
              <a:t>±160</a:t>
            </a:r>
            <a:endParaRPr lang="en-US" sz="950" dirty="0"/>
          </a:p>
        </p:txBody>
      </p:sp>
      <p:sp>
        <p:nvSpPr>
          <p:cNvPr id="74" name="Shape 72"/>
          <p:cNvSpPr/>
          <p:nvPr/>
        </p:nvSpPr>
        <p:spPr>
          <a:xfrm>
            <a:off x="3291840" y="5655564"/>
            <a:ext cx="8348472" cy="0"/>
          </a:xfrm>
          <a:prstGeom prst="line">
            <a:avLst/>
          </a:prstGeom>
          <a:noFill/>
          <a:ln w="9525">
            <a:solidFill>
              <a:srgbClr val="D9E0EA"/>
            </a:solidFill>
            <a:prstDash val="solid"/>
          </a:ln>
        </p:spPr>
      </p:sp>
      <p:sp>
        <p:nvSpPr>
          <p:cNvPr id="75" name="Shape 73"/>
          <p:cNvSpPr/>
          <p:nvPr/>
        </p:nvSpPr>
        <p:spPr>
          <a:xfrm>
            <a:off x="3291840" y="5655564"/>
            <a:ext cx="8348472" cy="384048"/>
          </a:xfrm>
          <a:prstGeom prst="rect">
            <a:avLst/>
          </a:prstGeom>
          <a:solidFill>
            <a:srgbClr val="F17400"/>
          </a:solidFill>
          <a:ln/>
        </p:spPr>
      </p:sp>
      <p:sp>
        <p:nvSpPr>
          <p:cNvPr id="76" name="Text 74"/>
          <p:cNvSpPr txBox="1"/>
          <p:nvPr/>
        </p:nvSpPr>
        <p:spPr>
          <a:xfrm>
            <a:off x="3401568" y="5655564"/>
            <a:ext cx="3794760" cy="384048"/>
          </a:xfrm>
          <a:prstGeom prst="rect">
            <a:avLst/>
          </a:prstGeom>
          <a:noFill/>
          <a:ln/>
        </p:spPr>
        <p:txBody>
          <a:bodyPr wrap="square" lIns="0" tIns="0" rIns="0" bIns="0" rtlCol="0" anchor="ctr"/>
          <a:lstStyle/>
          <a:p>
            <a:pPr algn="l" indent="0" marL="0">
              <a:buNone/>
            </a:pPr>
            <a:r>
              <a:rPr lang="en-US" sz="1000" b="1" dirty="0">
                <a:solidFill>
                  <a:srgbClr val="FFFFFF"/>
                </a:solidFill>
                <a:latin typeface="Arial" pitchFamily="34" charset="0"/>
                <a:ea typeface="Arial" pitchFamily="34" charset="-122"/>
                <a:cs typeface="Arial" pitchFamily="34" charset="-120"/>
              </a:rPr>
              <a:t>NETWORK TOTAL</a:t>
            </a:r>
            <a:endParaRPr lang="en-US" sz="1000" dirty="0"/>
          </a:p>
        </p:txBody>
      </p:sp>
      <p:sp>
        <p:nvSpPr>
          <p:cNvPr id="77" name="Text 75"/>
          <p:cNvSpPr txBox="1"/>
          <p:nvPr/>
        </p:nvSpPr>
        <p:spPr>
          <a:xfrm>
            <a:off x="7379208" y="5655564"/>
            <a:ext cx="685800" cy="384048"/>
          </a:xfrm>
          <a:prstGeom prst="rect">
            <a:avLst/>
          </a:prstGeom>
          <a:noFill/>
          <a:ln/>
        </p:spPr>
        <p:txBody>
          <a:bodyPr wrap="square" lIns="0" tIns="0" rIns="0" bIns="0" rtlCol="0" anchor="ctr"/>
          <a:lstStyle/>
          <a:p>
            <a:pPr algn="l" indent="0" marL="0">
              <a:buNone/>
            </a:pPr>
            <a:endParaRPr lang="en-US" sz="1000" dirty="0"/>
          </a:p>
        </p:txBody>
      </p:sp>
      <p:sp>
        <p:nvSpPr>
          <p:cNvPr id="78" name="Text 76"/>
          <p:cNvSpPr txBox="1"/>
          <p:nvPr/>
        </p:nvSpPr>
        <p:spPr>
          <a:xfrm>
            <a:off x="8247888" y="5655564"/>
            <a:ext cx="1508760" cy="384048"/>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±180</a:t>
            </a:r>
            <a:endParaRPr lang="en-US" sz="1000" dirty="0"/>
          </a:p>
        </p:txBody>
      </p:sp>
      <p:sp>
        <p:nvSpPr>
          <p:cNvPr id="79" name="Text 77"/>
          <p:cNvSpPr txBox="1"/>
          <p:nvPr/>
        </p:nvSpPr>
        <p:spPr>
          <a:xfrm>
            <a:off x="9939528" y="5655564"/>
            <a:ext cx="1627632" cy="384048"/>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±29,600</a:t>
            </a:r>
            <a:endParaRPr lang="en-US" sz="1000" dirty="0"/>
          </a:p>
        </p:txBody>
      </p:sp>
      <p:sp>
        <p:nvSpPr>
          <p:cNvPr id="80" name="Shape 78"/>
          <p:cNvSpPr/>
          <p:nvPr/>
        </p:nvSpPr>
        <p:spPr>
          <a:xfrm>
            <a:off x="0" y="6583680"/>
            <a:ext cx="12191695" cy="274320"/>
          </a:xfrm>
          <a:prstGeom prst="rect">
            <a:avLst/>
          </a:prstGeom>
          <a:solidFill>
            <a:srgbClr val="0B1B34"/>
          </a:solidFill>
          <a:ln/>
        </p:spPr>
      </p:sp>
      <p:sp>
        <p:nvSpPr>
          <p:cNvPr id="81" name="Text 79"/>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82" name="Text 80"/>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5 / 29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01 · THE CHALLENGE</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Three ways value leaks — every single day</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Modelled at SITA's domestic benchmark and South African pilferage patterns, FlySafair's scale turns “rare” into “daily”.</a:t>
            </a:r>
            <a:endParaRPr lang="en-US" sz="1150" dirty="0"/>
          </a:p>
        </p:txBody>
      </p:sp>
      <p:sp>
        <p:nvSpPr>
          <p:cNvPr id="5" name="Shape 3"/>
          <p:cNvSpPr/>
          <p:nvPr/>
        </p:nvSpPr>
        <p:spPr>
          <a:xfrm>
            <a:off x="548640" y="1481328"/>
            <a:ext cx="3538728" cy="3017520"/>
          </a:xfrm>
          <a:prstGeom prst="rect">
            <a:avLst/>
          </a:prstGeom>
          <a:solidFill>
            <a:srgbClr val="FFFFFF"/>
          </a:solidFill>
          <a:ln w="12700">
            <a:solidFill>
              <a:srgbClr val="D9E0EA"/>
            </a:solidFill>
            <a:prstDash val="solid"/>
          </a:ln>
        </p:spPr>
      </p:sp>
      <p:sp>
        <p:nvSpPr>
          <p:cNvPr id="6" name="Shape 4"/>
          <p:cNvSpPr/>
          <p:nvPr/>
        </p:nvSpPr>
        <p:spPr>
          <a:xfrm>
            <a:off x="749808" y="1700784"/>
            <a:ext cx="2286000" cy="329184"/>
          </a:xfrm>
          <a:prstGeom prst="roundRect">
            <a:avLst>
              <a:gd name="adj" fmla="val 50000"/>
            </a:avLst>
          </a:prstGeom>
          <a:solidFill>
            <a:srgbClr val="F17400"/>
          </a:solidFill>
          <a:ln w="12700">
            <a:solidFill>
              <a:srgbClr val="F17400"/>
            </a:solidFill>
            <a:prstDash val="solid"/>
          </a:ln>
        </p:spPr>
      </p:sp>
      <p:sp>
        <p:nvSpPr>
          <p:cNvPr id="7" name="Text 5"/>
          <p:cNvSpPr txBox="1"/>
          <p:nvPr/>
        </p:nvSpPr>
        <p:spPr>
          <a:xfrm>
            <a:off x="749808" y="1700784"/>
            <a:ext cx="228600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LOST &amp; DELAYED</a:t>
            </a:r>
            <a:endParaRPr lang="en-US" sz="950" dirty="0"/>
          </a:p>
        </p:txBody>
      </p:sp>
      <p:sp>
        <p:nvSpPr>
          <p:cNvPr id="8" name="Text 6"/>
          <p:cNvSpPr txBox="1"/>
          <p:nvPr/>
        </p:nvSpPr>
        <p:spPr>
          <a:xfrm>
            <a:off x="749808" y="2212848"/>
            <a:ext cx="3108960" cy="548640"/>
          </a:xfrm>
          <a:prstGeom prst="rect">
            <a:avLst/>
          </a:prstGeom>
          <a:noFill/>
          <a:ln/>
        </p:spPr>
        <p:txBody>
          <a:bodyPr wrap="square" lIns="0" tIns="0" rIns="0" bIns="0" rtlCol="0" anchor="ctr"/>
          <a:lstStyle/>
          <a:p>
            <a:pPr indent="0" marL="0">
              <a:buNone/>
            </a:pPr>
            <a:r>
              <a:rPr lang="en-US" sz="2800" b="1" dirty="0">
                <a:solidFill>
                  <a:srgbClr val="13294B"/>
                </a:solidFill>
                <a:latin typeface="Arial" pitchFamily="34" charset="0"/>
                <a:ea typeface="Arial" pitchFamily="34" charset="-122"/>
                <a:cs typeface="Arial" pitchFamily="34" charset="-120"/>
              </a:rPr>
              <a:t>±78 bags/day</a:t>
            </a:r>
            <a:endParaRPr lang="en-US" sz="2800" dirty="0"/>
          </a:p>
        </p:txBody>
      </p:sp>
      <p:sp>
        <p:nvSpPr>
          <p:cNvPr id="9" name="Text 7"/>
          <p:cNvSpPr txBox="1"/>
          <p:nvPr/>
        </p:nvSpPr>
        <p:spPr>
          <a:xfrm>
            <a:off x="749808" y="2834640"/>
            <a:ext cx="3154680" cy="155448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28,350 bags a year — misrouted, left behind, delayed or damaged. 1 in every 370 passengers. Every one costs recovery couriering, staff time, call-centre load and goodwill.</a:t>
            </a:r>
            <a:endParaRPr lang="en-US" sz="1000" dirty="0"/>
          </a:p>
        </p:txBody>
      </p:sp>
      <p:sp>
        <p:nvSpPr>
          <p:cNvPr id="10" name="Shape 8"/>
          <p:cNvSpPr/>
          <p:nvPr/>
        </p:nvSpPr>
        <p:spPr>
          <a:xfrm>
            <a:off x="4338828" y="1481328"/>
            <a:ext cx="3538728" cy="3017520"/>
          </a:xfrm>
          <a:prstGeom prst="rect">
            <a:avLst/>
          </a:prstGeom>
          <a:solidFill>
            <a:srgbClr val="FFFFFF"/>
          </a:solidFill>
          <a:ln w="12700">
            <a:solidFill>
              <a:srgbClr val="D9E0EA"/>
            </a:solidFill>
            <a:prstDash val="solid"/>
          </a:ln>
        </p:spPr>
      </p:sp>
      <p:sp>
        <p:nvSpPr>
          <p:cNvPr id="11" name="Shape 9"/>
          <p:cNvSpPr/>
          <p:nvPr/>
        </p:nvSpPr>
        <p:spPr>
          <a:xfrm>
            <a:off x="4539996" y="1700784"/>
            <a:ext cx="2286000" cy="329184"/>
          </a:xfrm>
          <a:prstGeom prst="roundRect">
            <a:avLst>
              <a:gd name="adj" fmla="val 50000"/>
            </a:avLst>
          </a:prstGeom>
          <a:solidFill>
            <a:srgbClr val="1E8A5A"/>
          </a:solidFill>
          <a:ln w="12700">
            <a:solidFill>
              <a:srgbClr val="1E8A5A"/>
            </a:solidFill>
            <a:prstDash val="solid"/>
          </a:ln>
        </p:spPr>
      </p:sp>
      <p:sp>
        <p:nvSpPr>
          <p:cNvPr id="12" name="Text 10"/>
          <p:cNvSpPr txBox="1"/>
          <p:nvPr/>
        </p:nvSpPr>
        <p:spPr>
          <a:xfrm>
            <a:off x="4539996" y="1700784"/>
            <a:ext cx="228600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TAMPERED &amp; PILFERED</a:t>
            </a:r>
            <a:endParaRPr lang="en-US" sz="950" dirty="0"/>
          </a:p>
        </p:txBody>
      </p:sp>
      <p:sp>
        <p:nvSpPr>
          <p:cNvPr id="13" name="Text 11"/>
          <p:cNvSpPr txBox="1"/>
          <p:nvPr/>
        </p:nvSpPr>
        <p:spPr>
          <a:xfrm>
            <a:off x="4539996" y="2212848"/>
            <a:ext cx="3108960" cy="548640"/>
          </a:xfrm>
          <a:prstGeom prst="rect">
            <a:avLst/>
          </a:prstGeom>
          <a:noFill/>
          <a:ln/>
        </p:spPr>
        <p:txBody>
          <a:bodyPr wrap="square" lIns="0" tIns="0" rIns="0" bIns="0" rtlCol="0" anchor="ctr"/>
          <a:lstStyle/>
          <a:p>
            <a:pPr indent="0" marL="0">
              <a:buNone/>
            </a:pPr>
            <a:r>
              <a:rPr lang="en-US" sz="2800" b="1" dirty="0">
                <a:solidFill>
                  <a:srgbClr val="13294B"/>
                </a:solidFill>
                <a:latin typeface="Arial" pitchFamily="34" charset="0"/>
                <a:ea typeface="Arial" pitchFamily="34" charset="-122"/>
                <a:cs typeface="Arial" pitchFamily="34" charset="-120"/>
              </a:rPr>
              <a:t>±14 claims/day</a:t>
            </a:r>
            <a:endParaRPr lang="en-US" sz="2800" dirty="0"/>
          </a:p>
        </p:txBody>
      </p:sp>
      <p:sp>
        <p:nvSpPr>
          <p:cNvPr id="14" name="Text 12"/>
          <p:cNvSpPr txBox="1"/>
          <p:nvPr/>
        </p:nvSpPr>
        <p:spPr>
          <a:xfrm>
            <a:off x="4539996" y="2834640"/>
            <a:ext cx="3154680" cy="155448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5,250 modelled claims a year — bags opened, pilfered or damaged in transit. The uniquely South African failure mode ACSA has fought publicly for a decade. Modelled at R2,850 per claim.</a:t>
            </a:r>
            <a:endParaRPr lang="en-US" sz="1000" dirty="0"/>
          </a:p>
        </p:txBody>
      </p:sp>
      <p:sp>
        <p:nvSpPr>
          <p:cNvPr id="15" name="Shape 13"/>
          <p:cNvSpPr/>
          <p:nvPr/>
        </p:nvSpPr>
        <p:spPr>
          <a:xfrm>
            <a:off x="8129016" y="1481328"/>
            <a:ext cx="3538728" cy="3017520"/>
          </a:xfrm>
          <a:prstGeom prst="rect">
            <a:avLst/>
          </a:prstGeom>
          <a:solidFill>
            <a:srgbClr val="FFFFFF"/>
          </a:solidFill>
          <a:ln w="12700">
            <a:solidFill>
              <a:srgbClr val="D9E0EA"/>
            </a:solidFill>
            <a:prstDash val="solid"/>
          </a:ln>
        </p:spPr>
      </p:sp>
      <p:sp>
        <p:nvSpPr>
          <p:cNvPr id="16" name="Shape 14"/>
          <p:cNvSpPr/>
          <p:nvPr/>
        </p:nvSpPr>
        <p:spPr>
          <a:xfrm>
            <a:off x="8330184" y="1700784"/>
            <a:ext cx="2286000" cy="329184"/>
          </a:xfrm>
          <a:prstGeom prst="roundRect">
            <a:avLst>
              <a:gd name="adj" fmla="val 50000"/>
            </a:avLst>
          </a:prstGeom>
          <a:solidFill>
            <a:srgbClr val="E05252"/>
          </a:solidFill>
          <a:ln w="12700">
            <a:solidFill>
              <a:srgbClr val="E05252"/>
            </a:solidFill>
            <a:prstDash val="solid"/>
          </a:ln>
        </p:spPr>
      </p:sp>
      <p:sp>
        <p:nvSpPr>
          <p:cNvPr id="17" name="Text 15"/>
          <p:cNvSpPr txBox="1"/>
          <p:nvPr/>
        </p:nvSpPr>
        <p:spPr>
          <a:xfrm>
            <a:off x="8330184" y="1700784"/>
            <a:ext cx="228600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NEVER ARRIVES</a:t>
            </a:r>
            <a:endParaRPr lang="en-US" sz="950" dirty="0"/>
          </a:p>
        </p:txBody>
      </p:sp>
      <p:sp>
        <p:nvSpPr>
          <p:cNvPr id="18" name="Text 16"/>
          <p:cNvSpPr txBox="1"/>
          <p:nvPr/>
        </p:nvSpPr>
        <p:spPr>
          <a:xfrm>
            <a:off x="8330184" y="2212848"/>
            <a:ext cx="3108960" cy="548640"/>
          </a:xfrm>
          <a:prstGeom prst="rect">
            <a:avLst/>
          </a:prstGeom>
          <a:noFill/>
          <a:ln/>
        </p:spPr>
        <p:txBody>
          <a:bodyPr wrap="square" lIns="0" tIns="0" rIns="0" bIns="0" rtlCol="0" anchor="ctr"/>
          <a:lstStyle/>
          <a:p>
            <a:pPr indent="0" marL="0">
              <a:buNone/>
            </a:pPr>
            <a:r>
              <a:rPr lang="en-US" sz="2800" b="1" dirty="0">
                <a:solidFill>
                  <a:srgbClr val="13294B"/>
                </a:solidFill>
                <a:latin typeface="Arial" pitchFamily="34" charset="0"/>
                <a:ea typeface="Arial" pitchFamily="34" charset="-122"/>
                <a:cs typeface="Arial" pitchFamily="34" charset="-120"/>
              </a:rPr>
              <a:t>±3 bags/day</a:t>
            </a:r>
            <a:endParaRPr lang="en-US" sz="2800" dirty="0"/>
          </a:p>
        </p:txBody>
      </p:sp>
      <p:sp>
        <p:nvSpPr>
          <p:cNvPr id="19" name="Text 17"/>
          <p:cNvSpPr txBox="1"/>
          <p:nvPr/>
        </p:nvSpPr>
        <p:spPr>
          <a:xfrm>
            <a:off x="8330184" y="2834640"/>
            <a:ext cx="3154680" cy="155448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1,134 bags a year never reunited with their owner — 4% of mishandled bags (SITA 2026). The highest-cost, highest-emotion failure: R11,240 a bag, and a passenger lost for life.</a:t>
            </a:r>
            <a:endParaRPr lang="en-US" sz="1000" dirty="0"/>
          </a:p>
        </p:txBody>
      </p:sp>
      <p:sp>
        <p:nvSpPr>
          <p:cNvPr id="20" name="Shape 18"/>
          <p:cNvSpPr/>
          <p:nvPr/>
        </p:nvSpPr>
        <p:spPr>
          <a:xfrm>
            <a:off x="548640" y="4800600"/>
            <a:ext cx="11094415" cy="868680"/>
          </a:xfrm>
          <a:prstGeom prst="rect">
            <a:avLst/>
          </a:prstGeom>
          <a:solidFill>
            <a:srgbClr val="0B1B34"/>
          </a:solidFill>
          <a:ln/>
        </p:spPr>
      </p:sp>
      <p:sp>
        <p:nvSpPr>
          <p:cNvPr id="21" name="Text 19"/>
          <p:cNvSpPr txBox="1"/>
          <p:nvPr/>
        </p:nvSpPr>
        <p:spPr>
          <a:xfrm>
            <a:off x="777240" y="4800600"/>
            <a:ext cx="10637215" cy="868680"/>
          </a:xfrm>
          <a:prstGeom prst="rect">
            <a:avLst/>
          </a:prstGeom>
          <a:noFill/>
          <a:ln/>
        </p:spPr>
        <p:txBody>
          <a:bodyPr wrap="square" lIns="0" tIns="0" rIns="0" bIns="0" rtlCol="0" anchor="ctr"/>
          <a:lstStyle/>
          <a:p>
            <a:pPr indent="0" marL="0">
              <a:lnSpc>
                <a:spcPts val="1400"/>
              </a:lnSpc>
              <a:buNone/>
            </a:pPr>
            <a:r>
              <a:rPr lang="en-US" sz="1050" b="1" dirty="0">
                <a:solidFill>
                  <a:srgbClr val="F17400"/>
                </a:solidFill>
                <a:latin typeface="Arial" pitchFamily="34" charset="0"/>
                <a:ea typeface="Arial" pitchFamily="34" charset="-122"/>
                <a:cs typeface="Arial" pitchFamily="34" charset="-120"/>
              </a:rPr>
              <a:t>None of this is visible today. </a:t>
            </a:r>
            <a:pPr indent="0" marL="0">
              <a:lnSpc>
                <a:spcPts val="1400"/>
              </a:lnSpc>
              <a:buNone/>
            </a:pPr>
            <a:r>
              <a:rPr lang="en-US" sz="1050" dirty="0">
                <a:solidFill>
                  <a:srgbClr val="A9B6CB"/>
                </a:solidFill>
                <a:latin typeface="Arial" pitchFamily="34" charset="0"/>
                <a:ea typeface="Arial" pitchFamily="34" charset="-122"/>
                <a:cs typeface="Arial" pitchFamily="34" charset="-120"/>
              </a:rPr>
              <a:t>A barcode tag records scans, not journeys. From the moment a bag disappears behind the bag-drop until it lands on a carousel, it is dark — to the passenger, to the airline, and to security. Dark is where all three failure modes live.</a:t>
            </a:r>
            <a:endParaRPr lang="en-US" sz="1050" dirty="0"/>
          </a:p>
        </p:txBody>
      </p:sp>
      <p:sp>
        <p:nvSpPr>
          <p:cNvPr id="22" name="Shape 20"/>
          <p:cNvSpPr/>
          <p:nvPr/>
        </p:nvSpPr>
        <p:spPr>
          <a:xfrm>
            <a:off x="0" y="6583680"/>
            <a:ext cx="12191695" cy="274320"/>
          </a:xfrm>
          <a:prstGeom prst="rect">
            <a:avLst/>
          </a:prstGeom>
          <a:solidFill>
            <a:srgbClr val="0B1B34"/>
          </a:solidFill>
          <a:ln/>
        </p:spPr>
      </p:sp>
      <p:sp>
        <p:nvSpPr>
          <p:cNvPr id="23" name="Text 21"/>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4" name="Text 22"/>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6 / 29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01 · THE COST</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What the dark window costs FlySafair</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A transparent, source-cited model — SITA 2026 benchmarks at R17.70/$, calibrated to a domestic point-to-point operation.</a:t>
            </a:r>
            <a:endParaRPr lang="en-US" sz="1150" dirty="0"/>
          </a:p>
        </p:txBody>
      </p:sp>
      <p:sp>
        <p:nvSpPr>
          <p:cNvPr id="5" name="Shape 3"/>
          <p:cNvSpPr/>
          <p:nvPr/>
        </p:nvSpPr>
        <p:spPr>
          <a:xfrm>
            <a:off x="548640" y="1417320"/>
            <a:ext cx="2377440" cy="1078992"/>
          </a:xfrm>
          <a:prstGeom prst="rect">
            <a:avLst/>
          </a:prstGeom>
          <a:solidFill>
            <a:srgbClr val="FFFFFF"/>
          </a:solidFill>
          <a:ln w="12700">
            <a:solidFill>
              <a:srgbClr val="D9E0EA"/>
            </a:solidFill>
            <a:prstDash val="solid"/>
          </a:ln>
        </p:spPr>
      </p:sp>
      <p:sp>
        <p:nvSpPr>
          <p:cNvPr id="6" name="Text 4"/>
          <p:cNvSpPr txBox="1"/>
          <p:nvPr/>
        </p:nvSpPr>
        <p:spPr>
          <a:xfrm>
            <a:off x="713232" y="1527048"/>
            <a:ext cx="204825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R161,700</a:t>
            </a:r>
            <a:endParaRPr lang="en-US" sz="2200" dirty="0"/>
          </a:p>
        </p:txBody>
      </p:sp>
      <p:sp>
        <p:nvSpPr>
          <p:cNvPr id="7" name="Text 5"/>
          <p:cNvSpPr txBox="1"/>
          <p:nvPr/>
        </p:nvSpPr>
        <p:spPr>
          <a:xfrm>
            <a:off x="713232" y="1956816"/>
            <a:ext cx="2048256" cy="484632"/>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modelled cost walking out the door every day</a:t>
            </a:r>
            <a:endParaRPr lang="en-US" sz="850" dirty="0"/>
          </a:p>
        </p:txBody>
      </p:sp>
      <p:sp>
        <p:nvSpPr>
          <p:cNvPr id="8" name="Shape 6"/>
          <p:cNvSpPr/>
          <p:nvPr/>
        </p:nvSpPr>
        <p:spPr>
          <a:xfrm>
            <a:off x="3108960" y="1417320"/>
            <a:ext cx="2377440" cy="1078992"/>
          </a:xfrm>
          <a:prstGeom prst="rect">
            <a:avLst/>
          </a:prstGeom>
          <a:solidFill>
            <a:srgbClr val="FFFFFF"/>
          </a:solidFill>
          <a:ln w="12700">
            <a:solidFill>
              <a:srgbClr val="D9E0EA"/>
            </a:solidFill>
            <a:prstDash val="solid"/>
          </a:ln>
        </p:spPr>
      </p:sp>
      <p:sp>
        <p:nvSpPr>
          <p:cNvPr id="9" name="Text 7"/>
          <p:cNvSpPr txBox="1"/>
          <p:nvPr/>
        </p:nvSpPr>
        <p:spPr>
          <a:xfrm>
            <a:off x="3273552" y="1527048"/>
            <a:ext cx="204825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R4.92M</a:t>
            </a:r>
            <a:endParaRPr lang="en-US" sz="2200" dirty="0"/>
          </a:p>
        </p:txBody>
      </p:sp>
      <p:sp>
        <p:nvSpPr>
          <p:cNvPr id="10" name="Text 8"/>
          <p:cNvSpPr txBox="1"/>
          <p:nvPr/>
        </p:nvSpPr>
        <p:spPr>
          <a:xfrm>
            <a:off x="3273552" y="1956816"/>
            <a:ext cx="2048256" cy="484632"/>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every month</a:t>
            </a:r>
            <a:endParaRPr lang="en-US" sz="850" dirty="0"/>
          </a:p>
        </p:txBody>
      </p:sp>
      <p:sp>
        <p:nvSpPr>
          <p:cNvPr id="11" name="Shape 9"/>
          <p:cNvSpPr/>
          <p:nvPr/>
        </p:nvSpPr>
        <p:spPr>
          <a:xfrm>
            <a:off x="5669280" y="1417320"/>
            <a:ext cx="2377440" cy="1078992"/>
          </a:xfrm>
          <a:prstGeom prst="rect">
            <a:avLst/>
          </a:prstGeom>
          <a:solidFill>
            <a:srgbClr val="FFFFFF"/>
          </a:solidFill>
          <a:ln w="12700">
            <a:solidFill>
              <a:srgbClr val="D9E0EA"/>
            </a:solidFill>
            <a:prstDash val="solid"/>
          </a:ln>
        </p:spPr>
      </p:sp>
      <p:sp>
        <p:nvSpPr>
          <p:cNvPr id="12" name="Text 10"/>
          <p:cNvSpPr txBox="1"/>
          <p:nvPr/>
        </p:nvSpPr>
        <p:spPr>
          <a:xfrm>
            <a:off x="5833872" y="1527048"/>
            <a:ext cx="2048256"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R59.0M</a:t>
            </a:r>
            <a:endParaRPr lang="en-US" sz="2200" dirty="0"/>
          </a:p>
        </p:txBody>
      </p:sp>
      <p:sp>
        <p:nvSpPr>
          <p:cNvPr id="13" name="Text 11"/>
          <p:cNvSpPr txBox="1"/>
          <p:nvPr/>
        </p:nvSpPr>
        <p:spPr>
          <a:xfrm>
            <a:off x="5833872" y="1956816"/>
            <a:ext cx="2048256" cy="484632"/>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every year — before any recovery layer</a:t>
            </a:r>
            <a:endParaRPr lang="en-US" sz="850" dirty="0"/>
          </a:p>
        </p:txBody>
      </p:sp>
      <p:sp>
        <p:nvSpPr>
          <p:cNvPr id="14" name="Text 12"/>
          <p:cNvSpPr txBox="1"/>
          <p:nvPr/>
        </p:nvSpPr>
        <p:spPr>
          <a:xfrm>
            <a:off x="548640" y="2743200"/>
            <a:ext cx="45720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THE ANNUAL BUILD-UP</a:t>
            </a:r>
            <a:endParaRPr lang="en-US" sz="1000" dirty="0"/>
          </a:p>
        </p:txBody>
      </p:sp>
      <p:sp>
        <p:nvSpPr>
          <p:cNvPr id="15" name="Shape 13"/>
          <p:cNvSpPr/>
          <p:nvPr/>
        </p:nvSpPr>
        <p:spPr>
          <a:xfrm>
            <a:off x="548640" y="3035808"/>
            <a:ext cx="7223760" cy="329184"/>
          </a:xfrm>
          <a:prstGeom prst="rect">
            <a:avLst/>
          </a:prstGeom>
          <a:solidFill>
            <a:srgbClr val="0B1B34"/>
          </a:solidFill>
          <a:ln/>
        </p:spPr>
      </p:sp>
      <p:sp>
        <p:nvSpPr>
          <p:cNvPr id="16" name="Text 14"/>
          <p:cNvSpPr txBox="1"/>
          <p:nvPr/>
        </p:nvSpPr>
        <p:spPr>
          <a:xfrm>
            <a:off x="658368" y="3035808"/>
            <a:ext cx="402336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Cost stream</a:t>
            </a:r>
            <a:endParaRPr lang="en-US" sz="900" dirty="0"/>
          </a:p>
        </p:txBody>
      </p:sp>
      <p:sp>
        <p:nvSpPr>
          <p:cNvPr id="17" name="Text 15"/>
          <p:cNvSpPr txBox="1"/>
          <p:nvPr/>
        </p:nvSpPr>
        <p:spPr>
          <a:xfrm>
            <a:off x="4864608" y="3035808"/>
            <a:ext cx="137160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Volume/yr</a:t>
            </a:r>
            <a:endParaRPr lang="en-US" sz="900" dirty="0"/>
          </a:p>
        </p:txBody>
      </p:sp>
      <p:sp>
        <p:nvSpPr>
          <p:cNvPr id="18" name="Text 16"/>
          <p:cNvSpPr txBox="1"/>
          <p:nvPr/>
        </p:nvSpPr>
        <p:spPr>
          <a:xfrm>
            <a:off x="6419088" y="3035808"/>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Cost/yr</a:t>
            </a:r>
            <a:endParaRPr lang="en-US" sz="900" dirty="0"/>
          </a:p>
        </p:txBody>
      </p:sp>
      <p:sp>
        <p:nvSpPr>
          <p:cNvPr id="19" name="Text 17"/>
          <p:cNvSpPr txBox="1"/>
          <p:nvPr/>
        </p:nvSpPr>
        <p:spPr>
          <a:xfrm>
            <a:off x="658368" y="3364992"/>
            <a:ext cx="4023360" cy="384048"/>
          </a:xfrm>
          <a:prstGeom prst="rect">
            <a:avLst/>
          </a:prstGeom>
          <a:noFill/>
          <a:ln/>
        </p:spPr>
        <p:txBody>
          <a:bodyPr wrap="square" lIns="0" tIns="0" rIns="0" bIns="0" rtlCol="0" anchor="ctr"/>
          <a:lstStyle/>
          <a:p>
            <a:pPr algn="l" indent="0" marL="0">
              <a:buNone/>
            </a:pPr>
            <a:r>
              <a:rPr lang="en-US" sz="1000" dirty="0">
                <a:solidFill>
                  <a:srgbClr val="13294B"/>
                </a:solidFill>
                <a:latin typeface="Arial" pitchFamily="34" charset="0"/>
                <a:ea typeface="Arial" pitchFamily="34" charset="-122"/>
                <a:cs typeface="Arial" pitchFamily="34" charset="-120"/>
              </a:rPr>
              <a:t>Delayed &amp; damaged bags × R1,150</a:t>
            </a:r>
            <a:endParaRPr lang="en-US" sz="1000" dirty="0"/>
          </a:p>
        </p:txBody>
      </p:sp>
      <p:sp>
        <p:nvSpPr>
          <p:cNvPr id="20" name="Text 18"/>
          <p:cNvSpPr txBox="1"/>
          <p:nvPr/>
        </p:nvSpPr>
        <p:spPr>
          <a:xfrm>
            <a:off x="4864608" y="3364992"/>
            <a:ext cx="137160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27,216</a:t>
            </a:r>
            <a:endParaRPr lang="en-US" sz="1000" dirty="0"/>
          </a:p>
        </p:txBody>
      </p:sp>
      <p:sp>
        <p:nvSpPr>
          <p:cNvPr id="21" name="Text 19"/>
          <p:cNvSpPr txBox="1"/>
          <p:nvPr/>
        </p:nvSpPr>
        <p:spPr>
          <a:xfrm>
            <a:off x="6419088" y="3364992"/>
            <a:ext cx="128016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R31.3M</a:t>
            </a:r>
            <a:endParaRPr lang="en-US" sz="1000" dirty="0"/>
          </a:p>
        </p:txBody>
      </p:sp>
      <p:sp>
        <p:nvSpPr>
          <p:cNvPr id="22" name="Shape 20"/>
          <p:cNvSpPr/>
          <p:nvPr/>
        </p:nvSpPr>
        <p:spPr>
          <a:xfrm>
            <a:off x="548640" y="3749040"/>
            <a:ext cx="7223760" cy="0"/>
          </a:xfrm>
          <a:prstGeom prst="line">
            <a:avLst/>
          </a:prstGeom>
          <a:noFill/>
          <a:ln w="9525">
            <a:solidFill>
              <a:srgbClr val="D9E0EA"/>
            </a:solidFill>
            <a:prstDash val="solid"/>
          </a:ln>
        </p:spPr>
      </p:sp>
      <p:sp>
        <p:nvSpPr>
          <p:cNvPr id="23" name="Text 21"/>
          <p:cNvSpPr txBox="1"/>
          <p:nvPr/>
        </p:nvSpPr>
        <p:spPr>
          <a:xfrm>
            <a:off x="658368" y="3749040"/>
            <a:ext cx="4023360" cy="384048"/>
          </a:xfrm>
          <a:prstGeom prst="rect">
            <a:avLst/>
          </a:prstGeom>
          <a:noFill/>
          <a:ln/>
        </p:spPr>
        <p:txBody>
          <a:bodyPr wrap="square" lIns="0" tIns="0" rIns="0" bIns="0" rtlCol="0" anchor="ctr"/>
          <a:lstStyle/>
          <a:p>
            <a:pPr algn="l" indent="0" marL="0">
              <a:buNone/>
            </a:pPr>
            <a:r>
              <a:rPr lang="en-US" sz="1000" dirty="0">
                <a:solidFill>
                  <a:srgbClr val="13294B"/>
                </a:solidFill>
                <a:latin typeface="Arial" pitchFamily="34" charset="0"/>
                <a:ea typeface="Arial" pitchFamily="34" charset="-122"/>
                <a:cs typeface="Arial" pitchFamily="34" charset="-120"/>
              </a:rPr>
              <a:t>Bags that never arrive × R11,240</a:t>
            </a:r>
            <a:endParaRPr lang="en-US" sz="1000" dirty="0"/>
          </a:p>
        </p:txBody>
      </p:sp>
      <p:sp>
        <p:nvSpPr>
          <p:cNvPr id="24" name="Text 22"/>
          <p:cNvSpPr txBox="1"/>
          <p:nvPr/>
        </p:nvSpPr>
        <p:spPr>
          <a:xfrm>
            <a:off x="4864608" y="3749040"/>
            <a:ext cx="137160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1,134</a:t>
            </a:r>
            <a:endParaRPr lang="en-US" sz="1000" dirty="0"/>
          </a:p>
        </p:txBody>
      </p:sp>
      <p:sp>
        <p:nvSpPr>
          <p:cNvPr id="25" name="Text 23"/>
          <p:cNvSpPr txBox="1"/>
          <p:nvPr/>
        </p:nvSpPr>
        <p:spPr>
          <a:xfrm>
            <a:off x="6419088" y="3749040"/>
            <a:ext cx="128016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R12.7M</a:t>
            </a:r>
            <a:endParaRPr lang="en-US" sz="1000" dirty="0"/>
          </a:p>
        </p:txBody>
      </p:sp>
      <p:sp>
        <p:nvSpPr>
          <p:cNvPr id="26" name="Shape 24"/>
          <p:cNvSpPr/>
          <p:nvPr/>
        </p:nvSpPr>
        <p:spPr>
          <a:xfrm>
            <a:off x="548640" y="4133088"/>
            <a:ext cx="7223760" cy="0"/>
          </a:xfrm>
          <a:prstGeom prst="line">
            <a:avLst/>
          </a:prstGeom>
          <a:noFill/>
          <a:ln w="9525">
            <a:solidFill>
              <a:srgbClr val="D9E0EA"/>
            </a:solidFill>
            <a:prstDash val="solid"/>
          </a:ln>
        </p:spPr>
      </p:sp>
      <p:sp>
        <p:nvSpPr>
          <p:cNvPr id="27" name="Text 25"/>
          <p:cNvSpPr txBox="1"/>
          <p:nvPr/>
        </p:nvSpPr>
        <p:spPr>
          <a:xfrm>
            <a:off x="658368" y="4133088"/>
            <a:ext cx="4023360" cy="384048"/>
          </a:xfrm>
          <a:prstGeom prst="rect">
            <a:avLst/>
          </a:prstGeom>
          <a:noFill/>
          <a:ln/>
        </p:spPr>
        <p:txBody>
          <a:bodyPr wrap="square" lIns="0" tIns="0" rIns="0" bIns="0" rtlCol="0" anchor="ctr"/>
          <a:lstStyle/>
          <a:p>
            <a:pPr algn="l" indent="0" marL="0">
              <a:buNone/>
            </a:pPr>
            <a:r>
              <a:rPr lang="en-US" sz="1000" dirty="0">
                <a:solidFill>
                  <a:srgbClr val="13294B"/>
                </a:solidFill>
                <a:latin typeface="Arial" pitchFamily="34" charset="0"/>
                <a:ea typeface="Arial" pitchFamily="34" charset="-122"/>
                <a:cs typeface="Arial" pitchFamily="34" charset="-120"/>
              </a:rPr>
              <a:t>Tampering &amp; pilferage claims × R2,850</a:t>
            </a:r>
            <a:endParaRPr lang="en-US" sz="1000" dirty="0"/>
          </a:p>
        </p:txBody>
      </p:sp>
      <p:sp>
        <p:nvSpPr>
          <p:cNvPr id="28" name="Text 26"/>
          <p:cNvSpPr txBox="1"/>
          <p:nvPr/>
        </p:nvSpPr>
        <p:spPr>
          <a:xfrm>
            <a:off x="4864608" y="4133088"/>
            <a:ext cx="137160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5,250</a:t>
            </a:r>
            <a:endParaRPr lang="en-US" sz="1000" dirty="0"/>
          </a:p>
        </p:txBody>
      </p:sp>
      <p:sp>
        <p:nvSpPr>
          <p:cNvPr id="29" name="Text 27"/>
          <p:cNvSpPr txBox="1"/>
          <p:nvPr/>
        </p:nvSpPr>
        <p:spPr>
          <a:xfrm>
            <a:off x="6419088" y="4133088"/>
            <a:ext cx="1280160" cy="384048"/>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R15.0M</a:t>
            </a:r>
            <a:endParaRPr lang="en-US" sz="1000" dirty="0"/>
          </a:p>
        </p:txBody>
      </p:sp>
      <p:sp>
        <p:nvSpPr>
          <p:cNvPr id="30" name="Shape 28"/>
          <p:cNvSpPr/>
          <p:nvPr/>
        </p:nvSpPr>
        <p:spPr>
          <a:xfrm>
            <a:off x="548640" y="4517136"/>
            <a:ext cx="7223760" cy="0"/>
          </a:xfrm>
          <a:prstGeom prst="line">
            <a:avLst/>
          </a:prstGeom>
          <a:noFill/>
          <a:ln w="9525">
            <a:solidFill>
              <a:srgbClr val="D9E0EA"/>
            </a:solidFill>
            <a:prstDash val="solid"/>
          </a:ln>
        </p:spPr>
      </p:sp>
      <p:sp>
        <p:nvSpPr>
          <p:cNvPr id="31" name="Shape 29"/>
          <p:cNvSpPr/>
          <p:nvPr/>
        </p:nvSpPr>
        <p:spPr>
          <a:xfrm>
            <a:off x="548640" y="4517136"/>
            <a:ext cx="7223760" cy="384048"/>
          </a:xfrm>
          <a:prstGeom prst="rect">
            <a:avLst/>
          </a:prstGeom>
          <a:solidFill>
            <a:srgbClr val="F17400"/>
          </a:solidFill>
          <a:ln/>
        </p:spPr>
      </p:sp>
      <p:sp>
        <p:nvSpPr>
          <p:cNvPr id="32" name="Text 30"/>
          <p:cNvSpPr txBox="1"/>
          <p:nvPr/>
        </p:nvSpPr>
        <p:spPr>
          <a:xfrm>
            <a:off x="658368" y="4517136"/>
            <a:ext cx="4023360" cy="384048"/>
          </a:xfrm>
          <a:prstGeom prst="rect">
            <a:avLst/>
          </a:prstGeom>
          <a:noFill/>
          <a:ln/>
        </p:spPr>
        <p:txBody>
          <a:bodyPr wrap="square" lIns="0" tIns="0" rIns="0" bIns="0" rtlCol="0" anchor="ctr"/>
          <a:lstStyle/>
          <a:p>
            <a:pPr algn="l" indent="0" marL="0">
              <a:buNone/>
            </a:pPr>
            <a:r>
              <a:rPr lang="en-US" sz="1000" b="1" dirty="0">
                <a:solidFill>
                  <a:srgbClr val="FFFFFF"/>
                </a:solidFill>
                <a:latin typeface="Arial" pitchFamily="34" charset="0"/>
                <a:ea typeface="Arial" pitchFamily="34" charset="-122"/>
                <a:cs typeface="Arial" pitchFamily="34" charset="-120"/>
              </a:rPr>
              <a:t>TOTAL MODELLED ANNUAL EXPOSURE</a:t>
            </a:r>
            <a:endParaRPr lang="en-US" sz="1000" dirty="0"/>
          </a:p>
        </p:txBody>
      </p:sp>
      <p:sp>
        <p:nvSpPr>
          <p:cNvPr id="33" name="Text 31"/>
          <p:cNvSpPr txBox="1"/>
          <p:nvPr/>
        </p:nvSpPr>
        <p:spPr>
          <a:xfrm>
            <a:off x="4864608" y="4517136"/>
            <a:ext cx="1371600" cy="384048"/>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33,600</a:t>
            </a:r>
            <a:endParaRPr lang="en-US" sz="1000" dirty="0"/>
          </a:p>
        </p:txBody>
      </p:sp>
      <p:sp>
        <p:nvSpPr>
          <p:cNvPr id="34" name="Text 32"/>
          <p:cNvSpPr txBox="1"/>
          <p:nvPr/>
        </p:nvSpPr>
        <p:spPr>
          <a:xfrm>
            <a:off x="6419088" y="4517136"/>
            <a:ext cx="1280160" cy="384048"/>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R59.0M</a:t>
            </a:r>
            <a:endParaRPr lang="en-US" sz="1000" dirty="0"/>
          </a:p>
        </p:txBody>
      </p:sp>
      <p:sp>
        <p:nvSpPr>
          <p:cNvPr id="35" name="Shape 33"/>
          <p:cNvSpPr/>
          <p:nvPr/>
        </p:nvSpPr>
        <p:spPr>
          <a:xfrm>
            <a:off x="8229600" y="1417320"/>
            <a:ext cx="3410712" cy="4160520"/>
          </a:xfrm>
          <a:prstGeom prst="rect">
            <a:avLst/>
          </a:prstGeom>
          <a:solidFill>
            <a:srgbClr val="0B1B34"/>
          </a:solidFill>
          <a:ln/>
        </p:spPr>
      </p:sp>
      <p:sp>
        <p:nvSpPr>
          <p:cNvPr id="36" name="Text 34"/>
          <p:cNvSpPr txBox="1"/>
          <p:nvPr/>
        </p:nvSpPr>
        <p:spPr>
          <a:xfrm>
            <a:off x="8458200" y="1600200"/>
            <a:ext cx="2926080" cy="237744"/>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THE HORIZON</a:t>
            </a:r>
            <a:endParaRPr lang="en-US" sz="1000" dirty="0"/>
          </a:p>
        </p:txBody>
      </p:sp>
      <p:sp>
        <p:nvSpPr>
          <p:cNvPr id="37" name="Text 35"/>
          <p:cNvSpPr txBox="1"/>
          <p:nvPr/>
        </p:nvSpPr>
        <p:spPr>
          <a:xfrm>
            <a:off x="8458200" y="1938528"/>
            <a:ext cx="1463040" cy="365760"/>
          </a:xfrm>
          <a:prstGeom prst="rect">
            <a:avLst/>
          </a:prstGeom>
          <a:noFill/>
          <a:ln/>
        </p:spPr>
        <p:txBody>
          <a:bodyPr wrap="square" lIns="0" tIns="0" rIns="0" bIns="0" rtlCol="0" anchor="ctr"/>
          <a:lstStyle/>
          <a:p>
            <a:pPr indent="0" marL="0">
              <a:buNone/>
            </a:pPr>
            <a:r>
              <a:rPr lang="en-US" sz="1050" dirty="0">
                <a:solidFill>
                  <a:srgbClr val="A9B6CB"/>
                </a:solidFill>
                <a:latin typeface="Arial" pitchFamily="34" charset="0"/>
                <a:ea typeface="Arial" pitchFamily="34" charset="-122"/>
                <a:cs typeface="Arial" pitchFamily="34" charset="-120"/>
              </a:rPr>
              <a:t>Monthly</a:t>
            </a:r>
            <a:endParaRPr lang="en-US" sz="1050" dirty="0"/>
          </a:p>
        </p:txBody>
      </p:sp>
      <p:sp>
        <p:nvSpPr>
          <p:cNvPr id="38" name="Text 36"/>
          <p:cNvSpPr txBox="1"/>
          <p:nvPr/>
        </p:nvSpPr>
        <p:spPr>
          <a:xfrm>
            <a:off x="9601200" y="1938528"/>
            <a:ext cx="1828800" cy="365760"/>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R4.92M</a:t>
            </a:r>
            <a:endParaRPr lang="en-US" sz="1600" dirty="0"/>
          </a:p>
        </p:txBody>
      </p:sp>
      <p:sp>
        <p:nvSpPr>
          <p:cNvPr id="39" name="Shape 37"/>
          <p:cNvSpPr/>
          <p:nvPr/>
        </p:nvSpPr>
        <p:spPr>
          <a:xfrm>
            <a:off x="8458200" y="2441448"/>
            <a:ext cx="2971800" cy="0"/>
          </a:xfrm>
          <a:prstGeom prst="line">
            <a:avLst/>
          </a:prstGeom>
          <a:noFill/>
          <a:ln w="9525">
            <a:solidFill>
              <a:srgbClr val="23395C"/>
            </a:solidFill>
            <a:prstDash val="solid"/>
          </a:ln>
        </p:spPr>
      </p:sp>
      <p:sp>
        <p:nvSpPr>
          <p:cNvPr id="40" name="Text 38"/>
          <p:cNvSpPr txBox="1"/>
          <p:nvPr/>
        </p:nvSpPr>
        <p:spPr>
          <a:xfrm>
            <a:off x="8458200" y="2651760"/>
            <a:ext cx="1463040" cy="365760"/>
          </a:xfrm>
          <a:prstGeom prst="rect">
            <a:avLst/>
          </a:prstGeom>
          <a:noFill/>
          <a:ln/>
        </p:spPr>
        <p:txBody>
          <a:bodyPr wrap="square" lIns="0" tIns="0" rIns="0" bIns="0" rtlCol="0" anchor="ctr"/>
          <a:lstStyle/>
          <a:p>
            <a:pPr indent="0" marL="0">
              <a:buNone/>
            </a:pPr>
            <a:r>
              <a:rPr lang="en-US" sz="1050" dirty="0">
                <a:solidFill>
                  <a:srgbClr val="A9B6CB"/>
                </a:solidFill>
                <a:latin typeface="Arial" pitchFamily="34" charset="0"/>
                <a:ea typeface="Arial" pitchFamily="34" charset="-122"/>
                <a:cs typeface="Arial" pitchFamily="34" charset="-120"/>
              </a:rPr>
              <a:t>Year 1</a:t>
            </a:r>
            <a:endParaRPr lang="en-US" sz="1050" dirty="0"/>
          </a:p>
        </p:txBody>
      </p:sp>
      <p:sp>
        <p:nvSpPr>
          <p:cNvPr id="41" name="Text 39"/>
          <p:cNvSpPr txBox="1"/>
          <p:nvPr/>
        </p:nvSpPr>
        <p:spPr>
          <a:xfrm>
            <a:off x="9601200" y="2651760"/>
            <a:ext cx="1828800" cy="365760"/>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R59.0M</a:t>
            </a:r>
            <a:endParaRPr lang="en-US" sz="1600" dirty="0"/>
          </a:p>
        </p:txBody>
      </p:sp>
      <p:sp>
        <p:nvSpPr>
          <p:cNvPr id="42" name="Shape 40"/>
          <p:cNvSpPr/>
          <p:nvPr/>
        </p:nvSpPr>
        <p:spPr>
          <a:xfrm>
            <a:off x="8458200" y="3154680"/>
            <a:ext cx="2971800" cy="0"/>
          </a:xfrm>
          <a:prstGeom prst="line">
            <a:avLst/>
          </a:prstGeom>
          <a:noFill/>
          <a:ln w="9525">
            <a:solidFill>
              <a:srgbClr val="23395C"/>
            </a:solidFill>
            <a:prstDash val="solid"/>
          </a:ln>
        </p:spPr>
      </p:sp>
      <p:sp>
        <p:nvSpPr>
          <p:cNvPr id="43" name="Text 41"/>
          <p:cNvSpPr txBox="1"/>
          <p:nvPr/>
        </p:nvSpPr>
        <p:spPr>
          <a:xfrm>
            <a:off x="8458200" y="3364992"/>
            <a:ext cx="1463040" cy="365760"/>
          </a:xfrm>
          <a:prstGeom prst="rect">
            <a:avLst/>
          </a:prstGeom>
          <a:noFill/>
          <a:ln/>
        </p:spPr>
        <p:txBody>
          <a:bodyPr wrap="square" lIns="0" tIns="0" rIns="0" bIns="0" rtlCol="0" anchor="ctr"/>
          <a:lstStyle/>
          <a:p>
            <a:pPr indent="0" marL="0">
              <a:buNone/>
            </a:pPr>
            <a:r>
              <a:rPr lang="en-US" sz="1050" dirty="0">
                <a:solidFill>
                  <a:srgbClr val="A9B6CB"/>
                </a:solidFill>
                <a:latin typeface="Arial" pitchFamily="34" charset="0"/>
                <a:ea typeface="Arial" pitchFamily="34" charset="-122"/>
                <a:cs typeface="Arial" pitchFamily="34" charset="-120"/>
              </a:rPr>
              <a:t>3 years</a:t>
            </a:r>
            <a:endParaRPr lang="en-US" sz="1050" dirty="0"/>
          </a:p>
        </p:txBody>
      </p:sp>
      <p:sp>
        <p:nvSpPr>
          <p:cNvPr id="44" name="Text 42"/>
          <p:cNvSpPr txBox="1"/>
          <p:nvPr/>
        </p:nvSpPr>
        <p:spPr>
          <a:xfrm>
            <a:off x="9601200" y="3364992"/>
            <a:ext cx="1828800" cy="365760"/>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R187.9M</a:t>
            </a:r>
            <a:endParaRPr lang="en-US" sz="1600" dirty="0"/>
          </a:p>
        </p:txBody>
      </p:sp>
      <p:sp>
        <p:nvSpPr>
          <p:cNvPr id="45" name="Shape 43"/>
          <p:cNvSpPr/>
          <p:nvPr/>
        </p:nvSpPr>
        <p:spPr>
          <a:xfrm>
            <a:off x="8458200" y="3867912"/>
            <a:ext cx="2971800" cy="0"/>
          </a:xfrm>
          <a:prstGeom prst="line">
            <a:avLst/>
          </a:prstGeom>
          <a:noFill/>
          <a:ln w="9525">
            <a:solidFill>
              <a:srgbClr val="23395C"/>
            </a:solidFill>
            <a:prstDash val="solid"/>
          </a:ln>
        </p:spPr>
      </p:sp>
      <p:sp>
        <p:nvSpPr>
          <p:cNvPr id="46" name="Text 44"/>
          <p:cNvSpPr txBox="1"/>
          <p:nvPr/>
        </p:nvSpPr>
        <p:spPr>
          <a:xfrm>
            <a:off x="8458200" y="4078224"/>
            <a:ext cx="1463040" cy="365760"/>
          </a:xfrm>
          <a:prstGeom prst="rect">
            <a:avLst/>
          </a:prstGeom>
          <a:noFill/>
          <a:ln/>
        </p:spPr>
        <p:txBody>
          <a:bodyPr wrap="square" lIns="0" tIns="0" rIns="0" bIns="0" rtlCol="0" anchor="ctr"/>
          <a:lstStyle/>
          <a:p>
            <a:pPr indent="0" marL="0">
              <a:buNone/>
            </a:pPr>
            <a:r>
              <a:rPr lang="en-US" sz="1050" dirty="0">
                <a:solidFill>
                  <a:srgbClr val="A9B6CB"/>
                </a:solidFill>
                <a:latin typeface="Arial" pitchFamily="34" charset="0"/>
                <a:ea typeface="Arial" pitchFamily="34" charset="-122"/>
                <a:cs typeface="Arial" pitchFamily="34" charset="-120"/>
              </a:rPr>
              <a:t>5 years</a:t>
            </a:r>
            <a:endParaRPr lang="en-US" sz="1050" dirty="0"/>
          </a:p>
        </p:txBody>
      </p:sp>
      <p:sp>
        <p:nvSpPr>
          <p:cNvPr id="47" name="Text 45"/>
          <p:cNvSpPr txBox="1"/>
          <p:nvPr/>
        </p:nvSpPr>
        <p:spPr>
          <a:xfrm>
            <a:off x="9601200" y="4078224"/>
            <a:ext cx="1828800" cy="365760"/>
          </a:xfrm>
          <a:prstGeom prst="rect">
            <a:avLst/>
          </a:prstGeom>
          <a:noFill/>
          <a:ln/>
        </p:spPr>
        <p:txBody>
          <a:bodyPr wrap="square" lIns="0" tIns="0" rIns="0" bIns="0" rtlCol="0" anchor="ctr"/>
          <a:lstStyle/>
          <a:p>
            <a:pPr algn="r" indent="0" marL="0">
              <a:buNone/>
            </a:pPr>
            <a:r>
              <a:rPr lang="en-US" sz="2100" b="1" dirty="0">
                <a:solidFill>
                  <a:srgbClr val="F17400"/>
                </a:solidFill>
                <a:latin typeface="Arial" pitchFamily="34" charset="0"/>
                <a:ea typeface="Arial" pitchFamily="34" charset="-122"/>
                <a:cs typeface="Arial" pitchFamily="34" charset="-120"/>
              </a:rPr>
              <a:t>R332.6M</a:t>
            </a:r>
            <a:endParaRPr lang="en-US" sz="2100" dirty="0"/>
          </a:p>
        </p:txBody>
      </p:sp>
      <p:sp>
        <p:nvSpPr>
          <p:cNvPr id="48" name="Text 46"/>
          <p:cNvSpPr txBox="1"/>
          <p:nvPr/>
        </p:nvSpPr>
        <p:spPr>
          <a:xfrm>
            <a:off x="8458200" y="4892040"/>
            <a:ext cx="2971800" cy="548640"/>
          </a:xfrm>
          <a:prstGeom prst="rect">
            <a:avLst/>
          </a:prstGeom>
          <a:noFill/>
          <a:ln/>
        </p:spPr>
        <p:txBody>
          <a:bodyPr wrap="square" lIns="0" tIns="0" rIns="0" bIns="0" rtlCol="0" anchor="ctr"/>
          <a:lstStyle/>
          <a:p>
            <a:pPr indent="0" marL="0">
              <a:lnSpc>
                <a:spcPts val="1100"/>
              </a:lnSpc>
              <a:buNone/>
            </a:pPr>
            <a:r>
              <a:rPr lang="en-US" sz="850" i="1" dirty="0">
                <a:solidFill>
                  <a:srgbClr val="7C8BA5"/>
                </a:solidFill>
                <a:latin typeface="Arial" pitchFamily="34" charset="0"/>
                <a:ea typeface="Arial" pitchFamily="34" charset="-122"/>
                <a:cs typeface="Arial" pitchFamily="34" charset="-120"/>
              </a:rPr>
              <a:t>Growth at 6% p.a. compounding — slower than FlySafair's own recent capacity growth.</a:t>
            </a:r>
            <a:endParaRPr lang="en-US" sz="850" dirty="0"/>
          </a:p>
        </p:txBody>
      </p:sp>
      <p:sp>
        <p:nvSpPr>
          <p:cNvPr id="49" name="Text 47"/>
          <p:cNvSpPr txBox="1"/>
          <p:nvPr/>
        </p:nvSpPr>
        <p:spPr>
          <a:xfrm>
            <a:off x="548640" y="5120640"/>
            <a:ext cx="7406640" cy="548640"/>
          </a:xfrm>
          <a:prstGeom prst="rect">
            <a:avLst/>
          </a:prstGeom>
          <a:noFill/>
          <a:ln/>
        </p:spPr>
        <p:txBody>
          <a:bodyPr wrap="square" lIns="0" tIns="0" rIns="0" bIns="0" rtlCol="0" anchor="ctr"/>
          <a:lstStyle/>
          <a:p>
            <a:pPr indent="0" marL="0">
              <a:lnSpc>
                <a:spcPts val="1200"/>
              </a:lnSpc>
              <a:buNone/>
            </a:pPr>
            <a:r>
              <a:rPr lang="en-US" sz="900" i="1" dirty="0">
                <a:solidFill>
                  <a:srgbClr val="8A96A8"/>
                </a:solidFill>
                <a:latin typeface="Arial" pitchFamily="34" charset="0"/>
                <a:ea typeface="Arial" pitchFamily="34" charset="-122"/>
                <a:cs typeface="Arial" pitchFamily="34" charset="-120"/>
              </a:rPr>
              <a:t>Excludes brand and reputational cost entirely: a single viral tampering video can cost more than a year of claims. Shown separately in this proposal — never blended into the total.</a:t>
            </a:r>
            <a:endParaRPr lang="en-US" sz="900" dirty="0"/>
          </a:p>
        </p:txBody>
      </p:sp>
      <p:sp>
        <p:nvSpPr>
          <p:cNvPr id="50" name="Shape 48"/>
          <p:cNvSpPr/>
          <p:nvPr/>
        </p:nvSpPr>
        <p:spPr>
          <a:xfrm>
            <a:off x="548640" y="5870448"/>
            <a:ext cx="11094415" cy="548640"/>
          </a:xfrm>
          <a:prstGeom prst="rect">
            <a:avLst/>
          </a:prstGeom>
          <a:solidFill>
            <a:srgbClr val="0B1B34"/>
          </a:solidFill>
          <a:ln/>
        </p:spPr>
      </p:sp>
      <p:sp>
        <p:nvSpPr>
          <p:cNvPr id="51" name="Text 49"/>
          <p:cNvSpPr txBox="1"/>
          <p:nvPr/>
        </p:nvSpPr>
        <p:spPr>
          <a:xfrm>
            <a:off x="777240" y="5870448"/>
            <a:ext cx="10637215" cy="548640"/>
          </a:xfrm>
          <a:prstGeom prst="rect">
            <a:avLst/>
          </a:prstGeom>
          <a:noFill/>
          <a:ln/>
        </p:spPr>
        <p:txBody>
          <a:bodyPr wrap="square" lIns="0" tIns="0" rIns="0" bIns="0" rtlCol="0" anchor="ctr"/>
          <a:lstStyle/>
          <a:p>
            <a:pPr indent="0" marL="0">
              <a:lnSpc>
                <a:spcPts val="1250"/>
              </a:lnSpc>
              <a:buNone/>
            </a:pPr>
            <a:r>
              <a:rPr lang="en-US" sz="950" b="1" dirty="0">
                <a:solidFill>
                  <a:srgbClr val="F17400"/>
                </a:solidFill>
                <a:latin typeface="Arial" pitchFamily="34" charset="0"/>
                <a:ea typeface="Arial" pitchFamily="34" charset="-122"/>
                <a:cs typeface="Arial" pitchFamily="34" charset="-120"/>
              </a:rPr>
              <a:t>Every rand above is an operating cost FlySafair already carries today. </a:t>
            </a:r>
            <a:pPr indent="0" marL="0">
              <a:lnSpc>
                <a:spcPts val="1250"/>
              </a:lnSpc>
              <a:buNone/>
            </a:pPr>
            <a:r>
              <a:rPr lang="en-US" sz="950" dirty="0">
                <a:solidFill>
                  <a:srgbClr val="A9B6CB"/>
                </a:solidFill>
                <a:latin typeface="Arial" pitchFamily="34" charset="0"/>
                <a:ea typeface="Arial" pitchFamily="34" charset="-122"/>
                <a:cs typeface="Arial" pitchFamily="34" charset="-120"/>
              </a:rPr>
              <a:t>The two commercial routes in Section 04 make the recovery layer self-funding — the passenger pays for the visibility, and the airline keeps the savings and the margin.</a:t>
            </a:r>
            <a:endParaRPr lang="en-US" sz="950" dirty="0"/>
          </a:p>
        </p:txBody>
      </p:sp>
      <p:sp>
        <p:nvSpPr>
          <p:cNvPr id="52" name="Shape 50"/>
          <p:cNvSpPr/>
          <p:nvPr/>
        </p:nvSpPr>
        <p:spPr>
          <a:xfrm>
            <a:off x="0" y="6583680"/>
            <a:ext cx="12191695" cy="274320"/>
          </a:xfrm>
          <a:prstGeom prst="rect">
            <a:avLst/>
          </a:prstGeom>
          <a:solidFill>
            <a:srgbClr val="0B1B34"/>
          </a:solidFill>
          <a:ln/>
        </p:spPr>
      </p:sp>
      <p:sp>
        <p:nvSpPr>
          <p:cNvPr id="53" name="Text 51"/>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54" name="Text 52"/>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7 / 29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02 · THE AIRLINE — PARTNER PROFILE</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FlySafair</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The most on-time airline on earth, and the backbone of South African domestic travel — protecting that record is the whole point.</a:t>
            </a:r>
            <a:endParaRPr lang="en-US" sz="1150" dirty="0"/>
          </a:p>
        </p:txBody>
      </p:sp>
      <p:sp>
        <p:nvSpPr>
          <p:cNvPr id="5" name="Text 3"/>
          <p:cNvSpPr txBox="1"/>
          <p:nvPr/>
        </p:nvSpPr>
        <p:spPr>
          <a:xfrm>
            <a:off x="548640" y="1481328"/>
            <a:ext cx="210312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95.9%</a:t>
            </a:r>
            <a:endParaRPr lang="en-US" sz="3000" dirty="0"/>
          </a:p>
        </p:txBody>
      </p:sp>
      <p:sp>
        <p:nvSpPr>
          <p:cNvPr id="6" name="Text 4"/>
          <p:cNvSpPr txBox="1"/>
          <p:nvPr/>
        </p:nvSpPr>
        <p:spPr>
          <a:xfrm>
            <a:off x="2697480" y="1517904"/>
            <a:ext cx="3794760" cy="914400"/>
          </a:xfrm>
          <a:prstGeom prst="rect">
            <a:avLst/>
          </a:prstGeom>
          <a:noFill/>
          <a:ln/>
        </p:spPr>
        <p:txBody>
          <a:bodyPr wrap="square" lIns="0" tIns="0" rIns="0" bIns="0" rtlCol="0" anchor="ctr"/>
          <a:lstStyle/>
          <a:p>
            <a:pPr indent="0" marL="0">
              <a:lnSpc>
                <a:spcPts val="1300"/>
              </a:lnSpc>
              <a:buNone/>
            </a:pPr>
            <a:r>
              <a:rPr lang="en-US" sz="1000" dirty="0">
                <a:solidFill>
                  <a:srgbClr val="5E6B7E"/>
                </a:solidFill>
                <a:latin typeface="Arial" pitchFamily="34" charset="0"/>
                <a:ea typeface="Arial" pitchFamily="34" charset="-122"/>
                <a:cs typeface="Arial" pitchFamily="34" charset="-120"/>
              </a:rPr>
              <a:t>on-time performance — the world's most punctual airline, 2024 (Cirium)</a:t>
            </a:r>
            <a:endParaRPr lang="en-US" sz="1000" dirty="0"/>
          </a:p>
        </p:txBody>
      </p:sp>
      <p:sp>
        <p:nvSpPr>
          <p:cNvPr id="7" name="Shape 5"/>
          <p:cNvSpPr/>
          <p:nvPr/>
        </p:nvSpPr>
        <p:spPr>
          <a:xfrm>
            <a:off x="548640" y="2414016"/>
            <a:ext cx="5943600" cy="0"/>
          </a:xfrm>
          <a:prstGeom prst="line">
            <a:avLst/>
          </a:prstGeom>
          <a:noFill/>
          <a:ln w="9525">
            <a:solidFill>
              <a:srgbClr val="D9E0EA"/>
            </a:solidFill>
            <a:prstDash val="solid"/>
          </a:ln>
        </p:spPr>
      </p:sp>
      <p:sp>
        <p:nvSpPr>
          <p:cNvPr id="8" name="Text 6"/>
          <p:cNvSpPr txBox="1"/>
          <p:nvPr/>
        </p:nvSpPr>
        <p:spPr>
          <a:xfrm>
            <a:off x="548640" y="2560320"/>
            <a:ext cx="210312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±60%</a:t>
            </a:r>
            <a:endParaRPr lang="en-US" sz="3000" dirty="0"/>
          </a:p>
        </p:txBody>
      </p:sp>
      <p:sp>
        <p:nvSpPr>
          <p:cNvPr id="9" name="Text 7"/>
          <p:cNvSpPr txBox="1"/>
          <p:nvPr/>
        </p:nvSpPr>
        <p:spPr>
          <a:xfrm>
            <a:off x="2697480" y="2596896"/>
            <a:ext cx="3794760" cy="914400"/>
          </a:xfrm>
          <a:prstGeom prst="rect">
            <a:avLst/>
          </a:prstGeom>
          <a:noFill/>
          <a:ln/>
        </p:spPr>
        <p:txBody>
          <a:bodyPr wrap="square" lIns="0" tIns="0" rIns="0" bIns="0" rtlCol="0" anchor="ctr"/>
          <a:lstStyle/>
          <a:p>
            <a:pPr indent="0" marL="0">
              <a:lnSpc>
                <a:spcPts val="1300"/>
              </a:lnSpc>
              <a:buNone/>
            </a:pPr>
            <a:r>
              <a:rPr lang="en-US" sz="1000" dirty="0">
                <a:solidFill>
                  <a:srgbClr val="5E6B7E"/>
                </a:solidFill>
                <a:latin typeface="Arial" pitchFamily="34" charset="0"/>
                <a:ea typeface="Arial" pitchFamily="34" charset="-122"/>
                <a:cs typeface="Arial" pitchFamily="34" charset="-120"/>
              </a:rPr>
              <a:t>share of South Africa's domestic market — six in ten local passengers</a:t>
            </a:r>
            <a:endParaRPr lang="en-US" sz="1000" dirty="0"/>
          </a:p>
        </p:txBody>
      </p:sp>
      <p:sp>
        <p:nvSpPr>
          <p:cNvPr id="10" name="Shape 8"/>
          <p:cNvSpPr/>
          <p:nvPr/>
        </p:nvSpPr>
        <p:spPr>
          <a:xfrm>
            <a:off x="548640" y="3493008"/>
            <a:ext cx="5943600" cy="0"/>
          </a:xfrm>
          <a:prstGeom prst="line">
            <a:avLst/>
          </a:prstGeom>
          <a:noFill/>
          <a:ln w="9525">
            <a:solidFill>
              <a:srgbClr val="D9E0EA"/>
            </a:solidFill>
            <a:prstDash val="solid"/>
          </a:ln>
        </p:spPr>
      </p:sp>
      <p:sp>
        <p:nvSpPr>
          <p:cNvPr id="11" name="Text 9"/>
          <p:cNvSpPr txBox="1"/>
          <p:nvPr/>
        </p:nvSpPr>
        <p:spPr>
          <a:xfrm>
            <a:off x="548640" y="3639312"/>
            <a:ext cx="210312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35</a:t>
            </a:r>
            <a:endParaRPr lang="en-US" sz="3000" dirty="0"/>
          </a:p>
        </p:txBody>
      </p:sp>
      <p:sp>
        <p:nvSpPr>
          <p:cNvPr id="12" name="Text 10"/>
          <p:cNvSpPr txBox="1"/>
          <p:nvPr/>
        </p:nvSpPr>
        <p:spPr>
          <a:xfrm>
            <a:off x="2697480" y="3675888"/>
            <a:ext cx="3794760" cy="914400"/>
          </a:xfrm>
          <a:prstGeom prst="rect">
            <a:avLst/>
          </a:prstGeom>
          <a:noFill/>
          <a:ln/>
        </p:spPr>
        <p:txBody>
          <a:bodyPr wrap="square" lIns="0" tIns="0" rIns="0" bIns="0" rtlCol="0" anchor="ctr"/>
          <a:lstStyle/>
          <a:p>
            <a:pPr indent="0" marL="0">
              <a:lnSpc>
                <a:spcPts val="1300"/>
              </a:lnSpc>
              <a:buNone/>
            </a:pPr>
            <a:r>
              <a:rPr lang="en-US" sz="1000" dirty="0">
                <a:solidFill>
                  <a:srgbClr val="5E6B7E"/>
                </a:solidFill>
                <a:latin typeface="Arial" pitchFamily="34" charset="0"/>
                <a:ea typeface="Arial" pitchFamily="34" charset="-122"/>
                <a:cs typeface="Arial" pitchFamily="34" charset="-120"/>
              </a:rPr>
              <a:t>Boeing 737-800s — one fleet type, ±180 departures a day, 11 airports</a:t>
            </a:r>
            <a:endParaRPr lang="en-US" sz="1000" dirty="0"/>
          </a:p>
        </p:txBody>
      </p:sp>
      <p:sp>
        <p:nvSpPr>
          <p:cNvPr id="13" name="Shape 11"/>
          <p:cNvSpPr/>
          <p:nvPr/>
        </p:nvSpPr>
        <p:spPr>
          <a:xfrm>
            <a:off x="548640" y="4572000"/>
            <a:ext cx="5943600" cy="0"/>
          </a:xfrm>
          <a:prstGeom prst="line">
            <a:avLst/>
          </a:prstGeom>
          <a:noFill/>
          <a:ln w="9525">
            <a:solidFill>
              <a:srgbClr val="D9E0EA"/>
            </a:solidFill>
            <a:prstDash val="solid"/>
          </a:ln>
        </p:spPr>
      </p:sp>
      <p:sp>
        <p:nvSpPr>
          <p:cNvPr id="14" name="Text 12"/>
          <p:cNvSpPr txBox="1"/>
          <p:nvPr/>
        </p:nvSpPr>
        <p:spPr>
          <a:xfrm>
            <a:off x="548640" y="4718304"/>
            <a:ext cx="210312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50M+</a:t>
            </a:r>
            <a:endParaRPr lang="en-US" sz="3000" dirty="0"/>
          </a:p>
        </p:txBody>
      </p:sp>
      <p:sp>
        <p:nvSpPr>
          <p:cNvPr id="15" name="Text 13"/>
          <p:cNvSpPr txBox="1"/>
          <p:nvPr/>
        </p:nvSpPr>
        <p:spPr>
          <a:xfrm>
            <a:off x="2697480" y="4754880"/>
            <a:ext cx="3794760" cy="914400"/>
          </a:xfrm>
          <a:prstGeom prst="rect">
            <a:avLst/>
          </a:prstGeom>
          <a:noFill/>
          <a:ln/>
        </p:spPr>
        <p:txBody>
          <a:bodyPr wrap="square" lIns="0" tIns="0" rIns="0" bIns="0" rtlCol="0" anchor="ctr"/>
          <a:lstStyle/>
          <a:p>
            <a:pPr indent="0" marL="0">
              <a:lnSpc>
                <a:spcPts val="1300"/>
              </a:lnSpc>
              <a:buNone/>
            </a:pPr>
            <a:r>
              <a:rPr lang="en-US" sz="1000" dirty="0">
                <a:solidFill>
                  <a:srgbClr val="5E6B7E"/>
                </a:solidFill>
                <a:latin typeface="Arial" pitchFamily="34" charset="0"/>
                <a:ea typeface="Arial" pitchFamily="34" charset="-122"/>
                <a:cs typeface="Arial" pitchFamily="34" charset="-120"/>
              </a:rPr>
              <a:t>passengers carried since the first flight in October 2014</a:t>
            </a:r>
            <a:endParaRPr lang="en-US" sz="1000" dirty="0"/>
          </a:p>
        </p:txBody>
      </p:sp>
      <p:sp>
        <p:nvSpPr>
          <p:cNvPr id="16" name="Shape 14"/>
          <p:cNvSpPr/>
          <p:nvPr/>
        </p:nvSpPr>
        <p:spPr>
          <a:xfrm>
            <a:off x="6858000" y="1417320"/>
            <a:ext cx="4782312" cy="4343400"/>
          </a:xfrm>
          <a:prstGeom prst="rect">
            <a:avLst/>
          </a:prstGeom>
          <a:solidFill>
            <a:srgbClr val="0B1B34"/>
          </a:solidFill>
          <a:ln/>
        </p:spPr>
      </p:sp>
      <p:sp>
        <p:nvSpPr>
          <p:cNvPr id="17" name="Text 15"/>
          <p:cNvSpPr txBox="1"/>
          <p:nvPr/>
        </p:nvSpPr>
        <p:spPr>
          <a:xfrm>
            <a:off x="7086600" y="160020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MODELLED EXPOSURE, TODAY</a:t>
            </a:r>
            <a:endParaRPr lang="en-US" sz="1000" dirty="0"/>
          </a:p>
        </p:txBody>
      </p:sp>
      <p:sp>
        <p:nvSpPr>
          <p:cNvPr id="18" name="Text 16"/>
          <p:cNvSpPr txBox="1"/>
          <p:nvPr/>
        </p:nvSpPr>
        <p:spPr>
          <a:xfrm>
            <a:off x="7086600" y="1956816"/>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Mishandled bags / year (modelled)</a:t>
            </a:r>
            <a:endParaRPr lang="en-US" sz="950" dirty="0"/>
          </a:p>
        </p:txBody>
      </p:sp>
      <p:sp>
        <p:nvSpPr>
          <p:cNvPr id="19" name="Text 17"/>
          <p:cNvSpPr txBox="1"/>
          <p:nvPr/>
        </p:nvSpPr>
        <p:spPr>
          <a:xfrm>
            <a:off x="9784080" y="1956816"/>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28,350</a:t>
            </a:r>
            <a:endParaRPr lang="en-US" sz="1250" dirty="0"/>
          </a:p>
        </p:txBody>
      </p:sp>
      <p:sp>
        <p:nvSpPr>
          <p:cNvPr id="20" name="Shape 18"/>
          <p:cNvSpPr/>
          <p:nvPr/>
        </p:nvSpPr>
        <p:spPr>
          <a:xfrm>
            <a:off x="7086600" y="2414016"/>
            <a:ext cx="4343400" cy="0"/>
          </a:xfrm>
          <a:prstGeom prst="line">
            <a:avLst/>
          </a:prstGeom>
          <a:noFill/>
          <a:ln w="9525">
            <a:solidFill>
              <a:srgbClr val="23395C"/>
            </a:solidFill>
            <a:prstDash val="solid"/>
          </a:ln>
        </p:spPr>
      </p:sp>
      <p:sp>
        <p:nvSpPr>
          <p:cNvPr id="21" name="Text 19"/>
          <p:cNvSpPr txBox="1"/>
          <p:nvPr/>
        </p:nvSpPr>
        <p:spPr>
          <a:xfrm>
            <a:off x="7086600" y="2491740"/>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Tampering &amp; pilferage claims / year</a:t>
            </a:r>
            <a:endParaRPr lang="en-US" sz="950" dirty="0"/>
          </a:p>
        </p:txBody>
      </p:sp>
      <p:sp>
        <p:nvSpPr>
          <p:cNvPr id="22" name="Text 20"/>
          <p:cNvSpPr txBox="1"/>
          <p:nvPr/>
        </p:nvSpPr>
        <p:spPr>
          <a:xfrm>
            <a:off x="9784080" y="2491740"/>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5,250</a:t>
            </a:r>
            <a:endParaRPr lang="en-US" sz="1250" dirty="0"/>
          </a:p>
        </p:txBody>
      </p:sp>
      <p:sp>
        <p:nvSpPr>
          <p:cNvPr id="23" name="Shape 21"/>
          <p:cNvSpPr/>
          <p:nvPr/>
        </p:nvSpPr>
        <p:spPr>
          <a:xfrm>
            <a:off x="7086600" y="2948940"/>
            <a:ext cx="4343400" cy="0"/>
          </a:xfrm>
          <a:prstGeom prst="line">
            <a:avLst/>
          </a:prstGeom>
          <a:noFill/>
          <a:ln w="9525">
            <a:solidFill>
              <a:srgbClr val="23395C"/>
            </a:solidFill>
            <a:prstDash val="solid"/>
          </a:ln>
        </p:spPr>
      </p:sp>
      <p:sp>
        <p:nvSpPr>
          <p:cNvPr id="24" name="Text 22"/>
          <p:cNvSpPr txBox="1"/>
          <p:nvPr/>
        </p:nvSpPr>
        <p:spPr>
          <a:xfrm>
            <a:off x="7086600" y="3026664"/>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Of which never arrive / year</a:t>
            </a:r>
            <a:endParaRPr lang="en-US" sz="950" dirty="0"/>
          </a:p>
        </p:txBody>
      </p:sp>
      <p:sp>
        <p:nvSpPr>
          <p:cNvPr id="25" name="Text 23"/>
          <p:cNvSpPr txBox="1"/>
          <p:nvPr/>
        </p:nvSpPr>
        <p:spPr>
          <a:xfrm>
            <a:off x="9784080" y="3026664"/>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1,134</a:t>
            </a:r>
            <a:endParaRPr lang="en-US" sz="1250" dirty="0"/>
          </a:p>
        </p:txBody>
      </p:sp>
      <p:sp>
        <p:nvSpPr>
          <p:cNvPr id="26" name="Shape 24"/>
          <p:cNvSpPr/>
          <p:nvPr/>
        </p:nvSpPr>
        <p:spPr>
          <a:xfrm>
            <a:off x="7086600" y="3483864"/>
            <a:ext cx="4343400" cy="0"/>
          </a:xfrm>
          <a:prstGeom prst="line">
            <a:avLst/>
          </a:prstGeom>
          <a:noFill/>
          <a:ln w="9525">
            <a:solidFill>
              <a:srgbClr val="23395C"/>
            </a:solidFill>
            <a:prstDash val="solid"/>
          </a:ln>
        </p:spPr>
      </p:sp>
      <p:sp>
        <p:nvSpPr>
          <p:cNvPr id="27" name="Text 25"/>
          <p:cNvSpPr txBox="1"/>
          <p:nvPr/>
        </p:nvSpPr>
        <p:spPr>
          <a:xfrm>
            <a:off x="7086600" y="3561588"/>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Modelled annual cost</a:t>
            </a:r>
            <a:endParaRPr lang="en-US" sz="950" dirty="0"/>
          </a:p>
        </p:txBody>
      </p:sp>
      <p:sp>
        <p:nvSpPr>
          <p:cNvPr id="28" name="Text 26"/>
          <p:cNvSpPr txBox="1"/>
          <p:nvPr/>
        </p:nvSpPr>
        <p:spPr>
          <a:xfrm>
            <a:off x="9784080" y="3561588"/>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R59.0M</a:t>
            </a:r>
            <a:endParaRPr lang="en-US" sz="1250" dirty="0"/>
          </a:p>
        </p:txBody>
      </p:sp>
      <p:sp>
        <p:nvSpPr>
          <p:cNvPr id="29" name="Shape 27"/>
          <p:cNvSpPr/>
          <p:nvPr/>
        </p:nvSpPr>
        <p:spPr>
          <a:xfrm>
            <a:off x="7086600" y="4018788"/>
            <a:ext cx="4343400" cy="0"/>
          </a:xfrm>
          <a:prstGeom prst="line">
            <a:avLst/>
          </a:prstGeom>
          <a:noFill/>
          <a:ln w="9525">
            <a:solidFill>
              <a:srgbClr val="23395C"/>
            </a:solidFill>
            <a:prstDash val="solid"/>
          </a:ln>
        </p:spPr>
      </p:sp>
      <p:sp>
        <p:nvSpPr>
          <p:cNvPr id="30" name="Text 28"/>
          <p:cNvSpPr txBox="1"/>
          <p:nvPr/>
        </p:nvSpPr>
        <p:spPr>
          <a:xfrm>
            <a:off x="7086600" y="4096512"/>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Conservative recovery (40%)</a:t>
            </a:r>
            <a:endParaRPr lang="en-US" sz="950" dirty="0"/>
          </a:p>
        </p:txBody>
      </p:sp>
      <p:sp>
        <p:nvSpPr>
          <p:cNvPr id="31" name="Text 29"/>
          <p:cNvSpPr txBox="1"/>
          <p:nvPr/>
        </p:nvSpPr>
        <p:spPr>
          <a:xfrm>
            <a:off x="9784080" y="4096512"/>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R23.6M / yr</a:t>
            </a:r>
            <a:endParaRPr lang="en-US" sz="1250" dirty="0"/>
          </a:p>
        </p:txBody>
      </p:sp>
      <p:sp>
        <p:nvSpPr>
          <p:cNvPr id="32" name="Shape 30"/>
          <p:cNvSpPr/>
          <p:nvPr/>
        </p:nvSpPr>
        <p:spPr>
          <a:xfrm>
            <a:off x="7086600" y="4553712"/>
            <a:ext cx="4343400" cy="0"/>
          </a:xfrm>
          <a:prstGeom prst="line">
            <a:avLst/>
          </a:prstGeom>
          <a:noFill/>
          <a:ln w="9525">
            <a:solidFill>
              <a:srgbClr val="23395C"/>
            </a:solidFill>
            <a:prstDash val="solid"/>
          </a:ln>
        </p:spPr>
      </p:sp>
      <p:sp>
        <p:nvSpPr>
          <p:cNvPr id="33" name="Text 31"/>
          <p:cNvSpPr txBox="1"/>
          <p:nvPr/>
        </p:nvSpPr>
        <p:spPr>
          <a:xfrm>
            <a:off x="7086600" y="4631436"/>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Moderate recovery (65%)</a:t>
            </a:r>
            <a:endParaRPr lang="en-US" sz="950" dirty="0"/>
          </a:p>
        </p:txBody>
      </p:sp>
      <p:sp>
        <p:nvSpPr>
          <p:cNvPr id="34" name="Text 32"/>
          <p:cNvSpPr txBox="1"/>
          <p:nvPr/>
        </p:nvSpPr>
        <p:spPr>
          <a:xfrm>
            <a:off x="9784080" y="4631436"/>
            <a:ext cx="1645920" cy="384048"/>
          </a:xfrm>
          <a:prstGeom prst="rect">
            <a:avLst/>
          </a:prstGeom>
          <a:noFill/>
          <a:ln/>
        </p:spPr>
        <p:txBody>
          <a:bodyPr wrap="square" lIns="0" tIns="0" rIns="0" bIns="0" rtlCol="0" anchor="ctr"/>
          <a:lstStyle/>
          <a:p>
            <a:pPr algn="r" indent="0" marL="0">
              <a:buNone/>
            </a:pPr>
            <a:r>
              <a:rPr lang="en-US" sz="1250" b="1" dirty="0">
                <a:solidFill>
                  <a:srgbClr val="FFFFFF"/>
                </a:solidFill>
                <a:latin typeface="Arial" pitchFamily="34" charset="0"/>
                <a:ea typeface="Arial" pitchFamily="34" charset="-122"/>
                <a:cs typeface="Arial" pitchFamily="34" charset="-120"/>
              </a:rPr>
              <a:t>R38.4M / yr</a:t>
            </a:r>
            <a:endParaRPr lang="en-US" sz="1250" dirty="0"/>
          </a:p>
        </p:txBody>
      </p:sp>
      <p:sp>
        <p:nvSpPr>
          <p:cNvPr id="35" name="Shape 33"/>
          <p:cNvSpPr/>
          <p:nvPr/>
        </p:nvSpPr>
        <p:spPr>
          <a:xfrm>
            <a:off x="7086600" y="5088636"/>
            <a:ext cx="4343400" cy="0"/>
          </a:xfrm>
          <a:prstGeom prst="line">
            <a:avLst/>
          </a:prstGeom>
          <a:noFill/>
          <a:ln w="9525">
            <a:solidFill>
              <a:srgbClr val="23395C"/>
            </a:solidFill>
            <a:prstDash val="solid"/>
          </a:ln>
        </p:spPr>
      </p:sp>
      <p:sp>
        <p:nvSpPr>
          <p:cNvPr id="36" name="Text 34"/>
          <p:cNvSpPr txBox="1"/>
          <p:nvPr/>
        </p:nvSpPr>
        <p:spPr>
          <a:xfrm>
            <a:off x="7086600" y="5166360"/>
            <a:ext cx="3017520" cy="384048"/>
          </a:xfrm>
          <a:prstGeom prst="rect">
            <a:avLst/>
          </a:prstGeom>
          <a:noFill/>
          <a:ln/>
        </p:spPr>
        <p:txBody>
          <a:bodyPr wrap="square" lIns="0" tIns="0" rIns="0" bIns="0" rtlCol="0" anchor="ctr"/>
          <a:lstStyle/>
          <a:p>
            <a:pPr indent="0" marL="0">
              <a:lnSpc>
                <a:spcPts val="1100"/>
              </a:lnSpc>
              <a:buNone/>
            </a:pPr>
            <a:r>
              <a:rPr lang="en-US" sz="950" dirty="0">
                <a:solidFill>
                  <a:srgbClr val="A9B6CB"/>
                </a:solidFill>
                <a:latin typeface="Arial" pitchFamily="34" charset="0"/>
                <a:ea typeface="Arial" pitchFamily="34" charset="-122"/>
                <a:cs typeface="Arial" pitchFamily="34" charset="-120"/>
              </a:rPr>
              <a:t>Aggressive / SITA-proven (90%)</a:t>
            </a:r>
            <a:endParaRPr lang="en-US" sz="950" dirty="0"/>
          </a:p>
        </p:txBody>
      </p:sp>
      <p:sp>
        <p:nvSpPr>
          <p:cNvPr id="37" name="Text 35"/>
          <p:cNvSpPr txBox="1"/>
          <p:nvPr/>
        </p:nvSpPr>
        <p:spPr>
          <a:xfrm>
            <a:off x="9784080" y="5166360"/>
            <a:ext cx="1645920" cy="384048"/>
          </a:xfrm>
          <a:prstGeom prst="rect">
            <a:avLst/>
          </a:prstGeom>
          <a:noFill/>
          <a:ln/>
        </p:spPr>
        <p:txBody>
          <a:bodyPr wrap="square" lIns="0" tIns="0" rIns="0" bIns="0" rtlCol="0" anchor="ctr"/>
          <a:lstStyle/>
          <a:p>
            <a:pPr algn="r" indent="0" marL="0">
              <a:buNone/>
            </a:pPr>
            <a:r>
              <a:rPr lang="en-US" sz="1500" b="1" dirty="0">
                <a:solidFill>
                  <a:srgbClr val="F17400"/>
                </a:solidFill>
                <a:latin typeface="Arial" pitchFamily="34" charset="0"/>
                <a:ea typeface="Arial" pitchFamily="34" charset="-122"/>
                <a:cs typeface="Arial" pitchFamily="34" charset="-120"/>
              </a:rPr>
              <a:t>R53.1M / yr</a:t>
            </a:r>
            <a:endParaRPr lang="en-US" sz="1500" dirty="0"/>
          </a:p>
        </p:txBody>
      </p:sp>
      <p:sp>
        <p:nvSpPr>
          <p:cNvPr id="38" name="Shape 36"/>
          <p:cNvSpPr/>
          <p:nvPr/>
        </p:nvSpPr>
        <p:spPr>
          <a:xfrm>
            <a:off x="548640" y="5943600"/>
            <a:ext cx="11094415" cy="475488"/>
          </a:xfrm>
          <a:prstGeom prst="rect">
            <a:avLst/>
          </a:prstGeom>
          <a:solidFill>
            <a:srgbClr val="F4F7FB"/>
          </a:solidFill>
          <a:ln/>
        </p:spPr>
      </p:sp>
      <p:sp>
        <p:nvSpPr>
          <p:cNvPr id="39" name="Text 37"/>
          <p:cNvSpPr txBox="1"/>
          <p:nvPr/>
        </p:nvSpPr>
        <p:spPr>
          <a:xfrm>
            <a:off x="777240" y="5943600"/>
            <a:ext cx="10637215" cy="475488"/>
          </a:xfrm>
          <a:prstGeom prst="rect">
            <a:avLst/>
          </a:prstGeom>
          <a:noFill/>
          <a:ln/>
        </p:spPr>
        <p:txBody>
          <a:bodyPr wrap="square" lIns="0" tIns="0" rIns="0" bIns="0" rtlCol="0" anchor="ctr"/>
          <a:lstStyle/>
          <a:p>
            <a:pPr indent="0" marL="0">
              <a:lnSpc>
                <a:spcPts val="1250"/>
              </a:lnSpc>
              <a:buNone/>
            </a:pPr>
            <a:r>
              <a:rPr lang="en-US" sz="1000" b="1" dirty="0">
                <a:solidFill>
                  <a:srgbClr val="13294B"/>
                </a:solidFill>
                <a:latin typeface="Arial" pitchFamily="34" charset="0"/>
                <a:ea typeface="Arial" pitchFamily="34" charset="-122"/>
                <a:cs typeface="Arial" pitchFamily="34" charset="-120"/>
              </a:rPr>
              <a:t>A No.1 on-time record proves FlySafair runs the tightest operation in the sky. </a:t>
            </a:r>
            <a:pPr indent="0" marL="0">
              <a:lnSpc>
                <a:spcPts val="1250"/>
              </a:lnSpc>
              <a:buNone/>
            </a:pPr>
            <a:r>
              <a:rPr lang="en-US" sz="1000" dirty="0">
                <a:solidFill>
                  <a:srgbClr val="5E6B7E"/>
                </a:solidFill>
                <a:latin typeface="Arial" pitchFamily="34" charset="0"/>
                <a:ea typeface="Arial" pitchFamily="34" charset="-122"/>
                <a:cs typeface="Arial" pitchFamily="34" charset="-120"/>
              </a:rPr>
              <a:t>The Digitag layer extends that same discipline to the one journey the operation can't see today — the bag's.</a:t>
            </a:r>
            <a:endParaRPr lang="en-US" sz="1000" dirty="0"/>
          </a:p>
        </p:txBody>
      </p:sp>
      <p:sp>
        <p:nvSpPr>
          <p:cNvPr id="40" name="Shape 38"/>
          <p:cNvSpPr/>
          <p:nvPr/>
        </p:nvSpPr>
        <p:spPr>
          <a:xfrm>
            <a:off x="0" y="6583680"/>
            <a:ext cx="12191695" cy="274320"/>
          </a:xfrm>
          <a:prstGeom prst="rect">
            <a:avLst/>
          </a:prstGeom>
          <a:solidFill>
            <a:srgbClr val="0B1B34"/>
          </a:solidFill>
          <a:ln/>
        </p:spPr>
      </p:sp>
      <p:sp>
        <p:nvSpPr>
          <p:cNvPr id="41" name="Text 39"/>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42" name="Text 40"/>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8 / 29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03 · THE SOLUTION</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Introducing Mr Digitag Man</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A Johannesburg-based technology integrator — two South African champions, one passenger promise.</a:t>
            </a:r>
            <a:endParaRPr lang="en-US" sz="1150" dirty="0"/>
          </a:p>
        </p:txBody>
      </p:sp>
      <p:sp>
        <p:nvSpPr>
          <p:cNvPr id="5" name="Text 3"/>
          <p:cNvSpPr txBox="1"/>
          <p:nvPr/>
        </p:nvSpPr>
        <p:spPr>
          <a:xfrm>
            <a:off x="548640" y="1463040"/>
            <a:ext cx="45720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WHO WE ARE</a:t>
            </a:r>
            <a:endParaRPr lang="en-US" sz="1000" dirty="0"/>
          </a:p>
        </p:txBody>
      </p:sp>
      <p:sp>
        <p:nvSpPr>
          <p:cNvPr id="6" name="Text 4"/>
          <p:cNvSpPr txBox="1"/>
          <p:nvPr/>
        </p:nvSpPr>
        <p:spPr>
          <a:xfrm>
            <a:off x="548640" y="1755648"/>
            <a:ext cx="5394960" cy="777240"/>
          </a:xfrm>
          <a:prstGeom prst="rect">
            <a:avLst/>
          </a:prstGeom>
          <a:noFill/>
          <a:ln/>
        </p:spPr>
        <p:txBody>
          <a:bodyPr wrap="square" lIns="0" tIns="0" rIns="0" bIns="0" rtlCol="0" anchor="ctr"/>
          <a:lstStyle/>
          <a:p>
            <a:pPr indent="0" marL="0">
              <a:lnSpc>
                <a:spcPts val="1400"/>
              </a:lnSpc>
              <a:buNone/>
            </a:pPr>
            <a:r>
              <a:rPr lang="en-US" sz="1050" dirty="0">
                <a:solidFill>
                  <a:srgbClr val="5E6B7E"/>
                </a:solidFill>
                <a:latin typeface="Arial" pitchFamily="34" charset="0"/>
                <a:ea typeface="Arial" pitchFamily="34" charset="-122"/>
                <a:cs typeface="Arial" pitchFamily="34" charset="-120"/>
              </a:rPr>
              <a:t>Mr Digitag Man (Pty) Ltd is a full-stack technology integrator headquartered in Johannesburg, built on 17+ years of South African market experience across the exact disciplines this proposal draws on:</a:t>
            </a:r>
            <a:endParaRPr lang="en-US" sz="1050" dirty="0"/>
          </a:p>
        </p:txBody>
      </p:sp>
      <p:sp>
        <p:nvSpPr>
          <p:cNvPr id="7" name="Text 5"/>
          <p:cNvSpPr txBox="1"/>
          <p:nvPr/>
        </p:nvSpPr>
        <p:spPr>
          <a:xfrm>
            <a:off x="548640" y="2606040"/>
            <a:ext cx="5394960" cy="3017520"/>
          </a:xfrm>
          <a:prstGeom prst="rect">
            <a:avLst/>
          </a:prstGeom>
          <a:noFill/>
          <a:ln/>
        </p:spPr>
        <p:txBody>
          <a:bodyPr wrap="square" lIns="0" tIns="0" rIns="0" bIns="0" rtlCol="0" anchor="t"/>
          <a:lstStyle/>
          <a:p>
            <a:pPr indent="0" marL="0">
              <a:lnSpc>
                <a:spcPts val="13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300"/>
              </a:lnSpc>
              <a:spcAft>
                <a:spcPts val="900"/>
              </a:spcAft>
              <a:buNone/>
            </a:pPr>
            <a:r>
              <a:rPr lang="en-US" sz="1050" dirty="0">
                <a:solidFill>
                  <a:srgbClr val="5E6B7E"/>
                </a:solidFill>
                <a:latin typeface="Arial" pitchFamily="34" charset="0"/>
                <a:ea typeface="Arial" pitchFamily="34" charset="-122"/>
                <a:cs typeface="Arial" pitchFamily="34" charset="-120"/>
              </a:rPr>
              <a:t>GPS &amp; fleet tracking — the discipline behind this entire proposal</a:t>
            </a:r>
            <a:endParaRPr lang="en-US" sz="1050" dirty="0"/>
          </a:p>
          <a:p>
            <a:pPr indent="0" marL="0">
              <a:lnSpc>
                <a:spcPts val="13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300"/>
              </a:lnSpc>
              <a:spcAft>
                <a:spcPts val="900"/>
              </a:spcAft>
              <a:buNone/>
            </a:pPr>
            <a:r>
              <a:rPr lang="en-US" sz="1050" dirty="0">
                <a:solidFill>
                  <a:srgbClr val="5E6B7E"/>
                </a:solidFill>
                <a:latin typeface="Arial" pitchFamily="34" charset="0"/>
                <a:ea typeface="Arial" pitchFamily="34" charset="-122"/>
                <a:cs typeface="Arial" pitchFamily="34" charset="-120"/>
              </a:rPr>
              <a:t>Security, CCTV &amp; access control — for airport-precinct hardening</a:t>
            </a:r>
            <a:endParaRPr lang="en-US" sz="1050" dirty="0"/>
          </a:p>
          <a:p>
            <a:pPr indent="0" marL="0">
              <a:lnSpc>
                <a:spcPts val="13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300"/>
              </a:lnSpc>
              <a:spcAft>
                <a:spcPts val="900"/>
              </a:spcAft>
              <a:buNone/>
            </a:pPr>
            <a:r>
              <a:rPr lang="en-US" sz="1050" dirty="0">
                <a:solidFill>
                  <a:srgbClr val="5E6B7E"/>
                </a:solidFill>
                <a:latin typeface="Arial" pitchFamily="34" charset="0"/>
                <a:ea typeface="Arial" pitchFamily="34" charset="-122"/>
                <a:cs typeface="Arial" pitchFamily="34" charset="-120"/>
              </a:rPr>
              <a:t>AV &amp; digital signage — for passenger-facing vending and wayfinding</a:t>
            </a:r>
            <a:endParaRPr lang="en-US" sz="1050" dirty="0"/>
          </a:p>
          <a:p>
            <a:pPr indent="0" marL="0">
              <a:lnSpc>
                <a:spcPts val="13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300"/>
              </a:lnSpc>
              <a:spcAft>
                <a:spcPts val="900"/>
              </a:spcAft>
              <a:buNone/>
            </a:pPr>
            <a:r>
              <a:rPr lang="en-US" sz="1050" dirty="0">
                <a:solidFill>
                  <a:srgbClr val="5E6B7E"/>
                </a:solidFill>
                <a:latin typeface="Arial" pitchFamily="34" charset="0"/>
                <a:ea typeface="Arial" pitchFamily="34" charset="-122"/>
                <a:cs typeface="Arial" pitchFamily="34" charset="-120"/>
              </a:rPr>
              <a:t>IT infrastructure &amp; software development — for the reporting layer your teams would actually use</a:t>
            </a:r>
            <a:endParaRPr lang="en-US" sz="1050" dirty="0"/>
          </a:p>
          <a:p>
            <a:pPr indent="0" marL="0">
              <a:lnSpc>
                <a:spcPts val="13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300"/>
              </a:lnSpc>
              <a:spcAft>
                <a:spcPts val="900"/>
              </a:spcAft>
              <a:buNone/>
            </a:pPr>
            <a:r>
              <a:rPr lang="en-US" sz="1050" dirty="0">
                <a:solidFill>
                  <a:srgbClr val="5E6B7E"/>
                </a:solidFill>
                <a:latin typeface="Arial" pitchFamily="34" charset="0"/>
                <a:ea typeface="Arial" pitchFamily="34" charset="-122"/>
                <a:cs typeface="Arial" pitchFamily="34" charset="-120"/>
              </a:rPr>
              <a:t>In-house engineering: product, firmware and support are not outsourced offshore</a:t>
            </a:r>
            <a:endParaRPr lang="en-US" sz="1050" dirty="0"/>
          </a:p>
        </p:txBody>
      </p:sp>
      <p:sp>
        <p:nvSpPr>
          <p:cNvPr id="8" name="Shape 6"/>
          <p:cNvSpPr/>
          <p:nvPr/>
        </p:nvSpPr>
        <p:spPr>
          <a:xfrm>
            <a:off x="6309360" y="1463040"/>
            <a:ext cx="5330952" cy="3429000"/>
          </a:xfrm>
          <a:prstGeom prst="rect">
            <a:avLst/>
          </a:prstGeom>
          <a:solidFill>
            <a:srgbClr val="0B1B34"/>
          </a:solidFill>
          <a:ln/>
        </p:spPr>
      </p:sp>
      <p:sp>
        <p:nvSpPr>
          <p:cNvPr id="9" name="Text 7"/>
          <p:cNvSpPr txBox="1"/>
          <p:nvPr/>
        </p:nvSpPr>
        <p:spPr>
          <a:xfrm>
            <a:off x="6537960" y="1645920"/>
            <a:ext cx="484632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WHY THIS FITS FLYSAFAIR</a:t>
            </a:r>
            <a:endParaRPr lang="en-US" sz="1000" dirty="0"/>
          </a:p>
        </p:txBody>
      </p:sp>
      <p:sp>
        <p:nvSpPr>
          <p:cNvPr id="10" name="Text 8"/>
          <p:cNvSpPr txBox="1"/>
          <p:nvPr/>
        </p:nvSpPr>
        <p:spPr>
          <a:xfrm>
            <a:off x="6537960" y="2011680"/>
            <a:ext cx="4892040" cy="2834640"/>
          </a:xfrm>
          <a:prstGeom prst="rect">
            <a:avLst/>
          </a:prstGeom>
          <a:noFill/>
          <a:ln/>
        </p:spPr>
        <p:txBody>
          <a:bodyPr wrap="square" lIns="0" tIns="0" rIns="0" bIns="0" rtlCol="0" anchor="t"/>
          <a:lstStyle/>
          <a:p>
            <a:pPr indent="0" marL="0">
              <a:lnSpc>
                <a:spcPts val="13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50"/>
              </a:lnSpc>
              <a:spcAft>
                <a:spcPts val="1000"/>
              </a:spcAft>
              <a:buNone/>
            </a:pPr>
            <a:r>
              <a:rPr lang="en-US" sz="1000" dirty="0">
                <a:solidFill>
                  <a:srgbClr val="A9B6CB"/>
                </a:solidFill>
                <a:latin typeface="Arial" pitchFamily="34" charset="0"/>
                <a:ea typeface="Arial" pitchFamily="34" charset="-122"/>
                <a:cs typeface="Arial" pitchFamily="34" charset="-120"/>
              </a:rPr>
              <a:t>Proven global technology, not a pilot: the same crowd-find infrastructure already live at 36 major airlines, brought to South Africa's biggest domestic carrier first.</a:t>
            </a:r>
            <a:endParaRPr lang="en-US" sz="1000" dirty="0"/>
          </a:p>
          <a:p>
            <a:pPr indent="0" marL="0">
              <a:lnSpc>
                <a:spcPts val="13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50"/>
              </a:lnSpc>
              <a:spcAft>
                <a:spcPts val="1000"/>
              </a:spcAft>
              <a:buNone/>
            </a:pPr>
            <a:r>
              <a:rPr lang="en-US" sz="1000" dirty="0">
                <a:solidFill>
                  <a:srgbClr val="A9B6CB"/>
                </a:solidFill>
                <a:latin typeface="Arial" pitchFamily="34" charset="0"/>
                <a:ea typeface="Arial" pitchFamily="34" charset="-122"/>
                <a:cs typeface="Arial" pitchFamily="34" charset="-120"/>
              </a:rPr>
              <a:t>Two SA champions: South Africa's airline and a 100% South African-owned tracking company — same time zone, same rand, no import-agent chain.</a:t>
            </a:r>
            <a:endParaRPr lang="en-US" sz="1000" dirty="0"/>
          </a:p>
          <a:p>
            <a:pPr indent="0" marL="0">
              <a:lnSpc>
                <a:spcPts val="13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50"/>
              </a:lnSpc>
              <a:spcAft>
                <a:spcPts val="1000"/>
              </a:spcAft>
              <a:buNone/>
            </a:pPr>
            <a:r>
              <a:rPr lang="en-US" sz="1000" dirty="0">
                <a:solidFill>
                  <a:srgbClr val="A9B6CB"/>
                </a:solidFill>
                <a:latin typeface="Arial" pitchFamily="34" charset="0"/>
                <a:ea typeface="Arial" pitchFamily="34" charset="-122"/>
                <a:cs typeface="Arial" pitchFamily="34" charset="-120"/>
              </a:rPr>
              <a:t>A full-ecosystem integrator, not a single-product vendor — GPS visibility sits alongside CCTV, access control, signage and IT under one accountable partner.</a:t>
            </a:r>
            <a:endParaRPr lang="en-US" sz="1000" dirty="0"/>
          </a:p>
          <a:p>
            <a:pPr indent="0" marL="0">
              <a:lnSpc>
                <a:spcPts val="13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50"/>
              </a:lnSpc>
              <a:spcAft>
                <a:spcPts val="1000"/>
              </a:spcAft>
              <a:buNone/>
            </a:pPr>
            <a:r>
              <a:rPr lang="en-US" sz="1000" dirty="0">
                <a:solidFill>
                  <a:srgbClr val="A9B6CB"/>
                </a:solidFill>
                <a:latin typeface="Arial" pitchFamily="34" charset="0"/>
                <a:ea typeface="Arial" pitchFamily="34" charset="-122"/>
                <a:cs typeface="Arial" pitchFamily="34" charset="-120"/>
              </a:rPr>
              <a:t>One commercial counterparty, direct engineering accountability — and a partner that can grow into sales offices, cargo and airport ops from the same platform.</a:t>
            </a:r>
            <a:endParaRPr lang="en-US" sz="1000" dirty="0"/>
          </a:p>
        </p:txBody>
      </p:sp>
      <p:sp>
        <p:nvSpPr>
          <p:cNvPr id="11" name="Shape 9"/>
          <p:cNvSpPr/>
          <p:nvPr/>
        </p:nvSpPr>
        <p:spPr>
          <a:xfrm>
            <a:off x="6309360" y="5074920"/>
            <a:ext cx="1673352" cy="914400"/>
          </a:xfrm>
          <a:prstGeom prst="rect">
            <a:avLst/>
          </a:prstGeom>
          <a:solidFill>
            <a:srgbClr val="F4F7FB"/>
          </a:solidFill>
          <a:ln w="12700">
            <a:solidFill>
              <a:srgbClr val="D9E0EA"/>
            </a:solidFill>
            <a:prstDash val="solid"/>
          </a:ln>
        </p:spPr>
      </p:sp>
      <p:sp>
        <p:nvSpPr>
          <p:cNvPr id="12" name="Text 10"/>
          <p:cNvSpPr txBox="1"/>
          <p:nvPr/>
        </p:nvSpPr>
        <p:spPr>
          <a:xfrm>
            <a:off x="6437376" y="5148072"/>
            <a:ext cx="1463040" cy="347472"/>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17+</a:t>
            </a:r>
            <a:endParaRPr lang="en-US" sz="1900" dirty="0"/>
          </a:p>
        </p:txBody>
      </p:sp>
      <p:sp>
        <p:nvSpPr>
          <p:cNvPr id="13" name="Text 11"/>
          <p:cNvSpPr txBox="1"/>
          <p:nvPr/>
        </p:nvSpPr>
        <p:spPr>
          <a:xfrm>
            <a:off x="6437376" y="5504688"/>
            <a:ext cx="1463040" cy="438912"/>
          </a:xfrm>
          <a:prstGeom prst="rect">
            <a:avLst/>
          </a:prstGeom>
          <a:noFill/>
          <a:ln/>
        </p:spPr>
        <p:txBody>
          <a:bodyPr wrap="square" lIns="0" tIns="0" rIns="0" bIns="0" rtlCol="0" anchor="ctr"/>
          <a:lstStyle/>
          <a:p>
            <a:pPr indent="0" marL="0">
              <a:lnSpc>
                <a:spcPts val="900"/>
              </a:lnSpc>
              <a:buNone/>
            </a:pPr>
            <a:r>
              <a:rPr lang="en-US" sz="750" dirty="0">
                <a:solidFill>
                  <a:srgbClr val="5E6B7E"/>
                </a:solidFill>
                <a:latin typeface="Arial" pitchFamily="34" charset="0"/>
                <a:ea typeface="Arial" pitchFamily="34" charset="-122"/>
                <a:cs typeface="Arial" pitchFamily="34" charset="-120"/>
              </a:rPr>
              <a:t>years in the South African market</a:t>
            </a:r>
            <a:endParaRPr lang="en-US" sz="750" dirty="0"/>
          </a:p>
        </p:txBody>
      </p:sp>
      <p:sp>
        <p:nvSpPr>
          <p:cNvPr id="14" name="Shape 12"/>
          <p:cNvSpPr/>
          <p:nvPr/>
        </p:nvSpPr>
        <p:spPr>
          <a:xfrm>
            <a:off x="8138160" y="5074920"/>
            <a:ext cx="1673352" cy="914400"/>
          </a:xfrm>
          <a:prstGeom prst="rect">
            <a:avLst/>
          </a:prstGeom>
          <a:solidFill>
            <a:srgbClr val="F4F7FB"/>
          </a:solidFill>
          <a:ln w="12700">
            <a:solidFill>
              <a:srgbClr val="D9E0EA"/>
            </a:solidFill>
            <a:prstDash val="solid"/>
          </a:ln>
        </p:spPr>
      </p:sp>
      <p:sp>
        <p:nvSpPr>
          <p:cNvPr id="15" name="Text 13"/>
          <p:cNvSpPr txBox="1"/>
          <p:nvPr/>
        </p:nvSpPr>
        <p:spPr>
          <a:xfrm>
            <a:off x="8266176" y="5148072"/>
            <a:ext cx="1463040" cy="347472"/>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36</a:t>
            </a:r>
            <a:endParaRPr lang="en-US" sz="1900" dirty="0"/>
          </a:p>
        </p:txBody>
      </p:sp>
      <p:sp>
        <p:nvSpPr>
          <p:cNvPr id="16" name="Text 14"/>
          <p:cNvSpPr txBox="1"/>
          <p:nvPr/>
        </p:nvSpPr>
        <p:spPr>
          <a:xfrm>
            <a:off x="8266176" y="5504688"/>
            <a:ext cx="1463040" cy="438912"/>
          </a:xfrm>
          <a:prstGeom prst="rect">
            <a:avLst/>
          </a:prstGeom>
          <a:noFill/>
          <a:ln/>
        </p:spPr>
        <p:txBody>
          <a:bodyPr wrap="square" lIns="0" tIns="0" rIns="0" bIns="0" rtlCol="0" anchor="ctr"/>
          <a:lstStyle/>
          <a:p>
            <a:pPr indent="0" marL="0">
              <a:lnSpc>
                <a:spcPts val="900"/>
              </a:lnSpc>
              <a:buNone/>
            </a:pPr>
            <a:r>
              <a:rPr lang="en-US" sz="750" dirty="0">
                <a:solidFill>
                  <a:srgbClr val="5E6B7E"/>
                </a:solidFill>
                <a:latin typeface="Arial" pitchFamily="34" charset="0"/>
                <a:ea typeface="Arial" pitchFamily="34" charset="-122"/>
                <a:cs typeface="Arial" pitchFamily="34" charset="-120"/>
              </a:rPr>
              <a:t>airlines live on the underlying technology</a:t>
            </a:r>
            <a:endParaRPr lang="en-US" sz="750" dirty="0"/>
          </a:p>
        </p:txBody>
      </p:sp>
      <p:sp>
        <p:nvSpPr>
          <p:cNvPr id="17" name="Shape 15"/>
          <p:cNvSpPr/>
          <p:nvPr/>
        </p:nvSpPr>
        <p:spPr>
          <a:xfrm>
            <a:off x="9966960" y="5074920"/>
            <a:ext cx="1673352" cy="914400"/>
          </a:xfrm>
          <a:prstGeom prst="rect">
            <a:avLst/>
          </a:prstGeom>
          <a:solidFill>
            <a:srgbClr val="F4F7FB"/>
          </a:solidFill>
          <a:ln w="12700">
            <a:solidFill>
              <a:srgbClr val="D9E0EA"/>
            </a:solidFill>
            <a:prstDash val="solid"/>
          </a:ln>
        </p:spPr>
      </p:sp>
      <p:sp>
        <p:nvSpPr>
          <p:cNvPr id="18" name="Text 16"/>
          <p:cNvSpPr txBox="1"/>
          <p:nvPr/>
        </p:nvSpPr>
        <p:spPr>
          <a:xfrm>
            <a:off x="10094976" y="5148072"/>
            <a:ext cx="1463040" cy="347472"/>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1</a:t>
            </a:r>
            <a:endParaRPr lang="en-US" sz="1900" dirty="0"/>
          </a:p>
        </p:txBody>
      </p:sp>
      <p:sp>
        <p:nvSpPr>
          <p:cNvPr id="19" name="Text 17"/>
          <p:cNvSpPr txBox="1"/>
          <p:nvPr/>
        </p:nvSpPr>
        <p:spPr>
          <a:xfrm>
            <a:off x="10094976" y="5504688"/>
            <a:ext cx="1463040" cy="438912"/>
          </a:xfrm>
          <a:prstGeom prst="rect">
            <a:avLst/>
          </a:prstGeom>
          <a:noFill/>
          <a:ln/>
        </p:spPr>
        <p:txBody>
          <a:bodyPr wrap="square" lIns="0" tIns="0" rIns="0" bIns="0" rtlCol="0" anchor="ctr"/>
          <a:lstStyle/>
          <a:p>
            <a:pPr indent="0" marL="0">
              <a:lnSpc>
                <a:spcPts val="900"/>
              </a:lnSpc>
              <a:buNone/>
            </a:pPr>
            <a:r>
              <a:rPr lang="en-US" sz="750" dirty="0">
                <a:solidFill>
                  <a:srgbClr val="5E6B7E"/>
                </a:solidFill>
                <a:latin typeface="Arial" pitchFamily="34" charset="0"/>
                <a:ea typeface="Arial" pitchFamily="34" charset="-122"/>
                <a:cs typeface="Arial" pitchFamily="34" charset="-120"/>
              </a:rPr>
              <a:t>accountable partner, end to end</a:t>
            </a:r>
            <a:endParaRPr lang="en-US" sz="750" dirty="0"/>
          </a:p>
        </p:txBody>
      </p:sp>
      <p:sp>
        <p:nvSpPr>
          <p:cNvPr id="20" name="Text 18"/>
          <p:cNvSpPr txBox="1"/>
          <p:nvPr/>
        </p:nvSpPr>
        <p:spPr>
          <a:xfrm>
            <a:off x="548640" y="5989320"/>
            <a:ext cx="5577840" cy="365760"/>
          </a:xfrm>
          <a:prstGeom prst="rect">
            <a:avLst/>
          </a:prstGeom>
          <a:noFill/>
          <a:ln/>
        </p:spPr>
        <p:txBody>
          <a:bodyPr wrap="square" lIns="0" tIns="0" rIns="0" bIns="0" rtlCol="0" anchor="ctr"/>
          <a:lstStyle/>
          <a:p>
            <a:pPr indent="0" marL="0">
              <a:lnSpc>
                <a:spcPts val="1150"/>
              </a:lnSpc>
              <a:buNone/>
            </a:pPr>
            <a:r>
              <a:rPr lang="en-US" sz="900" i="1" dirty="0">
                <a:solidFill>
                  <a:srgbClr val="8A96A8"/>
                </a:solidFill>
                <a:latin typeface="Arial" pitchFamily="34" charset="0"/>
                <a:ea typeface="Arial" pitchFamily="34" charset="-122"/>
                <a:cs typeface="Arial" pitchFamily="34" charset="-120"/>
              </a:rPr>
              <a:t>From the vending station firmware to the Nexas AI dashboard: designed, built and supported from Johannesburg.</a:t>
            </a:r>
            <a:endParaRPr lang="en-US" sz="900" dirty="0"/>
          </a:p>
        </p:txBody>
      </p:sp>
      <p:sp>
        <p:nvSpPr>
          <p:cNvPr id="21" name="Shape 19"/>
          <p:cNvSpPr/>
          <p:nvPr/>
        </p:nvSpPr>
        <p:spPr>
          <a:xfrm>
            <a:off x="0" y="6583680"/>
            <a:ext cx="12191695" cy="274320"/>
          </a:xfrm>
          <a:prstGeom prst="rect">
            <a:avLst/>
          </a:prstGeom>
          <a:solidFill>
            <a:srgbClr val="0B1B34"/>
          </a:solidFill>
          <a:ln/>
        </p:spPr>
      </p:sp>
      <p:sp>
        <p:nvSpPr>
          <p:cNvPr id="22" name="Text 20"/>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3" name="Text 21"/>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9 / 29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03 · THE SOLUTION</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Proven technology — not an experiment</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Every Mr Digitag Man GPS product in this proposal runs on infrastructure already validated at global scale.</a:t>
            </a:r>
            <a:endParaRPr lang="en-US" sz="1150" dirty="0"/>
          </a:p>
        </p:txBody>
      </p:sp>
      <p:sp>
        <p:nvSpPr>
          <p:cNvPr id="5" name="Shape 3"/>
          <p:cNvSpPr/>
          <p:nvPr/>
        </p:nvSpPr>
        <p:spPr>
          <a:xfrm>
            <a:off x="548640" y="1389888"/>
            <a:ext cx="2679192" cy="1481328"/>
          </a:xfrm>
          <a:prstGeom prst="rect">
            <a:avLst/>
          </a:prstGeom>
          <a:solidFill>
            <a:srgbClr val="FFFFFF"/>
          </a:solidFill>
          <a:ln w="12700">
            <a:solidFill>
              <a:srgbClr val="D9E0EA"/>
            </a:solidFill>
            <a:prstDash val="solid"/>
          </a:ln>
        </p:spPr>
      </p:sp>
      <p:sp>
        <p:nvSpPr>
          <p:cNvPr id="6" name="Text 4"/>
          <p:cNvSpPr txBox="1"/>
          <p:nvPr/>
        </p:nvSpPr>
        <p:spPr>
          <a:xfrm>
            <a:off x="713232" y="1499616"/>
            <a:ext cx="2350008" cy="457200"/>
          </a:xfrm>
          <a:prstGeom prst="rect">
            <a:avLst/>
          </a:prstGeom>
          <a:noFill/>
          <a:ln/>
        </p:spPr>
        <p:txBody>
          <a:bodyPr wrap="square" lIns="0" tIns="0" rIns="0" bIns="0" rtlCol="0" anchor="ctr"/>
          <a:lstStyle/>
          <a:p>
            <a:pPr indent="0" marL="0">
              <a:buNone/>
            </a:pPr>
            <a:r>
              <a:rPr lang="en-US" sz="2400" b="1" dirty="0">
                <a:solidFill>
                  <a:srgbClr val="F17400"/>
                </a:solidFill>
                <a:latin typeface="Arial" pitchFamily="34" charset="0"/>
                <a:ea typeface="Arial" pitchFamily="34" charset="-122"/>
                <a:cs typeface="Arial" pitchFamily="34" charset="-120"/>
              </a:rPr>
              <a:t>90%</a:t>
            </a:r>
            <a:endParaRPr lang="en-US" sz="2400" dirty="0"/>
          </a:p>
        </p:txBody>
      </p:sp>
      <p:sp>
        <p:nvSpPr>
          <p:cNvPr id="7" name="Text 5"/>
          <p:cNvSpPr txBox="1"/>
          <p:nvPr/>
        </p:nvSpPr>
        <p:spPr>
          <a:xfrm>
            <a:off x="713232" y="1975104"/>
            <a:ext cx="2350008" cy="8412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cut in permanently-lost luggage in year one — consumer crowd-find networks integrated with airline baggage-tracing systems</a:t>
            </a:r>
            <a:endParaRPr lang="en-US" sz="850" dirty="0"/>
          </a:p>
        </p:txBody>
      </p:sp>
      <p:sp>
        <p:nvSpPr>
          <p:cNvPr id="8" name="Shape 6"/>
          <p:cNvSpPr/>
          <p:nvPr/>
        </p:nvSpPr>
        <p:spPr>
          <a:xfrm>
            <a:off x="3390595" y="1389888"/>
            <a:ext cx="2679192" cy="1481328"/>
          </a:xfrm>
          <a:prstGeom prst="rect">
            <a:avLst/>
          </a:prstGeom>
          <a:solidFill>
            <a:srgbClr val="FFFFFF"/>
          </a:solidFill>
          <a:ln w="12700">
            <a:solidFill>
              <a:srgbClr val="D9E0EA"/>
            </a:solidFill>
            <a:prstDash val="solid"/>
          </a:ln>
        </p:spPr>
      </p:sp>
      <p:sp>
        <p:nvSpPr>
          <p:cNvPr id="9" name="Text 7"/>
          <p:cNvSpPr txBox="1"/>
          <p:nvPr/>
        </p:nvSpPr>
        <p:spPr>
          <a:xfrm>
            <a:off x="3555187" y="1499616"/>
            <a:ext cx="2350008" cy="457200"/>
          </a:xfrm>
          <a:prstGeom prst="rect">
            <a:avLst/>
          </a:prstGeom>
          <a:noFill/>
          <a:ln/>
        </p:spPr>
        <p:txBody>
          <a:bodyPr wrap="square" lIns="0" tIns="0" rIns="0" bIns="0" rtlCol="0" anchor="ctr"/>
          <a:lstStyle/>
          <a:p>
            <a:pPr indent="0" marL="0">
              <a:buNone/>
            </a:pPr>
            <a:r>
              <a:rPr lang="en-US" sz="2400" b="1" dirty="0">
                <a:solidFill>
                  <a:srgbClr val="F17400"/>
                </a:solidFill>
                <a:latin typeface="Arial" pitchFamily="34" charset="0"/>
                <a:ea typeface="Arial" pitchFamily="34" charset="-122"/>
                <a:cs typeface="Arial" pitchFamily="34" charset="-120"/>
              </a:rPr>
              <a:t>36</a:t>
            </a:r>
            <a:endParaRPr lang="en-US" sz="2400" dirty="0"/>
          </a:p>
        </p:txBody>
      </p:sp>
      <p:sp>
        <p:nvSpPr>
          <p:cNvPr id="10" name="Text 8"/>
          <p:cNvSpPr txBox="1"/>
          <p:nvPr/>
        </p:nvSpPr>
        <p:spPr>
          <a:xfrm>
            <a:off x="3555187" y="1975104"/>
            <a:ext cx="2350008" cy="8412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airlines worldwide already accepting crowd-find / share-item-location for baggage recovery</a:t>
            </a:r>
            <a:endParaRPr lang="en-US" sz="850" dirty="0"/>
          </a:p>
        </p:txBody>
      </p:sp>
      <p:sp>
        <p:nvSpPr>
          <p:cNvPr id="11" name="Shape 9"/>
          <p:cNvSpPr/>
          <p:nvPr/>
        </p:nvSpPr>
        <p:spPr>
          <a:xfrm>
            <a:off x="6232550" y="1389888"/>
            <a:ext cx="2679192" cy="1481328"/>
          </a:xfrm>
          <a:prstGeom prst="rect">
            <a:avLst/>
          </a:prstGeom>
          <a:solidFill>
            <a:srgbClr val="FFFFFF"/>
          </a:solidFill>
          <a:ln w="12700">
            <a:solidFill>
              <a:srgbClr val="D9E0EA"/>
            </a:solidFill>
            <a:prstDash val="solid"/>
          </a:ln>
        </p:spPr>
      </p:sp>
      <p:sp>
        <p:nvSpPr>
          <p:cNvPr id="12" name="Text 10"/>
          <p:cNvSpPr txBox="1"/>
          <p:nvPr/>
        </p:nvSpPr>
        <p:spPr>
          <a:xfrm>
            <a:off x="6397142" y="1499616"/>
            <a:ext cx="2350008" cy="457200"/>
          </a:xfrm>
          <a:prstGeom prst="rect">
            <a:avLst/>
          </a:prstGeom>
          <a:noFill/>
          <a:ln/>
        </p:spPr>
        <p:txBody>
          <a:bodyPr wrap="square" lIns="0" tIns="0" rIns="0" bIns="0" rtlCol="0" anchor="ctr"/>
          <a:lstStyle/>
          <a:p>
            <a:pPr indent="0" marL="0">
              <a:buNone/>
            </a:pPr>
            <a:r>
              <a:rPr lang="en-US" sz="2400" b="1" dirty="0">
                <a:solidFill>
                  <a:srgbClr val="F17400"/>
                </a:solidFill>
                <a:latin typeface="Arial" pitchFamily="34" charset="0"/>
                <a:ea typeface="Arial" pitchFamily="34" charset="-122"/>
                <a:cs typeface="Arial" pitchFamily="34" charset="-120"/>
              </a:rPr>
              <a:t>26%</a:t>
            </a:r>
            <a:endParaRPr lang="en-US" sz="2400" dirty="0"/>
          </a:p>
        </p:txBody>
      </p:sp>
      <p:sp>
        <p:nvSpPr>
          <p:cNvPr id="13" name="Text 11"/>
          <p:cNvSpPr txBox="1"/>
          <p:nvPr/>
        </p:nvSpPr>
        <p:spPr>
          <a:xfrm>
            <a:off x="6397142" y="1975104"/>
            <a:ext cx="2350008" cy="8412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faster delayed-bag recovery on the same technology</a:t>
            </a:r>
            <a:endParaRPr lang="en-US" sz="850" dirty="0"/>
          </a:p>
        </p:txBody>
      </p:sp>
      <p:sp>
        <p:nvSpPr>
          <p:cNvPr id="14" name="Shape 12"/>
          <p:cNvSpPr/>
          <p:nvPr/>
        </p:nvSpPr>
        <p:spPr>
          <a:xfrm>
            <a:off x="9074506" y="1389888"/>
            <a:ext cx="2679192" cy="1481328"/>
          </a:xfrm>
          <a:prstGeom prst="rect">
            <a:avLst/>
          </a:prstGeom>
          <a:solidFill>
            <a:srgbClr val="FFFFFF"/>
          </a:solidFill>
          <a:ln w="12700">
            <a:solidFill>
              <a:srgbClr val="D9E0EA"/>
            </a:solidFill>
            <a:prstDash val="solid"/>
          </a:ln>
        </p:spPr>
      </p:sp>
      <p:sp>
        <p:nvSpPr>
          <p:cNvPr id="15" name="Text 13"/>
          <p:cNvSpPr txBox="1"/>
          <p:nvPr/>
        </p:nvSpPr>
        <p:spPr>
          <a:xfrm>
            <a:off x="9239098" y="1499616"/>
            <a:ext cx="2350008" cy="457200"/>
          </a:xfrm>
          <a:prstGeom prst="rect">
            <a:avLst/>
          </a:prstGeom>
          <a:noFill/>
          <a:ln/>
        </p:spPr>
        <p:txBody>
          <a:bodyPr wrap="square" lIns="0" tIns="0" rIns="0" bIns="0" rtlCol="0" anchor="ctr"/>
          <a:lstStyle/>
          <a:p>
            <a:pPr indent="0" marL="0">
              <a:buNone/>
            </a:pPr>
            <a:r>
              <a:rPr lang="en-US" sz="2400" b="1" dirty="0">
                <a:solidFill>
                  <a:srgbClr val="F17400"/>
                </a:solidFill>
                <a:latin typeface="Arial" pitchFamily="34" charset="0"/>
                <a:ea typeface="Arial" pitchFamily="34" charset="-122"/>
                <a:cs typeface="Arial" pitchFamily="34" charset="-120"/>
              </a:rPr>
              <a:t>2.7/1,000</a:t>
            </a:r>
            <a:endParaRPr lang="en-US" sz="2400" dirty="0"/>
          </a:p>
        </p:txBody>
      </p:sp>
      <p:sp>
        <p:nvSpPr>
          <p:cNvPr id="16" name="Text 14"/>
          <p:cNvSpPr txBox="1"/>
          <p:nvPr/>
        </p:nvSpPr>
        <p:spPr>
          <a:xfrm>
            <a:off x="9239098" y="1975104"/>
            <a:ext cx="2350008" cy="841248"/>
          </a:xfrm>
          <a:prstGeom prst="rect">
            <a:avLst/>
          </a:prstGeom>
          <a:noFill/>
          <a:ln/>
        </p:spPr>
        <p:txBody>
          <a:bodyPr wrap="square" lIns="0" tIns="0" rIns="0" bIns="0" rtlCol="0" anchor="ctr"/>
          <a:lstStyle/>
          <a:p>
            <a:pPr indent="0" marL="0">
              <a:lnSpc>
                <a:spcPts val="1100"/>
              </a:lnSpc>
              <a:buNone/>
            </a:pPr>
            <a:r>
              <a:rPr lang="en-US" sz="850" dirty="0">
                <a:solidFill>
                  <a:srgbClr val="5E6B7E"/>
                </a:solidFill>
                <a:latin typeface="Arial" pitchFamily="34" charset="0"/>
                <a:ea typeface="Arial" pitchFamily="34" charset="-122"/>
                <a:cs typeface="Arial" pitchFamily="34" charset="-120"/>
              </a:rPr>
              <a:t>the domestic point-to-point benchmark FlySafair is modelled at — the world's best-run corridor class</a:t>
            </a:r>
            <a:endParaRPr lang="en-US" sz="850" dirty="0"/>
          </a:p>
        </p:txBody>
      </p:sp>
      <p:sp>
        <p:nvSpPr>
          <p:cNvPr id="17" name="Shape 15"/>
          <p:cNvSpPr/>
          <p:nvPr/>
        </p:nvSpPr>
        <p:spPr>
          <a:xfrm>
            <a:off x="548640" y="3108960"/>
            <a:ext cx="11094415" cy="868680"/>
          </a:xfrm>
          <a:prstGeom prst="rect">
            <a:avLst/>
          </a:prstGeom>
          <a:solidFill>
            <a:srgbClr val="0B1B34"/>
          </a:solidFill>
          <a:ln/>
        </p:spPr>
      </p:sp>
      <p:sp>
        <p:nvSpPr>
          <p:cNvPr id="18" name="Text 16"/>
          <p:cNvSpPr txBox="1"/>
          <p:nvPr/>
        </p:nvSpPr>
        <p:spPr>
          <a:xfrm>
            <a:off x="777240" y="3108960"/>
            <a:ext cx="10637215" cy="868680"/>
          </a:xfrm>
          <a:prstGeom prst="rect">
            <a:avLst/>
          </a:prstGeom>
          <a:noFill/>
          <a:ln/>
        </p:spPr>
        <p:txBody>
          <a:bodyPr wrap="square" lIns="0" tIns="0" rIns="0" bIns="0" rtlCol="0" anchor="ctr"/>
          <a:lstStyle/>
          <a:p>
            <a:pPr indent="0" marL="0">
              <a:lnSpc>
                <a:spcPts val="1400"/>
              </a:lnSpc>
              <a:buNone/>
            </a:pPr>
            <a:r>
              <a:rPr lang="en-US" sz="1050" b="1" dirty="0">
                <a:solidFill>
                  <a:srgbClr val="F17400"/>
                </a:solidFill>
                <a:latin typeface="Arial" pitchFamily="34" charset="0"/>
                <a:ea typeface="Arial" pitchFamily="34" charset="-122"/>
                <a:cs typeface="Arial" pitchFamily="34" charset="-120"/>
              </a:rPr>
              <a:t>The gap this proposal closes: </a:t>
            </a:r>
            <a:pPr indent="0" marL="0">
              <a:lnSpc>
                <a:spcPts val="1400"/>
              </a:lnSpc>
              <a:buNone/>
            </a:pPr>
            <a:r>
              <a:rPr lang="en-US" sz="1050" dirty="0">
                <a:solidFill>
                  <a:srgbClr val="A9B6CB"/>
                </a:solidFill>
                <a:latin typeface="Arial" pitchFamily="34" charset="0"/>
                <a:ea typeface="Arial" pitchFamily="34" charset="-122"/>
                <a:cs typeface="Arial" pitchFamily="34" charset="-120"/>
              </a:rPr>
              <a:t>British Airways, Lufthansa, Qantas, Cathay Pacific, Virgin Atlantic and 31 more airlines already use this exact ecosystem in their own operations. No African carrier has deployed it as owner-operated, passenger-facing infrastructure at network scale — FlySafair can be first, on home soil, with a South African partner.</a:t>
            </a:r>
            <a:endParaRPr lang="en-US" sz="1050" dirty="0"/>
          </a:p>
        </p:txBody>
      </p:sp>
      <p:sp>
        <p:nvSpPr>
          <p:cNvPr id="19" name="Text 17"/>
          <p:cNvSpPr txBox="1"/>
          <p:nvPr/>
        </p:nvSpPr>
        <p:spPr>
          <a:xfrm>
            <a:off x="548640" y="4224528"/>
            <a:ext cx="54864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HOW EACH PRODUCT USES IT</a:t>
            </a:r>
            <a:endParaRPr lang="en-US" sz="1000" dirty="0"/>
          </a:p>
        </p:txBody>
      </p:sp>
      <p:sp>
        <p:nvSpPr>
          <p:cNvPr id="20" name="Shape 18"/>
          <p:cNvSpPr/>
          <p:nvPr/>
        </p:nvSpPr>
        <p:spPr>
          <a:xfrm>
            <a:off x="548640" y="4526280"/>
            <a:ext cx="2679192" cy="1005840"/>
          </a:xfrm>
          <a:prstGeom prst="rect">
            <a:avLst/>
          </a:prstGeom>
          <a:solidFill>
            <a:srgbClr val="0B1B34"/>
          </a:solidFill>
          <a:ln/>
        </p:spPr>
      </p:sp>
      <p:sp>
        <p:nvSpPr>
          <p:cNvPr id="21" name="Text 19"/>
          <p:cNvSpPr txBox="1"/>
          <p:nvPr/>
        </p:nvSpPr>
        <p:spPr>
          <a:xfrm>
            <a:off x="713232" y="4645152"/>
            <a:ext cx="237744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D-Sticker</a:t>
            </a:r>
            <a:endParaRPr lang="en-US" sz="1250" dirty="0"/>
          </a:p>
        </p:txBody>
      </p:sp>
      <p:sp>
        <p:nvSpPr>
          <p:cNvPr id="22" name="Text 20"/>
          <p:cNvSpPr txBox="1"/>
          <p:nvPr/>
        </p:nvSpPr>
        <p:spPr>
          <a:xfrm>
            <a:off x="713232" y="4937760"/>
            <a:ext cx="2377440" cy="548640"/>
          </a:xfrm>
          <a:prstGeom prst="rect">
            <a:avLst/>
          </a:prstGeom>
          <a:noFill/>
          <a:ln/>
        </p:spPr>
        <p:txBody>
          <a:bodyPr wrap="square" lIns="0" tIns="0" rIns="0" bIns="0" rtlCol="0" anchor="ctr"/>
          <a:lstStyle/>
          <a:p>
            <a:pPr indent="0" marL="0">
              <a:lnSpc>
                <a:spcPts val="1050"/>
              </a:lnSpc>
              <a:buNone/>
            </a:pPr>
            <a:r>
              <a:rPr lang="en-US" sz="850" dirty="0">
                <a:solidFill>
                  <a:srgbClr val="A9B6CB"/>
                </a:solidFill>
                <a:latin typeface="Arial" pitchFamily="34" charset="0"/>
                <a:ea typeface="Arial" pitchFamily="34" charset="-122"/>
                <a:cs typeface="Arial" pitchFamily="34" charset="-120"/>
              </a:rPr>
              <a:t>Global crowd-find network — hourly updates, no SIM</a:t>
            </a:r>
            <a:endParaRPr lang="en-US" sz="850" dirty="0"/>
          </a:p>
        </p:txBody>
      </p:sp>
      <p:sp>
        <p:nvSpPr>
          <p:cNvPr id="23" name="Shape 21"/>
          <p:cNvSpPr/>
          <p:nvPr/>
        </p:nvSpPr>
        <p:spPr>
          <a:xfrm>
            <a:off x="3390595" y="4526280"/>
            <a:ext cx="2679192" cy="1005840"/>
          </a:xfrm>
          <a:prstGeom prst="rect">
            <a:avLst/>
          </a:prstGeom>
          <a:solidFill>
            <a:srgbClr val="0B1B34"/>
          </a:solidFill>
          <a:ln/>
        </p:spPr>
      </p:sp>
      <p:sp>
        <p:nvSpPr>
          <p:cNvPr id="24" name="Text 22"/>
          <p:cNvSpPr txBox="1"/>
          <p:nvPr/>
        </p:nvSpPr>
        <p:spPr>
          <a:xfrm>
            <a:off x="3555187" y="4645152"/>
            <a:ext cx="237744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D-Card</a:t>
            </a:r>
            <a:endParaRPr lang="en-US" sz="1250" dirty="0"/>
          </a:p>
        </p:txBody>
      </p:sp>
      <p:sp>
        <p:nvSpPr>
          <p:cNvPr id="25" name="Text 23"/>
          <p:cNvSpPr txBox="1"/>
          <p:nvPr/>
        </p:nvSpPr>
        <p:spPr>
          <a:xfrm>
            <a:off x="3555187" y="4937760"/>
            <a:ext cx="2377440" cy="548640"/>
          </a:xfrm>
          <a:prstGeom prst="rect">
            <a:avLst/>
          </a:prstGeom>
          <a:noFill/>
          <a:ln/>
        </p:spPr>
        <p:txBody>
          <a:bodyPr wrap="square" lIns="0" tIns="0" rIns="0" bIns="0" rtlCol="0" anchor="ctr"/>
          <a:lstStyle/>
          <a:p>
            <a:pPr indent="0" marL="0">
              <a:lnSpc>
                <a:spcPts val="1050"/>
              </a:lnSpc>
              <a:buNone/>
            </a:pPr>
            <a:r>
              <a:rPr lang="en-US" sz="850" dirty="0">
                <a:solidFill>
                  <a:srgbClr val="A9B6CB"/>
                </a:solidFill>
                <a:latin typeface="Arial" pitchFamily="34" charset="0"/>
                <a:ea typeface="Arial" pitchFamily="34" charset="-122"/>
                <a:cs typeface="Arial" pitchFamily="34" charset="-120"/>
              </a:rPr>
              <a:t>Global Bluetooth crowd-source network + 75dB buzzer</a:t>
            </a:r>
            <a:endParaRPr lang="en-US" sz="850" dirty="0"/>
          </a:p>
        </p:txBody>
      </p:sp>
      <p:sp>
        <p:nvSpPr>
          <p:cNvPr id="26" name="Shape 24"/>
          <p:cNvSpPr/>
          <p:nvPr/>
        </p:nvSpPr>
        <p:spPr>
          <a:xfrm>
            <a:off x="6232550" y="4526280"/>
            <a:ext cx="2679192" cy="1005840"/>
          </a:xfrm>
          <a:prstGeom prst="rect">
            <a:avLst/>
          </a:prstGeom>
          <a:solidFill>
            <a:srgbClr val="0B1B34"/>
          </a:solidFill>
          <a:ln/>
        </p:spPr>
      </p:sp>
      <p:sp>
        <p:nvSpPr>
          <p:cNvPr id="27" name="Text 25"/>
          <p:cNvSpPr txBox="1"/>
          <p:nvPr/>
        </p:nvSpPr>
        <p:spPr>
          <a:xfrm>
            <a:off x="6397142" y="4645152"/>
            <a:ext cx="237744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D-Pod</a:t>
            </a:r>
            <a:endParaRPr lang="en-US" sz="1250" dirty="0"/>
          </a:p>
        </p:txBody>
      </p:sp>
      <p:sp>
        <p:nvSpPr>
          <p:cNvPr id="28" name="Text 26"/>
          <p:cNvSpPr txBox="1"/>
          <p:nvPr/>
        </p:nvSpPr>
        <p:spPr>
          <a:xfrm>
            <a:off x="6397142" y="4937760"/>
            <a:ext cx="2377440" cy="548640"/>
          </a:xfrm>
          <a:prstGeom prst="rect">
            <a:avLst/>
          </a:prstGeom>
          <a:noFill/>
          <a:ln/>
        </p:spPr>
        <p:txBody>
          <a:bodyPr wrap="square" lIns="0" tIns="0" rIns="0" bIns="0" rtlCol="0" anchor="ctr"/>
          <a:lstStyle/>
          <a:p>
            <a:pPr indent="0" marL="0">
              <a:lnSpc>
                <a:spcPts val="1050"/>
              </a:lnSpc>
              <a:buNone/>
            </a:pPr>
            <a:r>
              <a:rPr lang="en-US" sz="850" dirty="0">
                <a:solidFill>
                  <a:srgbClr val="A9B6CB"/>
                </a:solidFill>
                <a:latin typeface="Arial" pitchFamily="34" charset="0"/>
                <a:ea typeface="Arial" pitchFamily="34" charset="-122"/>
                <a:cs typeface="Arial" pitchFamily="34" charset="-120"/>
              </a:rPr>
              <a:t>Global crowd-find network — multi-year covert asset layer</a:t>
            </a:r>
            <a:endParaRPr lang="en-US" sz="850" dirty="0"/>
          </a:p>
        </p:txBody>
      </p:sp>
      <p:sp>
        <p:nvSpPr>
          <p:cNvPr id="29" name="Shape 27"/>
          <p:cNvSpPr/>
          <p:nvPr/>
        </p:nvSpPr>
        <p:spPr>
          <a:xfrm>
            <a:off x="9074506" y="4526280"/>
            <a:ext cx="2679192" cy="1005840"/>
          </a:xfrm>
          <a:prstGeom prst="rect">
            <a:avLst/>
          </a:prstGeom>
          <a:solidFill>
            <a:srgbClr val="F17400"/>
          </a:solidFill>
          <a:ln/>
        </p:spPr>
      </p:sp>
      <p:sp>
        <p:nvSpPr>
          <p:cNvPr id="30" name="Text 28"/>
          <p:cNvSpPr txBox="1"/>
          <p:nvPr/>
        </p:nvSpPr>
        <p:spPr>
          <a:xfrm>
            <a:off x="9239098" y="4645152"/>
            <a:ext cx="237744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Nexas AI</a:t>
            </a:r>
            <a:endParaRPr lang="en-US" sz="1250" dirty="0"/>
          </a:p>
        </p:txBody>
      </p:sp>
      <p:sp>
        <p:nvSpPr>
          <p:cNvPr id="31" name="Text 29"/>
          <p:cNvSpPr txBox="1"/>
          <p:nvPr/>
        </p:nvSpPr>
        <p:spPr>
          <a:xfrm>
            <a:off x="9239098" y="4937760"/>
            <a:ext cx="2377440" cy="548640"/>
          </a:xfrm>
          <a:prstGeom prst="rect">
            <a:avLst/>
          </a:prstGeom>
          <a:noFill/>
          <a:ln/>
        </p:spPr>
        <p:txBody>
          <a:bodyPr wrap="square" lIns="0" tIns="0" rIns="0" bIns="0" rtlCol="0" anchor="ctr"/>
          <a:lstStyle/>
          <a:p>
            <a:pPr indent="0" marL="0">
              <a:lnSpc>
                <a:spcPts val="1050"/>
              </a:lnSpc>
              <a:buNone/>
            </a:pPr>
            <a:r>
              <a:rPr lang="en-US" sz="850" dirty="0">
                <a:solidFill>
                  <a:srgbClr val="FFE1C4"/>
                </a:solidFill>
                <a:latin typeface="Arial" pitchFamily="34" charset="0"/>
                <a:ea typeface="Arial" pitchFamily="34" charset="-122"/>
                <a:cs typeface="Arial" pitchFamily="34" charset="-120"/>
              </a:rPr>
              <a:t>ClearVision AI's 77-agent command center reads all three — Section 06</a:t>
            </a:r>
            <a:endParaRPr lang="en-US" sz="850" dirty="0"/>
          </a:p>
        </p:txBody>
      </p:sp>
      <p:sp>
        <p:nvSpPr>
          <p:cNvPr id="32" name="Shape 30"/>
          <p:cNvSpPr/>
          <p:nvPr/>
        </p:nvSpPr>
        <p:spPr>
          <a:xfrm>
            <a:off x="0" y="6583680"/>
            <a:ext cx="12191695" cy="274320"/>
          </a:xfrm>
          <a:prstGeom prst="rect">
            <a:avLst/>
          </a:prstGeom>
          <a:solidFill>
            <a:srgbClr val="0B1B34"/>
          </a:solidFill>
          <a:ln/>
        </p:spPr>
      </p:sp>
      <p:sp>
        <p:nvSpPr>
          <p:cNvPr id="33" name="Text 31"/>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4" name="Text 32"/>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10 / 29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3291840" cy="329184"/>
          </a:xfrm>
          <a:prstGeom prst="roundRect">
            <a:avLst>
              <a:gd name="adj" fmla="val 50000"/>
            </a:avLst>
          </a:prstGeom>
          <a:solidFill>
            <a:srgbClr val="F17400"/>
          </a:solidFill>
          <a:ln w="12700">
            <a:solidFill>
              <a:srgbClr val="F17400"/>
            </a:solidFill>
            <a:prstDash val="solid"/>
          </a:ln>
        </p:spPr>
      </p:sp>
      <p:sp>
        <p:nvSpPr>
          <p:cNvPr id="3" name="Text 1"/>
          <p:cNvSpPr txBox="1"/>
          <p:nvPr/>
        </p:nvSpPr>
        <p:spPr>
          <a:xfrm>
            <a:off x="548640" y="384048"/>
            <a:ext cx="329184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PRODUCT 1 OF 3 · MODEL PB708</a:t>
            </a:r>
            <a:endParaRPr lang="en-US" sz="950" dirty="0"/>
          </a:p>
        </p:txBody>
      </p:sp>
      <p:sp>
        <p:nvSpPr>
          <p:cNvPr id="4" name="Text 2"/>
          <p:cNvSpPr txBox="1"/>
          <p:nvPr/>
        </p:nvSpPr>
        <p:spPr>
          <a:xfrm>
            <a:off x="548640" y="841248"/>
            <a:ext cx="8229600" cy="56692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D-Sticker</a:t>
            </a:r>
            <a:endParaRPr lang="en-US" sz="3400" dirty="0"/>
          </a:p>
        </p:txBody>
      </p:sp>
      <p:sp>
        <p:nvSpPr>
          <p:cNvPr id="5" name="Text 3"/>
          <p:cNvSpPr txBox="1"/>
          <p:nvPr/>
        </p:nvSpPr>
        <p:spPr>
          <a:xfrm>
            <a:off x="548640" y="1444752"/>
            <a:ext cx="10607040" cy="310896"/>
          </a:xfrm>
          <a:prstGeom prst="rect">
            <a:avLst/>
          </a:prstGeom>
          <a:noFill/>
          <a:ln/>
        </p:spPr>
        <p:txBody>
          <a:bodyPr wrap="square" lIns="0" tIns="0" rIns="0" bIns="0" rtlCol="0" anchor="ctr"/>
          <a:lstStyle/>
          <a:p>
            <a:pPr indent="0" marL="0">
              <a:buNone/>
            </a:pPr>
            <a:r>
              <a:rPr lang="en-US" sz="1200" i="1" dirty="0">
                <a:solidFill>
                  <a:srgbClr val="A9B6CB"/>
                </a:solidFill>
                <a:latin typeface="Arial" pitchFamily="34" charset="0"/>
                <a:ea typeface="Arial" pitchFamily="34" charset="-122"/>
                <a:cs typeface="Arial" pitchFamily="34" charset="-120"/>
              </a:rPr>
              <a:t>“Silent. Disposable. Traceable.” — one sticker outlives the whole journey, and the entire tracing window after it.</a:t>
            </a:r>
            <a:endParaRPr lang="en-US" sz="1200" dirty="0"/>
          </a:p>
        </p:txBody>
      </p:sp>
      <p:sp>
        <p:nvSpPr>
          <p:cNvPr id="6" name="Shape 4"/>
          <p:cNvSpPr/>
          <p:nvPr/>
        </p:nvSpPr>
        <p:spPr>
          <a:xfrm>
            <a:off x="548640" y="1920240"/>
            <a:ext cx="2679192" cy="868680"/>
          </a:xfrm>
          <a:prstGeom prst="rect">
            <a:avLst/>
          </a:prstGeom>
          <a:solidFill>
            <a:srgbClr val="113255"/>
          </a:solidFill>
          <a:ln w="12700">
            <a:solidFill>
              <a:srgbClr val="27466E"/>
            </a:solidFill>
            <a:prstDash val="solid"/>
          </a:ln>
        </p:spPr>
      </p:sp>
      <p:sp>
        <p:nvSpPr>
          <p:cNvPr id="7" name="Text 5"/>
          <p:cNvSpPr txBox="1"/>
          <p:nvPr/>
        </p:nvSpPr>
        <p:spPr>
          <a:xfrm>
            <a:off x="68580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R500</a:t>
            </a:r>
            <a:endParaRPr lang="en-US" sz="1700" dirty="0"/>
          </a:p>
        </p:txBody>
      </p:sp>
      <p:sp>
        <p:nvSpPr>
          <p:cNvPr id="8" name="Text 6"/>
          <p:cNvSpPr txBox="1"/>
          <p:nvPr/>
        </p:nvSpPr>
        <p:spPr>
          <a:xfrm>
            <a:off x="68580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retail per unit — the price already shown on the vending renders</a:t>
            </a:r>
            <a:endParaRPr lang="en-US" sz="800" dirty="0"/>
          </a:p>
        </p:txBody>
      </p:sp>
      <p:sp>
        <p:nvSpPr>
          <p:cNvPr id="9" name="Shape 7"/>
          <p:cNvSpPr/>
          <p:nvPr/>
        </p:nvSpPr>
        <p:spPr>
          <a:xfrm>
            <a:off x="3390595" y="1920240"/>
            <a:ext cx="2679192" cy="868680"/>
          </a:xfrm>
          <a:prstGeom prst="rect">
            <a:avLst/>
          </a:prstGeom>
          <a:solidFill>
            <a:srgbClr val="113255"/>
          </a:solidFill>
          <a:ln w="12700">
            <a:solidFill>
              <a:srgbClr val="27466E"/>
            </a:solidFill>
            <a:prstDash val="solid"/>
          </a:ln>
        </p:spPr>
      </p:sp>
      <p:sp>
        <p:nvSpPr>
          <p:cNvPr id="10" name="Text 8"/>
          <p:cNvSpPr txBox="1"/>
          <p:nvPr/>
        </p:nvSpPr>
        <p:spPr>
          <a:xfrm>
            <a:off x="3527755"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8–12 wks</a:t>
            </a:r>
            <a:endParaRPr lang="en-US" sz="1700" dirty="0"/>
          </a:p>
        </p:txBody>
      </p:sp>
      <p:sp>
        <p:nvSpPr>
          <p:cNvPr id="11" name="Text 9"/>
          <p:cNvSpPr txBox="1"/>
          <p:nvPr/>
        </p:nvSpPr>
        <p:spPr>
          <a:xfrm>
            <a:off x="3527755"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active life — outlasts the trip and the claim window</a:t>
            </a:r>
            <a:endParaRPr lang="en-US" sz="800" dirty="0"/>
          </a:p>
        </p:txBody>
      </p:sp>
      <p:sp>
        <p:nvSpPr>
          <p:cNvPr id="12" name="Shape 10"/>
          <p:cNvSpPr/>
          <p:nvPr/>
        </p:nvSpPr>
        <p:spPr>
          <a:xfrm>
            <a:off x="6232550" y="1920240"/>
            <a:ext cx="2679192" cy="868680"/>
          </a:xfrm>
          <a:prstGeom prst="rect">
            <a:avLst/>
          </a:prstGeom>
          <a:solidFill>
            <a:srgbClr val="113255"/>
          </a:solidFill>
          <a:ln w="12700">
            <a:solidFill>
              <a:srgbClr val="27466E"/>
            </a:solidFill>
            <a:prstDash val="solid"/>
          </a:ln>
        </p:spPr>
      </p:sp>
      <p:sp>
        <p:nvSpPr>
          <p:cNvPr id="13" name="Text 11"/>
          <p:cNvSpPr txBox="1"/>
          <p:nvPr/>
        </p:nvSpPr>
        <p:spPr>
          <a:xfrm>
            <a:off x="636971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Hourly</a:t>
            </a:r>
            <a:endParaRPr lang="en-US" sz="1700" dirty="0"/>
          </a:p>
        </p:txBody>
      </p:sp>
      <p:sp>
        <p:nvSpPr>
          <p:cNvPr id="14" name="Text 12"/>
          <p:cNvSpPr txBox="1"/>
          <p:nvPr/>
        </p:nvSpPr>
        <p:spPr>
          <a:xfrm>
            <a:off x="636971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location updates via the global crowd-find network</a:t>
            </a:r>
            <a:endParaRPr lang="en-US" sz="800" dirty="0"/>
          </a:p>
        </p:txBody>
      </p:sp>
      <p:sp>
        <p:nvSpPr>
          <p:cNvPr id="15" name="Shape 13"/>
          <p:cNvSpPr/>
          <p:nvPr/>
        </p:nvSpPr>
        <p:spPr>
          <a:xfrm>
            <a:off x="9074506" y="1920240"/>
            <a:ext cx="2679192" cy="868680"/>
          </a:xfrm>
          <a:prstGeom prst="rect">
            <a:avLst/>
          </a:prstGeom>
          <a:solidFill>
            <a:srgbClr val="113255"/>
          </a:solidFill>
          <a:ln w="12700">
            <a:solidFill>
              <a:srgbClr val="27466E"/>
            </a:solidFill>
            <a:prstDash val="solid"/>
          </a:ln>
        </p:spPr>
      </p:sp>
      <p:sp>
        <p:nvSpPr>
          <p:cNvPr id="16" name="Text 14"/>
          <p:cNvSpPr txBox="1"/>
          <p:nvPr/>
        </p:nvSpPr>
        <p:spPr>
          <a:xfrm>
            <a:off x="9211666"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4g</a:t>
            </a:r>
            <a:endParaRPr lang="en-US" sz="1700" dirty="0"/>
          </a:p>
        </p:txBody>
      </p:sp>
      <p:sp>
        <p:nvSpPr>
          <p:cNvPr id="17" name="Text 15"/>
          <p:cNvSpPr txBox="1"/>
          <p:nvPr/>
        </p:nvSpPr>
        <p:spPr>
          <a:xfrm>
            <a:off x="9211666"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ultra-thin: 0.4–1.2mm, invisible on any bag</a:t>
            </a:r>
            <a:endParaRPr lang="en-US" sz="800" dirty="0"/>
          </a:p>
        </p:txBody>
      </p:sp>
      <p:sp>
        <p:nvSpPr>
          <p:cNvPr id="18" name="Text 16"/>
          <p:cNvSpPr txBox="1"/>
          <p:nvPr/>
        </p:nvSpPr>
        <p:spPr>
          <a:xfrm>
            <a:off x="548640" y="3063240"/>
            <a:ext cx="594360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WHY IT FITS A LOW-COST CHECK-IN HALL</a:t>
            </a:r>
            <a:endParaRPr lang="en-US" sz="1000" dirty="0"/>
          </a:p>
        </p:txBody>
      </p:sp>
      <p:sp>
        <p:nvSpPr>
          <p:cNvPr id="19" name="Text 17"/>
          <p:cNvSpPr txBox="1"/>
          <p:nvPr/>
        </p:nvSpPr>
        <p:spPr>
          <a:xfrm>
            <a:off x="548640" y="3401568"/>
            <a:ext cx="6035040" cy="2377440"/>
          </a:xfrm>
          <a:prstGeom prst="rect">
            <a:avLst/>
          </a:prstGeom>
          <a:noFill/>
          <a:ln/>
        </p:spPr>
        <p:txBody>
          <a:bodyPr wrap="square" lIns="0" tIns="0" rIns="0" bIns="0" rtlCol="0" anchor="t"/>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Zero installation — peel-and-stick onto any bag, working within the hour</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Waterproof, eco-friendly thermal-paper construction; no bulk, no wiring</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Powered by the global crowd-find network — no SIM, no monthly subscription</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Every trip starts at 100% battery — the natural upsell at check-in and at booking</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Silent by design: no alerts pushed to nearby strangers' devices</a:t>
            </a:r>
            <a:endParaRPr lang="en-US" sz="1000" dirty="0"/>
          </a:p>
        </p:txBody>
      </p:sp>
      <p:sp>
        <p:nvSpPr>
          <p:cNvPr id="20" name="Shape 18"/>
          <p:cNvSpPr/>
          <p:nvPr/>
        </p:nvSpPr>
        <p:spPr>
          <a:xfrm>
            <a:off x="6903720" y="3063240"/>
            <a:ext cx="4736592" cy="2606040"/>
          </a:xfrm>
          <a:prstGeom prst="rect">
            <a:avLst/>
          </a:prstGeom>
          <a:solidFill>
            <a:srgbClr val="113255"/>
          </a:solidFill>
          <a:ln w="12700">
            <a:solidFill>
              <a:srgbClr val="27466E"/>
            </a:solidFill>
            <a:prstDash val="solid"/>
          </a:ln>
        </p:spPr>
      </p:sp>
      <p:sp>
        <p:nvSpPr>
          <p:cNvPr id="21" name="Text 19"/>
          <p:cNvSpPr txBox="1"/>
          <p:nvPr/>
        </p:nvSpPr>
        <p:spPr>
          <a:xfrm>
            <a:off x="7132320" y="324612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NETWORK OPPORTUNITY</a:t>
            </a:r>
            <a:endParaRPr lang="en-US" sz="1000" dirty="0"/>
          </a:p>
        </p:txBody>
      </p:sp>
      <p:sp>
        <p:nvSpPr>
          <p:cNvPr id="22" name="Text 20"/>
          <p:cNvSpPr txBox="1"/>
          <p:nvPr/>
        </p:nvSpPr>
        <p:spPr>
          <a:xfrm>
            <a:off x="7132320" y="3611880"/>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210,000 – 1.57M</a:t>
            </a:r>
            <a:endParaRPr lang="en-US" sz="1900" dirty="0"/>
          </a:p>
        </p:txBody>
      </p:sp>
      <p:sp>
        <p:nvSpPr>
          <p:cNvPr id="23" name="Text 21"/>
          <p:cNvSpPr txBox="1"/>
          <p:nvPr/>
        </p:nvSpPr>
        <p:spPr>
          <a:xfrm>
            <a:off x="7132320" y="3995928"/>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units a year across the two sales options — 2% walk-up vending to 15% ticket-flow attach</a:t>
            </a:r>
            <a:endParaRPr lang="en-US" sz="900" dirty="0"/>
          </a:p>
        </p:txBody>
      </p:sp>
      <p:sp>
        <p:nvSpPr>
          <p:cNvPr id="24" name="Text 22"/>
          <p:cNvSpPr txBox="1"/>
          <p:nvPr/>
        </p:nvSpPr>
        <p:spPr>
          <a:xfrm>
            <a:off x="7132320" y="4636008"/>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R105M – R471M</a:t>
            </a:r>
            <a:endParaRPr lang="en-US" sz="1900" dirty="0"/>
          </a:p>
        </p:txBody>
      </p:sp>
      <p:sp>
        <p:nvSpPr>
          <p:cNvPr id="25" name="Text 23"/>
          <p:cNvSpPr txBox="1"/>
          <p:nvPr/>
        </p:nvSpPr>
        <p:spPr>
          <a:xfrm>
            <a:off x="7132320" y="5020056"/>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in passenger-funded revenue a year — this product pays for its own rollout</a:t>
            </a:r>
            <a:endParaRPr lang="en-US" sz="900" dirty="0"/>
          </a:p>
        </p:txBody>
      </p:sp>
      <p:sp>
        <p:nvSpPr>
          <p:cNvPr id="26" name="Text 24"/>
          <p:cNvSpPr txBox="1"/>
          <p:nvPr/>
        </p:nvSpPr>
        <p:spPr>
          <a:xfrm>
            <a:off x="548640" y="5989320"/>
            <a:ext cx="11064240" cy="502920"/>
          </a:xfrm>
          <a:prstGeom prst="rect">
            <a:avLst/>
          </a:prstGeom>
          <a:noFill/>
          <a:ln/>
        </p:spPr>
        <p:txBody>
          <a:bodyPr wrap="square" lIns="0" tIns="0" rIns="0" bIns="0" rtlCol="0" anchor="ctr"/>
          <a:lstStyle/>
          <a:p>
            <a:pPr indent="0" marL="0">
              <a:lnSpc>
                <a:spcPts val="1150"/>
              </a:lnSpc>
              <a:buNone/>
            </a:pPr>
            <a:r>
              <a:rPr lang="en-US" sz="900" i="1" dirty="0">
                <a:solidFill>
                  <a:srgbClr val="7C8BA5"/>
                </a:solidFill>
                <a:latin typeface="Arial" pitchFamily="34" charset="0"/>
                <a:ea typeface="Arial" pitchFamily="34" charset="-122"/>
                <a:cs typeface="Arial" pitchFamily="34" charset="-120"/>
              </a:rPr>
              <a:t>Sold two ways — smart vending at every airport and check-in, or one tap in the FlySafair booking flow — see Section 04, The Two Commercial Routes.</a:t>
            </a:r>
            <a:endParaRPr lang="en-US" sz="900" dirty="0"/>
          </a:p>
        </p:txBody>
      </p:sp>
      <p:sp>
        <p:nvSpPr>
          <p:cNvPr id="27" name="Shape 25"/>
          <p:cNvSpPr/>
          <p:nvPr/>
        </p:nvSpPr>
        <p:spPr>
          <a:xfrm>
            <a:off x="0" y="6583680"/>
            <a:ext cx="12191695" cy="274320"/>
          </a:xfrm>
          <a:prstGeom prst="rect">
            <a:avLst/>
          </a:prstGeom>
          <a:solidFill>
            <a:srgbClr val="0E2648"/>
          </a:solidFill>
          <a:ln/>
        </p:spPr>
      </p:sp>
      <p:sp>
        <p:nvSpPr>
          <p:cNvPr id="28" name="Text 2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9" name="Text 2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11 / 29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3291840" cy="329184"/>
          </a:xfrm>
          <a:prstGeom prst="roundRect">
            <a:avLst>
              <a:gd name="adj" fmla="val 50000"/>
            </a:avLst>
          </a:prstGeom>
          <a:solidFill>
            <a:srgbClr val="F17400"/>
          </a:solidFill>
          <a:ln w="12700">
            <a:solidFill>
              <a:srgbClr val="F17400"/>
            </a:solidFill>
            <a:prstDash val="solid"/>
          </a:ln>
        </p:spPr>
      </p:sp>
      <p:sp>
        <p:nvSpPr>
          <p:cNvPr id="3" name="Text 1"/>
          <p:cNvSpPr txBox="1"/>
          <p:nvPr/>
        </p:nvSpPr>
        <p:spPr>
          <a:xfrm>
            <a:off x="548640" y="384048"/>
            <a:ext cx="329184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PRODUCT 2 OF 3 · MODEL PB706</a:t>
            </a:r>
            <a:endParaRPr lang="en-US" sz="950" dirty="0"/>
          </a:p>
        </p:txBody>
      </p:sp>
      <p:sp>
        <p:nvSpPr>
          <p:cNvPr id="4" name="Text 2"/>
          <p:cNvSpPr txBox="1"/>
          <p:nvPr/>
        </p:nvSpPr>
        <p:spPr>
          <a:xfrm>
            <a:off x="548640" y="841248"/>
            <a:ext cx="8229600" cy="56692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D-Card</a:t>
            </a:r>
            <a:endParaRPr lang="en-US" sz="3400" dirty="0"/>
          </a:p>
        </p:txBody>
      </p:sp>
      <p:sp>
        <p:nvSpPr>
          <p:cNvPr id="5" name="Text 3"/>
          <p:cNvSpPr txBox="1"/>
          <p:nvPr/>
        </p:nvSpPr>
        <p:spPr>
          <a:xfrm>
            <a:off x="548640" y="1444752"/>
            <a:ext cx="10607040" cy="310896"/>
          </a:xfrm>
          <a:prstGeom prst="rect">
            <a:avLst/>
          </a:prstGeom>
          <a:noFill/>
          <a:ln/>
        </p:spPr>
        <p:txBody>
          <a:bodyPr wrap="square" lIns="0" tIns="0" rIns="0" bIns="0" rtlCol="0" anchor="ctr"/>
          <a:lstStyle/>
          <a:p>
            <a:pPr indent="0" marL="0">
              <a:buNone/>
            </a:pPr>
            <a:r>
              <a:rPr lang="en-US" sz="1200" i="1" dirty="0">
                <a:solidFill>
                  <a:srgbClr val="A9B6CB"/>
                </a:solidFill>
                <a:latin typeface="Arial" pitchFamily="34" charset="0"/>
                <a:ea typeface="Arial" pitchFamily="34" charset="-122"/>
                <a:cs typeface="Arial" pitchFamily="34" charset="-120"/>
              </a:rPr>
              <a:t>“Loss is silent. So is control.” — a credit-card-format tracker for the wallet, laptop bag or carry-on of the JNB–CPT commuter.</a:t>
            </a:r>
            <a:endParaRPr lang="en-US" sz="1200" dirty="0"/>
          </a:p>
        </p:txBody>
      </p:sp>
      <p:sp>
        <p:nvSpPr>
          <p:cNvPr id="6" name="Shape 4"/>
          <p:cNvSpPr/>
          <p:nvPr/>
        </p:nvSpPr>
        <p:spPr>
          <a:xfrm>
            <a:off x="548640" y="1920240"/>
            <a:ext cx="2679192" cy="868680"/>
          </a:xfrm>
          <a:prstGeom prst="rect">
            <a:avLst/>
          </a:prstGeom>
          <a:solidFill>
            <a:srgbClr val="113255"/>
          </a:solidFill>
          <a:ln w="12700">
            <a:solidFill>
              <a:srgbClr val="27466E"/>
            </a:solidFill>
            <a:prstDash val="solid"/>
          </a:ln>
        </p:spPr>
      </p:sp>
      <p:sp>
        <p:nvSpPr>
          <p:cNvPr id="7" name="Text 5"/>
          <p:cNvSpPr txBox="1"/>
          <p:nvPr/>
        </p:nvSpPr>
        <p:spPr>
          <a:xfrm>
            <a:off x="68580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R1,650</a:t>
            </a:r>
            <a:endParaRPr lang="en-US" sz="1700" dirty="0"/>
          </a:p>
        </p:txBody>
      </p:sp>
      <p:sp>
        <p:nvSpPr>
          <p:cNvPr id="8" name="Text 6"/>
          <p:cNvSpPr txBox="1"/>
          <p:nvPr/>
        </p:nvSpPr>
        <p:spPr>
          <a:xfrm>
            <a:off x="68580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retail per unit, premium travel segment</a:t>
            </a:r>
            <a:endParaRPr lang="en-US" sz="800" dirty="0"/>
          </a:p>
        </p:txBody>
      </p:sp>
      <p:sp>
        <p:nvSpPr>
          <p:cNvPr id="9" name="Shape 7"/>
          <p:cNvSpPr/>
          <p:nvPr/>
        </p:nvSpPr>
        <p:spPr>
          <a:xfrm>
            <a:off x="3390595" y="1920240"/>
            <a:ext cx="2679192" cy="868680"/>
          </a:xfrm>
          <a:prstGeom prst="rect">
            <a:avLst/>
          </a:prstGeom>
          <a:solidFill>
            <a:srgbClr val="113255"/>
          </a:solidFill>
          <a:ln w="12700">
            <a:solidFill>
              <a:srgbClr val="27466E"/>
            </a:solidFill>
            <a:prstDash val="solid"/>
          </a:ln>
        </p:spPr>
      </p:sp>
      <p:sp>
        <p:nvSpPr>
          <p:cNvPr id="10" name="Text 8"/>
          <p:cNvSpPr txBox="1"/>
          <p:nvPr/>
        </p:nvSpPr>
        <p:spPr>
          <a:xfrm>
            <a:off x="3527755"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24 mo</a:t>
            </a:r>
            <a:endParaRPr lang="en-US" sz="1700" dirty="0"/>
          </a:p>
        </p:txBody>
      </p:sp>
      <p:sp>
        <p:nvSpPr>
          <p:cNvPr id="11" name="Text 9"/>
          <p:cNvSpPr txBox="1"/>
          <p:nvPr/>
        </p:nvSpPr>
        <p:spPr>
          <a:xfrm>
            <a:off x="3527755"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battery life — no recharging, no mid-year re-purchase</a:t>
            </a:r>
            <a:endParaRPr lang="en-US" sz="800" dirty="0"/>
          </a:p>
        </p:txBody>
      </p:sp>
      <p:sp>
        <p:nvSpPr>
          <p:cNvPr id="12" name="Shape 10"/>
          <p:cNvSpPr/>
          <p:nvPr/>
        </p:nvSpPr>
        <p:spPr>
          <a:xfrm>
            <a:off x="6232550" y="1920240"/>
            <a:ext cx="2679192" cy="868680"/>
          </a:xfrm>
          <a:prstGeom prst="rect">
            <a:avLst/>
          </a:prstGeom>
          <a:solidFill>
            <a:srgbClr val="113255"/>
          </a:solidFill>
          <a:ln w="12700">
            <a:solidFill>
              <a:srgbClr val="27466E"/>
            </a:solidFill>
            <a:prstDash val="solid"/>
          </a:ln>
        </p:spPr>
      </p:sp>
      <p:sp>
        <p:nvSpPr>
          <p:cNvPr id="13" name="Text 11"/>
          <p:cNvSpPr txBox="1"/>
          <p:nvPr/>
        </p:nvSpPr>
        <p:spPr>
          <a:xfrm>
            <a:off x="636971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15–20m</a:t>
            </a:r>
            <a:endParaRPr lang="en-US" sz="1700" dirty="0"/>
          </a:p>
        </p:txBody>
      </p:sp>
      <p:sp>
        <p:nvSpPr>
          <p:cNvPr id="14" name="Text 12"/>
          <p:cNvSpPr txBox="1"/>
          <p:nvPr/>
        </p:nvSpPr>
        <p:spPr>
          <a:xfrm>
            <a:off x="636971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Bluetooth range + global crowd-source network</a:t>
            </a:r>
            <a:endParaRPr lang="en-US" sz="800" dirty="0"/>
          </a:p>
        </p:txBody>
      </p:sp>
      <p:sp>
        <p:nvSpPr>
          <p:cNvPr id="15" name="Shape 13"/>
          <p:cNvSpPr/>
          <p:nvPr/>
        </p:nvSpPr>
        <p:spPr>
          <a:xfrm>
            <a:off x="9074506" y="1920240"/>
            <a:ext cx="2679192" cy="868680"/>
          </a:xfrm>
          <a:prstGeom prst="rect">
            <a:avLst/>
          </a:prstGeom>
          <a:solidFill>
            <a:srgbClr val="113255"/>
          </a:solidFill>
          <a:ln w="12700">
            <a:solidFill>
              <a:srgbClr val="27466E"/>
            </a:solidFill>
            <a:prstDash val="solid"/>
          </a:ln>
        </p:spPr>
      </p:sp>
      <p:sp>
        <p:nvSpPr>
          <p:cNvPr id="16" name="Text 14"/>
          <p:cNvSpPr txBox="1"/>
          <p:nvPr/>
        </p:nvSpPr>
        <p:spPr>
          <a:xfrm>
            <a:off x="9211666"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IP65</a:t>
            </a:r>
            <a:endParaRPr lang="en-US" sz="1700" dirty="0"/>
          </a:p>
        </p:txBody>
      </p:sp>
      <p:sp>
        <p:nvSpPr>
          <p:cNvPr id="17" name="Text 15"/>
          <p:cNvSpPr txBox="1"/>
          <p:nvPr/>
        </p:nvSpPr>
        <p:spPr>
          <a:xfrm>
            <a:off x="9211666"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rated, aerospace-grade aluminium</a:t>
            </a:r>
            <a:endParaRPr lang="en-US" sz="800" dirty="0"/>
          </a:p>
        </p:txBody>
      </p:sp>
      <p:sp>
        <p:nvSpPr>
          <p:cNvPr id="18" name="Text 16"/>
          <p:cNvSpPr txBox="1"/>
          <p:nvPr/>
        </p:nvSpPr>
        <p:spPr>
          <a:xfrm>
            <a:off x="548640" y="3063240"/>
            <a:ext cx="594360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BUILT FOR THE FREQUENT-FLYER CORE</a:t>
            </a:r>
            <a:endParaRPr lang="en-US" sz="1000" dirty="0"/>
          </a:p>
        </p:txBody>
      </p:sp>
      <p:sp>
        <p:nvSpPr>
          <p:cNvPr id="19" name="Text 17"/>
          <p:cNvSpPr txBox="1"/>
          <p:nvPr/>
        </p:nvSpPr>
        <p:spPr>
          <a:xfrm>
            <a:off x="548640" y="3401568"/>
            <a:ext cx="6035040" cy="2377440"/>
          </a:xfrm>
          <a:prstGeom prst="rect">
            <a:avLst/>
          </a:prstGeom>
          <a:noFill/>
          <a:ln/>
        </p:spPr>
        <p:txBody>
          <a:bodyPr wrap="square" lIns="0" tIns="0" rIns="0" bIns="0" rtlCol="0" anchor="t"/>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Lives permanently in the wallet or laptop bag of South Africa's business commuters</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75dB buzzer for close-range recovery; global Bluetooth crowd network for long-range</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CUT-ready and linked to national stolen-asset recovery channels</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Positions FlySafair's premium bundles as security-forward — not just legroom</a:t>
            </a:r>
            <a:endParaRPr lang="en-US" sz="1000" dirty="0"/>
          </a:p>
        </p:txBody>
      </p:sp>
      <p:sp>
        <p:nvSpPr>
          <p:cNvPr id="20" name="Shape 18"/>
          <p:cNvSpPr/>
          <p:nvPr/>
        </p:nvSpPr>
        <p:spPr>
          <a:xfrm>
            <a:off x="6903720" y="3063240"/>
            <a:ext cx="4736592" cy="2606040"/>
          </a:xfrm>
          <a:prstGeom prst="rect">
            <a:avLst/>
          </a:prstGeom>
          <a:solidFill>
            <a:srgbClr val="113255"/>
          </a:solidFill>
          <a:ln w="12700">
            <a:solidFill>
              <a:srgbClr val="27466E"/>
            </a:solidFill>
            <a:prstDash val="solid"/>
          </a:ln>
        </p:spPr>
      </p:sp>
      <p:sp>
        <p:nvSpPr>
          <p:cNvPr id="21" name="Text 19"/>
          <p:cNvSpPr txBox="1"/>
          <p:nvPr/>
        </p:nvSpPr>
        <p:spPr>
          <a:xfrm>
            <a:off x="7132320" y="324612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NETWORK OPPORTUNITY</a:t>
            </a:r>
            <a:endParaRPr lang="en-US" sz="1000" dirty="0"/>
          </a:p>
        </p:txBody>
      </p:sp>
      <p:sp>
        <p:nvSpPr>
          <p:cNvPr id="22" name="Text 20"/>
          <p:cNvSpPr txBox="1"/>
          <p:nvPr/>
        </p:nvSpPr>
        <p:spPr>
          <a:xfrm>
            <a:off x="7132320" y="3611880"/>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5,250</a:t>
            </a:r>
            <a:endParaRPr lang="en-US" sz="1900" dirty="0"/>
          </a:p>
        </p:txBody>
      </p:sp>
      <p:sp>
        <p:nvSpPr>
          <p:cNvPr id="23" name="Text 21"/>
          <p:cNvSpPr txBox="1"/>
          <p:nvPr/>
        </p:nvSpPr>
        <p:spPr>
          <a:xfrm>
            <a:off x="7132320" y="3995928"/>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units a year — 0.05% of passengers: the Johannesburg–Cape Town commuter core, one of the world's busiest domestic corridors</a:t>
            </a:r>
            <a:endParaRPr lang="en-US" sz="900" dirty="0"/>
          </a:p>
        </p:txBody>
      </p:sp>
      <p:sp>
        <p:nvSpPr>
          <p:cNvPr id="24" name="Text 22"/>
          <p:cNvSpPr txBox="1"/>
          <p:nvPr/>
        </p:nvSpPr>
        <p:spPr>
          <a:xfrm>
            <a:off x="7132320" y="4636008"/>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R8.7M</a:t>
            </a:r>
            <a:endParaRPr lang="en-US" sz="1900" dirty="0"/>
          </a:p>
        </p:txBody>
      </p:sp>
      <p:sp>
        <p:nvSpPr>
          <p:cNvPr id="25" name="Text 23"/>
          <p:cNvSpPr txBox="1"/>
          <p:nvPr/>
        </p:nvSpPr>
        <p:spPr>
          <a:xfrm>
            <a:off x="7132320" y="5020056"/>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potential retail revenue a year, sold via web shop, kiosk and on-board retail</a:t>
            </a:r>
            <a:endParaRPr lang="en-US" sz="900" dirty="0"/>
          </a:p>
        </p:txBody>
      </p:sp>
      <p:sp>
        <p:nvSpPr>
          <p:cNvPr id="26" name="Text 24"/>
          <p:cNvSpPr txBox="1"/>
          <p:nvPr/>
        </p:nvSpPr>
        <p:spPr>
          <a:xfrm>
            <a:off x="548640" y="5989320"/>
            <a:ext cx="11064240" cy="502920"/>
          </a:xfrm>
          <a:prstGeom prst="rect">
            <a:avLst/>
          </a:prstGeom>
          <a:noFill/>
          <a:ln/>
        </p:spPr>
        <p:txBody>
          <a:bodyPr wrap="square" lIns="0" tIns="0" rIns="0" bIns="0" rtlCol="0" anchor="ctr"/>
          <a:lstStyle/>
          <a:p>
            <a:pPr indent="0" marL="0">
              <a:lnSpc>
                <a:spcPts val="1150"/>
              </a:lnSpc>
              <a:buNone/>
            </a:pPr>
            <a:r>
              <a:rPr lang="en-US" sz="900" i="1" dirty="0">
                <a:solidFill>
                  <a:srgbClr val="7C8BA5"/>
                </a:solidFill>
                <a:latin typeface="Arial" pitchFamily="34" charset="0"/>
                <a:ea typeface="Arial" pitchFamily="34" charset="-122"/>
                <a:cs typeface="Arial" pitchFamily="34" charset="-120"/>
              </a:rPr>
              <a:t>Weighted to the JNB–CPT “golden route” and sold through kiosk, web-shop and on-board channels rather than mass vending.</a:t>
            </a:r>
            <a:endParaRPr lang="en-US" sz="900" dirty="0"/>
          </a:p>
        </p:txBody>
      </p:sp>
      <p:sp>
        <p:nvSpPr>
          <p:cNvPr id="27" name="Shape 25"/>
          <p:cNvSpPr/>
          <p:nvPr/>
        </p:nvSpPr>
        <p:spPr>
          <a:xfrm>
            <a:off x="0" y="6583680"/>
            <a:ext cx="12191695" cy="274320"/>
          </a:xfrm>
          <a:prstGeom prst="rect">
            <a:avLst/>
          </a:prstGeom>
          <a:solidFill>
            <a:srgbClr val="0E2648"/>
          </a:solidFill>
          <a:ln/>
        </p:spPr>
      </p:sp>
      <p:sp>
        <p:nvSpPr>
          <p:cNvPr id="28" name="Text 2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9" name="Text 2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12 / 29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3291840" cy="329184"/>
          </a:xfrm>
          <a:prstGeom prst="roundRect">
            <a:avLst>
              <a:gd name="adj" fmla="val 50000"/>
            </a:avLst>
          </a:prstGeom>
          <a:solidFill>
            <a:srgbClr val="F17400"/>
          </a:solidFill>
          <a:ln w="12700">
            <a:solidFill>
              <a:srgbClr val="F17400"/>
            </a:solidFill>
            <a:prstDash val="solid"/>
          </a:ln>
        </p:spPr>
      </p:sp>
      <p:sp>
        <p:nvSpPr>
          <p:cNvPr id="3" name="Text 1"/>
          <p:cNvSpPr txBox="1"/>
          <p:nvPr/>
        </p:nvSpPr>
        <p:spPr>
          <a:xfrm>
            <a:off x="548640" y="384048"/>
            <a:ext cx="329184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PRODUCT 3 OF 3 · MODEL PB705</a:t>
            </a:r>
            <a:endParaRPr lang="en-US" sz="950" dirty="0"/>
          </a:p>
        </p:txBody>
      </p:sp>
      <p:sp>
        <p:nvSpPr>
          <p:cNvPr id="4" name="Text 2"/>
          <p:cNvSpPr txBox="1"/>
          <p:nvPr/>
        </p:nvSpPr>
        <p:spPr>
          <a:xfrm>
            <a:off x="548640" y="841248"/>
            <a:ext cx="8229600" cy="56692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D-Pod ( “The Dome” )</a:t>
            </a:r>
            <a:endParaRPr lang="en-US" sz="3400" dirty="0"/>
          </a:p>
        </p:txBody>
      </p:sp>
      <p:sp>
        <p:nvSpPr>
          <p:cNvPr id="5" name="Text 3"/>
          <p:cNvSpPr txBox="1"/>
          <p:nvPr/>
        </p:nvSpPr>
        <p:spPr>
          <a:xfrm>
            <a:off x="548640" y="1444752"/>
            <a:ext cx="10607040" cy="310896"/>
          </a:xfrm>
          <a:prstGeom prst="rect">
            <a:avLst/>
          </a:prstGeom>
          <a:noFill/>
          <a:ln/>
        </p:spPr>
        <p:txBody>
          <a:bodyPr wrap="square" lIns="0" tIns="0" rIns="0" bIns="0" rtlCol="0" anchor="ctr"/>
          <a:lstStyle/>
          <a:p>
            <a:pPr indent="0" marL="0">
              <a:buNone/>
            </a:pPr>
            <a:r>
              <a:rPr lang="en-US" sz="1200" i="1" dirty="0">
                <a:solidFill>
                  <a:srgbClr val="A9B6CB"/>
                </a:solidFill>
                <a:latin typeface="Arial" pitchFamily="34" charset="0"/>
                <a:ea typeface="Arial" pitchFamily="34" charset="-122"/>
                <a:cs typeface="Arial" pitchFamily="34" charset="-120"/>
              </a:rPr>
              <a:t>“Visibility doesn't ask permission.” — a magnetic, covert tracker for company assets and high-value freight. Placed in seconds, invisible for years.</a:t>
            </a:r>
            <a:endParaRPr lang="en-US" sz="1200" dirty="0"/>
          </a:p>
        </p:txBody>
      </p:sp>
      <p:sp>
        <p:nvSpPr>
          <p:cNvPr id="6" name="Shape 4"/>
          <p:cNvSpPr/>
          <p:nvPr/>
        </p:nvSpPr>
        <p:spPr>
          <a:xfrm>
            <a:off x="548640" y="1920240"/>
            <a:ext cx="2679192" cy="868680"/>
          </a:xfrm>
          <a:prstGeom prst="rect">
            <a:avLst/>
          </a:prstGeom>
          <a:solidFill>
            <a:srgbClr val="113255"/>
          </a:solidFill>
          <a:ln w="12700">
            <a:solidFill>
              <a:srgbClr val="27466E"/>
            </a:solidFill>
            <a:prstDash val="solid"/>
          </a:ln>
        </p:spPr>
      </p:sp>
      <p:sp>
        <p:nvSpPr>
          <p:cNvPr id="7" name="Text 5"/>
          <p:cNvSpPr txBox="1"/>
          <p:nvPr/>
        </p:nvSpPr>
        <p:spPr>
          <a:xfrm>
            <a:off x="68580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R2,150</a:t>
            </a:r>
            <a:endParaRPr lang="en-US" sz="1700" dirty="0"/>
          </a:p>
        </p:txBody>
      </p:sp>
      <p:sp>
        <p:nvSpPr>
          <p:cNvPr id="8" name="Text 6"/>
          <p:cNvSpPr txBox="1"/>
          <p:nvPr/>
        </p:nvSpPr>
        <p:spPr>
          <a:xfrm>
            <a:off x="68580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per unit — one-time capex for years of visibility</a:t>
            </a:r>
            <a:endParaRPr lang="en-US" sz="800" dirty="0"/>
          </a:p>
        </p:txBody>
      </p:sp>
      <p:sp>
        <p:nvSpPr>
          <p:cNvPr id="9" name="Shape 7"/>
          <p:cNvSpPr/>
          <p:nvPr/>
        </p:nvSpPr>
        <p:spPr>
          <a:xfrm>
            <a:off x="3390595" y="1920240"/>
            <a:ext cx="2679192" cy="868680"/>
          </a:xfrm>
          <a:prstGeom prst="rect">
            <a:avLst/>
          </a:prstGeom>
          <a:solidFill>
            <a:srgbClr val="113255"/>
          </a:solidFill>
          <a:ln w="12700">
            <a:solidFill>
              <a:srgbClr val="27466E"/>
            </a:solidFill>
            <a:prstDash val="solid"/>
          </a:ln>
        </p:spPr>
      </p:sp>
      <p:sp>
        <p:nvSpPr>
          <p:cNvPr id="10" name="Text 8"/>
          <p:cNvSpPr txBox="1"/>
          <p:nvPr/>
        </p:nvSpPr>
        <p:spPr>
          <a:xfrm>
            <a:off x="3527755"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3–5 yrs</a:t>
            </a:r>
            <a:endParaRPr lang="en-US" sz="1700" dirty="0"/>
          </a:p>
        </p:txBody>
      </p:sp>
      <p:sp>
        <p:nvSpPr>
          <p:cNvPr id="11" name="Text 9"/>
          <p:cNvSpPr txBox="1"/>
          <p:nvPr/>
        </p:nvSpPr>
        <p:spPr>
          <a:xfrm>
            <a:off x="3527755"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battery life on a single charge cycle</a:t>
            </a:r>
            <a:endParaRPr lang="en-US" sz="800" dirty="0"/>
          </a:p>
        </p:txBody>
      </p:sp>
      <p:sp>
        <p:nvSpPr>
          <p:cNvPr id="12" name="Shape 10"/>
          <p:cNvSpPr/>
          <p:nvPr/>
        </p:nvSpPr>
        <p:spPr>
          <a:xfrm>
            <a:off x="6232550" y="1920240"/>
            <a:ext cx="2679192" cy="868680"/>
          </a:xfrm>
          <a:prstGeom prst="rect">
            <a:avLst/>
          </a:prstGeom>
          <a:solidFill>
            <a:srgbClr val="113255"/>
          </a:solidFill>
          <a:ln w="12700">
            <a:solidFill>
              <a:srgbClr val="27466E"/>
            </a:solidFill>
            <a:prstDash val="solid"/>
          </a:ln>
        </p:spPr>
      </p:sp>
      <p:sp>
        <p:nvSpPr>
          <p:cNvPr id="13" name="Text 11"/>
          <p:cNvSpPr txBox="1"/>
          <p:nvPr/>
        </p:nvSpPr>
        <p:spPr>
          <a:xfrm>
            <a:off x="636971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8–25/day</a:t>
            </a:r>
            <a:endParaRPr lang="en-US" sz="1700" dirty="0"/>
          </a:p>
        </p:txBody>
      </p:sp>
      <p:sp>
        <p:nvSpPr>
          <p:cNvPr id="14" name="Text 12"/>
          <p:cNvSpPr txBox="1"/>
          <p:nvPr/>
        </p:nvSpPr>
        <p:spPr>
          <a:xfrm>
            <a:off x="636971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location updates; first position within ±1 hour</a:t>
            </a:r>
            <a:endParaRPr lang="en-US" sz="800" dirty="0"/>
          </a:p>
        </p:txBody>
      </p:sp>
      <p:sp>
        <p:nvSpPr>
          <p:cNvPr id="15" name="Shape 13"/>
          <p:cNvSpPr/>
          <p:nvPr/>
        </p:nvSpPr>
        <p:spPr>
          <a:xfrm>
            <a:off x="9074506" y="1920240"/>
            <a:ext cx="2679192" cy="868680"/>
          </a:xfrm>
          <a:prstGeom prst="rect">
            <a:avLst/>
          </a:prstGeom>
          <a:solidFill>
            <a:srgbClr val="113255"/>
          </a:solidFill>
          <a:ln w="12700">
            <a:solidFill>
              <a:srgbClr val="27466E"/>
            </a:solidFill>
            <a:prstDash val="solid"/>
          </a:ln>
        </p:spPr>
      </p:sp>
      <p:sp>
        <p:nvSpPr>
          <p:cNvPr id="16" name="Text 14"/>
          <p:cNvSpPr txBox="1"/>
          <p:nvPr/>
        </p:nvSpPr>
        <p:spPr>
          <a:xfrm>
            <a:off x="9211666"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IP68</a:t>
            </a:r>
            <a:endParaRPr lang="en-US" sz="1700" dirty="0"/>
          </a:p>
        </p:txBody>
      </p:sp>
      <p:sp>
        <p:nvSpPr>
          <p:cNvPr id="17" name="Text 15"/>
          <p:cNvSpPr txBox="1"/>
          <p:nvPr/>
        </p:nvSpPr>
        <p:spPr>
          <a:xfrm>
            <a:off x="9211666"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waterproof, magnetic base — no tools, no wiring</a:t>
            </a:r>
            <a:endParaRPr lang="en-US" sz="800" dirty="0"/>
          </a:p>
        </p:txBody>
      </p:sp>
      <p:sp>
        <p:nvSpPr>
          <p:cNvPr id="18" name="Text 16"/>
          <p:cNvSpPr txBox="1"/>
          <p:nvPr/>
        </p:nvSpPr>
        <p:spPr>
          <a:xfrm>
            <a:off x="548640" y="3063240"/>
            <a:ext cx="594360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BUILT FOR FLYSAFAIR'S OWN ASSETS</a:t>
            </a:r>
            <a:endParaRPr lang="en-US" sz="1000" dirty="0"/>
          </a:p>
        </p:txBody>
      </p:sp>
      <p:sp>
        <p:nvSpPr>
          <p:cNvPr id="19" name="Text 17"/>
          <p:cNvSpPr txBox="1"/>
          <p:nvPr/>
        </p:nvSpPr>
        <p:spPr>
          <a:xfrm>
            <a:off x="548640" y="3401568"/>
            <a:ext cx="6035040" cy="2377440"/>
          </a:xfrm>
          <a:prstGeom prst="rect">
            <a:avLst/>
          </a:prstGeom>
          <a:noFill/>
          <a:ln/>
        </p:spPr>
        <p:txBody>
          <a:bodyPr wrap="square" lIns="0" tIns="0" rIns="0" bIns="0" rtlCol="0" anchor="t"/>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Magnetic base — installed in seconds on a spares crate, cage, cart or container</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AOG spares and rotables tracked between JNB, CPT and DUR — a grounded 737's real cost is time</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Fully covert — no visible wiring, no notification to anyone nearby</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Extends the same visibility principle to high-value belly freight and valuables pouches</a:t>
            </a:r>
            <a:endParaRPr lang="en-US" sz="1000" dirty="0"/>
          </a:p>
        </p:txBody>
      </p:sp>
      <p:sp>
        <p:nvSpPr>
          <p:cNvPr id="20" name="Shape 18"/>
          <p:cNvSpPr/>
          <p:nvPr/>
        </p:nvSpPr>
        <p:spPr>
          <a:xfrm>
            <a:off x="6903720" y="3063240"/>
            <a:ext cx="4736592" cy="2606040"/>
          </a:xfrm>
          <a:prstGeom prst="rect">
            <a:avLst/>
          </a:prstGeom>
          <a:solidFill>
            <a:srgbClr val="113255"/>
          </a:solidFill>
          <a:ln w="12700">
            <a:solidFill>
              <a:srgbClr val="27466E"/>
            </a:solidFill>
            <a:prstDash val="solid"/>
          </a:ln>
        </p:spPr>
      </p:sp>
      <p:sp>
        <p:nvSpPr>
          <p:cNvPr id="21" name="Text 19"/>
          <p:cNvSpPr txBox="1"/>
          <p:nvPr/>
        </p:nvSpPr>
        <p:spPr>
          <a:xfrm>
            <a:off x="7132320" y="324612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NETWORK OPPORTUNITY</a:t>
            </a:r>
            <a:endParaRPr lang="en-US" sz="1000" dirty="0"/>
          </a:p>
        </p:txBody>
      </p:sp>
      <p:sp>
        <p:nvSpPr>
          <p:cNvPr id="22" name="Text 20"/>
          <p:cNvSpPr txBox="1"/>
          <p:nvPr/>
        </p:nvSpPr>
        <p:spPr>
          <a:xfrm>
            <a:off x="7132320" y="3611880"/>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850 units</a:t>
            </a:r>
            <a:endParaRPr lang="en-US" sz="1900" dirty="0"/>
          </a:p>
        </p:txBody>
      </p:sp>
      <p:sp>
        <p:nvSpPr>
          <p:cNvPr id="23" name="Text 21"/>
          <p:cNvSpPr txBox="1"/>
          <p:nvPr/>
        </p:nvSpPr>
        <p:spPr>
          <a:xfrm>
            <a:off x="7132320" y="3995928"/>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indicative — spares crates, baggage carts, GSE and valuables pouches across the three main bases</a:t>
            </a:r>
            <a:endParaRPr lang="en-US" sz="900" dirty="0"/>
          </a:p>
        </p:txBody>
      </p:sp>
      <p:sp>
        <p:nvSpPr>
          <p:cNvPr id="24" name="Text 22"/>
          <p:cNvSpPr txBox="1"/>
          <p:nvPr/>
        </p:nvSpPr>
        <p:spPr>
          <a:xfrm>
            <a:off x="7132320" y="4636008"/>
            <a:ext cx="4297680" cy="384048"/>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 R1.83M</a:t>
            </a:r>
            <a:endParaRPr lang="en-US" sz="1900" dirty="0"/>
          </a:p>
        </p:txBody>
      </p:sp>
      <p:sp>
        <p:nvSpPr>
          <p:cNvPr id="25" name="Text 23"/>
          <p:cNvSpPr txBox="1"/>
          <p:nvPr/>
        </p:nvSpPr>
        <p:spPr>
          <a:xfrm>
            <a:off x="7132320" y="5020056"/>
            <a:ext cx="4297680" cy="566928"/>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indicative one-time capex for the life of the device (3–5 years)</a:t>
            </a:r>
            <a:endParaRPr lang="en-US" sz="900" dirty="0"/>
          </a:p>
        </p:txBody>
      </p:sp>
      <p:sp>
        <p:nvSpPr>
          <p:cNvPr id="26" name="Text 24"/>
          <p:cNvSpPr txBox="1"/>
          <p:nvPr/>
        </p:nvSpPr>
        <p:spPr>
          <a:xfrm>
            <a:off x="548640" y="5989320"/>
            <a:ext cx="11064240" cy="502920"/>
          </a:xfrm>
          <a:prstGeom prst="rect">
            <a:avLst/>
          </a:prstGeom>
          <a:noFill/>
          <a:ln/>
        </p:spPr>
        <p:txBody>
          <a:bodyPr wrap="square" lIns="0" tIns="0" rIns="0" bIns="0" rtlCol="0" anchor="ctr"/>
          <a:lstStyle/>
          <a:p>
            <a:pPr indent="0" marL="0">
              <a:lnSpc>
                <a:spcPts val="1150"/>
              </a:lnSpc>
              <a:buNone/>
            </a:pPr>
            <a:r>
              <a:rPr lang="en-US" sz="900" i="1" dirty="0">
                <a:solidFill>
                  <a:srgbClr val="7C8BA5"/>
                </a:solidFill>
                <a:latin typeface="Arial" pitchFamily="34" charset="0"/>
                <a:ea typeface="Arial" pitchFamily="34" charset="-122"/>
                <a:cs typeface="Arial" pitchFamily="34" charset="-120"/>
              </a:rPr>
              <a:t>Because it lasts years, not weeks, D-Pod needs a fraction of the unit count of a consumer product — durability is the economics. Unit counts confirmed with FlySafair's ops and engineering teams at technical scoping.</a:t>
            </a:r>
            <a:endParaRPr lang="en-US" sz="900" dirty="0"/>
          </a:p>
        </p:txBody>
      </p:sp>
      <p:sp>
        <p:nvSpPr>
          <p:cNvPr id="27" name="Shape 25"/>
          <p:cNvSpPr/>
          <p:nvPr/>
        </p:nvSpPr>
        <p:spPr>
          <a:xfrm>
            <a:off x="0" y="6583680"/>
            <a:ext cx="12191695" cy="274320"/>
          </a:xfrm>
          <a:prstGeom prst="rect">
            <a:avLst/>
          </a:prstGeom>
          <a:solidFill>
            <a:srgbClr val="0E2648"/>
          </a:solidFill>
          <a:ln/>
        </p:spPr>
      </p:sp>
      <p:sp>
        <p:nvSpPr>
          <p:cNvPr id="28" name="Text 2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9" name="Text 2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13 / 29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03 · THE SOLUTION</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Three products, one continuous layer of visibility</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Each product is matched to where value actually leaks — not sold as a one-size-fits-all tag.</a:t>
            </a:r>
            <a:endParaRPr lang="en-US" sz="1150" dirty="0"/>
          </a:p>
        </p:txBody>
      </p:sp>
      <p:sp>
        <p:nvSpPr>
          <p:cNvPr id="5" name="Shape 3"/>
          <p:cNvSpPr/>
          <p:nvPr/>
        </p:nvSpPr>
        <p:spPr>
          <a:xfrm>
            <a:off x="548640" y="1481328"/>
            <a:ext cx="3538728" cy="2880360"/>
          </a:xfrm>
          <a:prstGeom prst="rect">
            <a:avLst/>
          </a:prstGeom>
          <a:solidFill>
            <a:srgbClr val="FFFFFF"/>
          </a:solidFill>
          <a:ln w="12700">
            <a:solidFill>
              <a:srgbClr val="D9E0EA"/>
            </a:solidFill>
            <a:prstDash val="solid"/>
          </a:ln>
        </p:spPr>
      </p:sp>
      <p:sp>
        <p:nvSpPr>
          <p:cNvPr id="6" name="Shape 4"/>
          <p:cNvSpPr/>
          <p:nvPr/>
        </p:nvSpPr>
        <p:spPr>
          <a:xfrm>
            <a:off x="749808" y="1700784"/>
            <a:ext cx="502920" cy="502920"/>
          </a:xfrm>
          <a:prstGeom prst="ellipse">
            <a:avLst/>
          </a:prstGeom>
          <a:solidFill>
            <a:srgbClr val="F17400"/>
          </a:solidFill>
          <a:ln/>
        </p:spPr>
      </p:sp>
      <p:sp>
        <p:nvSpPr>
          <p:cNvPr id="7" name="Text 5"/>
          <p:cNvSpPr txBox="1"/>
          <p:nvPr/>
        </p:nvSpPr>
        <p:spPr>
          <a:xfrm>
            <a:off x="749808" y="1700784"/>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1417320" y="1773936"/>
            <a:ext cx="2606040" cy="457200"/>
          </a:xfrm>
          <a:prstGeom prst="rect">
            <a:avLst/>
          </a:prstGeom>
          <a:noFill/>
          <a:ln/>
        </p:spPr>
        <p:txBody>
          <a:bodyPr wrap="square" lIns="0" tIns="0" rIns="0" bIns="0" rtlCol="0" anchor="ctr"/>
          <a:lstStyle/>
          <a:p>
            <a:pPr indent="0" marL="0">
              <a:lnSpc>
                <a:spcPts val="1100"/>
              </a:lnSpc>
              <a:buNone/>
            </a:pPr>
            <a:r>
              <a:rPr lang="en-US" sz="900" b="1" spc="100" kern="0" dirty="0">
                <a:solidFill>
                  <a:srgbClr val="8A96A8"/>
                </a:solidFill>
                <a:latin typeface="Arial" pitchFamily="34" charset="0"/>
                <a:ea typeface="Arial" pitchFamily="34" charset="-122"/>
                <a:cs typeface="Arial" pitchFamily="34" charset="-120"/>
              </a:rPr>
              <a:t>PASSENGER CHECK-IN &amp; TICKET SALE</a:t>
            </a:r>
            <a:endParaRPr lang="en-US" sz="900" dirty="0"/>
          </a:p>
        </p:txBody>
      </p:sp>
      <p:sp>
        <p:nvSpPr>
          <p:cNvPr id="9" name="Text 7"/>
          <p:cNvSpPr txBox="1"/>
          <p:nvPr/>
        </p:nvSpPr>
        <p:spPr>
          <a:xfrm>
            <a:off x="749808" y="2395728"/>
            <a:ext cx="3108960" cy="365760"/>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D-Sticker</a:t>
            </a:r>
            <a:endParaRPr lang="en-US" sz="1900" dirty="0"/>
          </a:p>
        </p:txBody>
      </p:sp>
      <p:sp>
        <p:nvSpPr>
          <p:cNvPr id="10" name="Text 8"/>
          <p:cNvSpPr txBox="1"/>
          <p:nvPr/>
        </p:nvSpPr>
        <p:spPr>
          <a:xfrm>
            <a:off x="749808" y="2852928"/>
            <a:ext cx="3154680" cy="137160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Peel-and-stick onto checked luggage — bought at the vending kiosk or added to the ticket at booking. Passenger-funded, single-trip.</a:t>
            </a:r>
            <a:endParaRPr lang="en-US" sz="1000" dirty="0"/>
          </a:p>
        </p:txBody>
      </p:sp>
      <p:sp>
        <p:nvSpPr>
          <p:cNvPr id="11" name="Shape 9"/>
          <p:cNvSpPr/>
          <p:nvPr/>
        </p:nvSpPr>
        <p:spPr>
          <a:xfrm>
            <a:off x="4338828" y="1481328"/>
            <a:ext cx="3538728" cy="2880360"/>
          </a:xfrm>
          <a:prstGeom prst="rect">
            <a:avLst/>
          </a:prstGeom>
          <a:solidFill>
            <a:srgbClr val="FFFFFF"/>
          </a:solidFill>
          <a:ln w="12700">
            <a:solidFill>
              <a:srgbClr val="D9E0EA"/>
            </a:solidFill>
            <a:prstDash val="solid"/>
          </a:ln>
        </p:spPr>
      </p:sp>
      <p:sp>
        <p:nvSpPr>
          <p:cNvPr id="12" name="Shape 10"/>
          <p:cNvSpPr/>
          <p:nvPr/>
        </p:nvSpPr>
        <p:spPr>
          <a:xfrm>
            <a:off x="4539996" y="1700784"/>
            <a:ext cx="502920" cy="502920"/>
          </a:xfrm>
          <a:prstGeom prst="ellipse">
            <a:avLst/>
          </a:prstGeom>
          <a:solidFill>
            <a:srgbClr val="F17400"/>
          </a:solidFill>
          <a:ln/>
        </p:spPr>
      </p:sp>
      <p:sp>
        <p:nvSpPr>
          <p:cNvPr id="13" name="Text 11"/>
          <p:cNvSpPr txBox="1"/>
          <p:nvPr/>
        </p:nvSpPr>
        <p:spPr>
          <a:xfrm>
            <a:off x="4539996" y="1700784"/>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5207508" y="1773936"/>
            <a:ext cx="2606040" cy="457200"/>
          </a:xfrm>
          <a:prstGeom prst="rect">
            <a:avLst/>
          </a:prstGeom>
          <a:noFill/>
          <a:ln/>
        </p:spPr>
        <p:txBody>
          <a:bodyPr wrap="square" lIns="0" tIns="0" rIns="0" bIns="0" rtlCol="0" anchor="ctr"/>
          <a:lstStyle/>
          <a:p>
            <a:pPr indent="0" marL="0">
              <a:lnSpc>
                <a:spcPts val="1100"/>
              </a:lnSpc>
              <a:buNone/>
            </a:pPr>
            <a:r>
              <a:rPr lang="en-US" sz="900" b="1" spc="100" kern="0" dirty="0">
                <a:solidFill>
                  <a:srgbClr val="8A96A8"/>
                </a:solidFill>
                <a:latin typeface="Arial" pitchFamily="34" charset="0"/>
                <a:ea typeface="Arial" pitchFamily="34" charset="-122"/>
                <a:cs typeface="Arial" pitchFamily="34" charset="-120"/>
              </a:rPr>
              <a:t>PERSONAL CARRY-ON &amp; COMMUTE</a:t>
            </a:r>
            <a:endParaRPr lang="en-US" sz="900" dirty="0"/>
          </a:p>
        </p:txBody>
      </p:sp>
      <p:sp>
        <p:nvSpPr>
          <p:cNvPr id="15" name="Text 13"/>
          <p:cNvSpPr txBox="1"/>
          <p:nvPr/>
        </p:nvSpPr>
        <p:spPr>
          <a:xfrm>
            <a:off x="4539996" y="2395728"/>
            <a:ext cx="3108960" cy="365760"/>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D-Card</a:t>
            </a:r>
            <a:endParaRPr lang="en-US" sz="1900" dirty="0"/>
          </a:p>
        </p:txBody>
      </p:sp>
      <p:sp>
        <p:nvSpPr>
          <p:cNvPr id="16" name="Text 14"/>
          <p:cNvSpPr txBox="1"/>
          <p:nvPr/>
        </p:nvSpPr>
        <p:spPr>
          <a:xfrm>
            <a:off x="4539996" y="2852928"/>
            <a:ext cx="3154680" cy="137160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Lives permanently in the wallet, laptop bag or premium carry-on of the frequent flyer on the JNB–CPT corridor.</a:t>
            </a:r>
            <a:endParaRPr lang="en-US" sz="1000" dirty="0"/>
          </a:p>
        </p:txBody>
      </p:sp>
      <p:sp>
        <p:nvSpPr>
          <p:cNvPr id="17" name="Shape 15"/>
          <p:cNvSpPr/>
          <p:nvPr/>
        </p:nvSpPr>
        <p:spPr>
          <a:xfrm>
            <a:off x="8129016" y="1481328"/>
            <a:ext cx="3538728" cy="2880360"/>
          </a:xfrm>
          <a:prstGeom prst="rect">
            <a:avLst/>
          </a:prstGeom>
          <a:solidFill>
            <a:srgbClr val="FFFFFF"/>
          </a:solidFill>
          <a:ln w="12700">
            <a:solidFill>
              <a:srgbClr val="D9E0EA"/>
            </a:solidFill>
            <a:prstDash val="solid"/>
          </a:ln>
        </p:spPr>
      </p:sp>
      <p:sp>
        <p:nvSpPr>
          <p:cNvPr id="18" name="Shape 16"/>
          <p:cNvSpPr/>
          <p:nvPr/>
        </p:nvSpPr>
        <p:spPr>
          <a:xfrm>
            <a:off x="8330184" y="1700784"/>
            <a:ext cx="502920" cy="502920"/>
          </a:xfrm>
          <a:prstGeom prst="ellipse">
            <a:avLst/>
          </a:prstGeom>
          <a:solidFill>
            <a:srgbClr val="F17400"/>
          </a:solidFill>
          <a:ln/>
        </p:spPr>
      </p:sp>
      <p:sp>
        <p:nvSpPr>
          <p:cNvPr id="19" name="Text 17"/>
          <p:cNvSpPr txBox="1"/>
          <p:nvPr/>
        </p:nvSpPr>
        <p:spPr>
          <a:xfrm>
            <a:off x="8330184" y="1700784"/>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0" name="Text 18"/>
          <p:cNvSpPr txBox="1"/>
          <p:nvPr/>
        </p:nvSpPr>
        <p:spPr>
          <a:xfrm>
            <a:off x="8997696" y="1773936"/>
            <a:ext cx="2606040" cy="457200"/>
          </a:xfrm>
          <a:prstGeom prst="rect">
            <a:avLst/>
          </a:prstGeom>
          <a:noFill/>
          <a:ln/>
        </p:spPr>
        <p:txBody>
          <a:bodyPr wrap="square" lIns="0" tIns="0" rIns="0" bIns="0" rtlCol="0" anchor="ctr"/>
          <a:lstStyle/>
          <a:p>
            <a:pPr indent="0" marL="0">
              <a:lnSpc>
                <a:spcPts val="1100"/>
              </a:lnSpc>
              <a:buNone/>
            </a:pPr>
            <a:r>
              <a:rPr lang="en-US" sz="900" b="1" spc="100" kern="0" dirty="0">
                <a:solidFill>
                  <a:srgbClr val="8A96A8"/>
                </a:solidFill>
                <a:latin typeface="Arial" pitchFamily="34" charset="0"/>
                <a:ea typeface="Arial" pitchFamily="34" charset="-122"/>
                <a:cs typeface="Arial" pitchFamily="34" charset="-120"/>
              </a:rPr>
              <a:t>SPARES, FREIGHT &amp; COMPANY ASSETS</a:t>
            </a:r>
            <a:endParaRPr lang="en-US" sz="900" dirty="0"/>
          </a:p>
        </p:txBody>
      </p:sp>
      <p:sp>
        <p:nvSpPr>
          <p:cNvPr id="21" name="Text 19"/>
          <p:cNvSpPr txBox="1"/>
          <p:nvPr/>
        </p:nvSpPr>
        <p:spPr>
          <a:xfrm>
            <a:off x="8330184" y="2395728"/>
            <a:ext cx="3108960" cy="365760"/>
          </a:xfrm>
          <a:prstGeom prst="rect">
            <a:avLst/>
          </a:prstGeom>
          <a:noFill/>
          <a:ln/>
        </p:spPr>
        <p:txBody>
          <a:bodyPr wrap="square" lIns="0" tIns="0" rIns="0" bIns="0" rtlCol="0" anchor="ctr"/>
          <a:lstStyle/>
          <a:p>
            <a:pPr indent="0" marL="0">
              <a:buNone/>
            </a:pPr>
            <a:r>
              <a:rPr lang="en-US" sz="1900" b="1" dirty="0">
                <a:solidFill>
                  <a:srgbClr val="F17400"/>
                </a:solidFill>
                <a:latin typeface="Arial" pitchFamily="34" charset="0"/>
                <a:ea typeface="Arial" pitchFamily="34" charset="-122"/>
                <a:cs typeface="Arial" pitchFamily="34" charset="-120"/>
              </a:rPr>
              <a:t>D-Pod</a:t>
            </a:r>
            <a:endParaRPr lang="en-US" sz="1900" dirty="0"/>
          </a:p>
        </p:txBody>
      </p:sp>
      <p:sp>
        <p:nvSpPr>
          <p:cNvPr id="22" name="Text 20"/>
          <p:cNvSpPr txBox="1"/>
          <p:nvPr/>
        </p:nvSpPr>
        <p:spPr>
          <a:xfrm>
            <a:off x="8330184" y="2852928"/>
            <a:ext cx="3154680" cy="1371600"/>
          </a:xfrm>
          <a:prstGeom prst="rect">
            <a:avLst/>
          </a:prstGeom>
          <a:noFill/>
          <a:ln/>
        </p:spPr>
        <p:txBody>
          <a:bodyPr wrap="square" lIns="0" tIns="0" rIns="0" bIns="0" rtlCol="0" anchor="ctr"/>
          <a:lstStyle/>
          <a:p>
            <a:pPr indent="0" marL="0">
              <a:lnSpc>
                <a:spcPts val="1350"/>
              </a:lnSpc>
              <a:buNone/>
            </a:pPr>
            <a:r>
              <a:rPr lang="en-US" sz="1000" dirty="0">
                <a:solidFill>
                  <a:srgbClr val="5E6B7E"/>
                </a:solidFill>
                <a:latin typeface="Arial" pitchFamily="34" charset="0"/>
                <a:ea typeface="Arial" pitchFamily="34" charset="-122"/>
                <a:cs typeface="Arial" pitchFamily="34" charset="-120"/>
              </a:rPr>
              <a:t>Magnetic, covert, multi-year — protecting AOG spares, high-value freight, carts and ground equipment.</a:t>
            </a:r>
            <a:endParaRPr lang="en-US" sz="1000" dirty="0"/>
          </a:p>
        </p:txBody>
      </p:sp>
      <p:sp>
        <p:nvSpPr>
          <p:cNvPr id="23" name="Shape 21"/>
          <p:cNvSpPr/>
          <p:nvPr/>
        </p:nvSpPr>
        <p:spPr>
          <a:xfrm>
            <a:off x="548640" y="4663440"/>
            <a:ext cx="11094415" cy="914400"/>
          </a:xfrm>
          <a:prstGeom prst="rect">
            <a:avLst/>
          </a:prstGeom>
          <a:solidFill>
            <a:srgbClr val="0B1B34"/>
          </a:solidFill>
          <a:ln/>
        </p:spPr>
      </p:sp>
      <p:sp>
        <p:nvSpPr>
          <p:cNvPr id="24" name="Text 22"/>
          <p:cNvSpPr txBox="1"/>
          <p:nvPr/>
        </p:nvSpPr>
        <p:spPr>
          <a:xfrm>
            <a:off x="777240" y="4663440"/>
            <a:ext cx="10637215" cy="914400"/>
          </a:xfrm>
          <a:prstGeom prst="rect">
            <a:avLst/>
          </a:prstGeom>
          <a:noFill/>
          <a:ln/>
        </p:spPr>
        <p:txBody>
          <a:bodyPr wrap="square" lIns="0" tIns="0" rIns="0" bIns="0" rtlCol="0" anchor="ctr"/>
          <a:lstStyle/>
          <a:p>
            <a:pPr indent="0" marL="0">
              <a:lnSpc>
                <a:spcPts val="1400"/>
              </a:lnSpc>
              <a:buNone/>
            </a:pPr>
            <a:r>
              <a:rPr lang="en-US" sz="1050" b="1" dirty="0">
                <a:solidFill>
                  <a:srgbClr val="F17400"/>
                </a:solidFill>
                <a:latin typeface="Arial" pitchFamily="34" charset="0"/>
                <a:ea typeface="Arial" pitchFamily="34" charset="-122"/>
                <a:cs typeface="Arial" pitchFamily="34" charset="-120"/>
              </a:rPr>
              <a:t>One app, one dashboard, one control-room view: </a:t>
            </a:r>
            <a:pPr indent="0" marL="0">
              <a:lnSpc>
                <a:spcPts val="1400"/>
              </a:lnSpc>
              <a:buNone/>
            </a:pPr>
            <a:r>
              <a:rPr lang="en-US" sz="1050" dirty="0">
                <a:solidFill>
                  <a:srgbClr val="A9B6CB"/>
                </a:solidFill>
                <a:latin typeface="Arial" pitchFamily="34" charset="0"/>
                <a:ea typeface="Arial" pitchFamily="34" charset="-122"/>
                <a:cs typeface="Arial" pitchFamily="34" charset="-120"/>
              </a:rPr>
              <a:t>every device across all three products reports into the same Mr Digitag Man platform — live map location, geo-zones, offline alerts and exportable reporting — and the same feed powers Nexas AI, so FlySafair's operations, security and commercial teams all see one picture, not three.</a:t>
            </a:r>
            <a:endParaRPr lang="en-US" sz="1050" dirty="0"/>
          </a:p>
        </p:txBody>
      </p:sp>
      <p:sp>
        <p:nvSpPr>
          <p:cNvPr id="25" name="Shape 23"/>
          <p:cNvSpPr/>
          <p:nvPr/>
        </p:nvSpPr>
        <p:spPr>
          <a:xfrm>
            <a:off x="0" y="6583680"/>
            <a:ext cx="12191695" cy="274320"/>
          </a:xfrm>
          <a:prstGeom prst="rect">
            <a:avLst/>
          </a:prstGeom>
          <a:solidFill>
            <a:srgbClr val="0B1B34"/>
          </a:solidFill>
          <a:ln/>
        </p:spPr>
      </p:sp>
      <p:sp>
        <p:nvSpPr>
          <p:cNvPr id="26" name="Text 24"/>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7" name="Text 25"/>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14 / 29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03 · THE SOLUTION</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Where Mr Digitag fills the gaps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Failure mode by failure mode: the gap FlySafair lives with today, the product that closes it, and what Nexas AI adds on top.</a:t>
            </a:r>
            <a:endParaRPr lang="en-US" sz="1150" dirty="0"/>
          </a:p>
        </p:txBody>
      </p:sp>
      <p:sp>
        <p:nvSpPr>
          <p:cNvPr id="5" name="Shape 3"/>
          <p:cNvSpPr/>
          <p:nvPr/>
        </p:nvSpPr>
        <p:spPr>
          <a:xfrm>
            <a:off x="548640" y="1444752"/>
            <a:ext cx="11091672" cy="347472"/>
          </a:xfrm>
          <a:prstGeom prst="rect">
            <a:avLst/>
          </a:prstGeom>
          <a:solidFill>
            <a:srgbClr val="0B1B34"/>
          </a:solidFill>
          <a:ln/>
        </p:spPr>
      </p:sp>
      <p:sp>
        <p:nvSpPr>
          <p:cNvPr id="6" name="Text 4"/>
          <p:cNvSpPr txBox="1"/>
          <p:nvPr/>
        </p:nvSpPr>
        <p:spPr>
          <a:xfrm>
            <a:off x="658368" y="1444752"/>
            <a:ext cx="2057400" cy="347472"/>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The failure mode</a:t>
            </a:r>
            <a:endParaRPr lang="en-US" sz="900" dirty="0"/>
          </a:p>
        </p:txBody>
      </p:sp>
      <p:sp>
        <p:nvSpPr>
          <p:cNvPr id="7" name="Text 5"/>
          <p:cNvSpPr txBox="1"/>
          <p:nvPr/>
        </p:nvSpPr>
        <p:spPr>
          <a:xfrm>
            <a:off x="2898648" y="1444752"/>
            <a:ext cx="2971800" cy="347472"/>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The gap today</a:t>
            </a:r>
            <a:endParaRPr lang="en-US" sz="900" dirty="0"/>
          </a:p>
        </p:txBody>
      </p:sp>
      <p:sp>
        <p:nvSpPr>
          <p:cNvPr id="8" name="Text 6"/>
          <p:cNvSpPr txBox="1"/>
          <p:nvPr/>
        </p:nvSpPr>
        <p:spPr>
          <a:xfrm>
            <a:off x="6053328" y="1444752"/>
            <a:ext cx="2971800" cy="347472"/>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The Digitag answer</a:t>
            </a:r>
            <a:endParaRPr lang="en-US" sz="900" dirty="0"/>
          </a:p>
        </p:txBody>
      </p:sp>
      <p:sp>
        <p:nvSpPr>
          <p:cNvPr id="9" name="Text 7"/>
          <p:cNvSpPr txBox="1"/>
          <p:nvPr/>
        </p:nvSpPr>
        <p:spPr>
          <a:xfrm>
            <a:off x="9208008" y="1444752"/>
            <a:ext cx="2359152" cy="347472"/>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What Nexas AI adds</a:t>
            </a:r>
            <a:endParaRPr lang="en-US" sz="900" dirty="0"/>
          </a:p>
        </p:txBody>
      </p:sp>
      <p:sp>
        <p:nvSpPr>
          <p:cNvPr id="10" name="Text 8"/>
          <p:cNvSpPr txBox="1"/>
          <p:nvPr/>
        </p:nvSpPr>
        <p:spPr>
          <a:xfrm>
            <a:off x="658368" y="1792224"/>
            <a:ext cx="20574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Lost &amp; delayed</a:t>
            </a:r>
            <a:endParaRPr lang="en-US" sz="880" dirty="0"/>
          </a:p>
          <a:p>
            <a:pPr algn="l" indent="0" marL="0">
              <a:buNone/>
            </a:pPr>
            <a:r>
              <a:rPr lang="en-US" sz="880" dirty="0">
                <a:solidFill>
                  <a:srgbClr val="5E6B7E"/>
                </a:solidFill>
                <a:latin typeface="Arial" pitchFamily="34" charset="0"/>
                <a:ea typeface="Arial" pitchFamily="34" charset="-122"/>
                <a:cs typeface="Arial" pitchFamily="34" charset="-120"/>
              </a:rPr>
              <a:t>±78 bags/day</a:t>
            </a:r>
            <a:endParaRPr lang="en-US" sz="880" dirty="0"/>
          </a:p>
        </p:txBody>
      </p:sp>
      <p:sp>
        <p:nvSpPr>
          <p:cNvPr id="11" name="Text 9"/>
          <p:cNvSpPr txBox="1"/>
          <p:nvPr/>
        </p:nvSpPr>
        <p:spPr>
          <a:xfrm>
            <a:off x="2898648" y="1792224"/>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Barcode scans stop at the belt. Passengers queue at a desk to ask a question nobody can answer: “where is my bag?”</a:t>
            </a:r>
            <a:endParaRPr lang="en-US" sz="880" dirty="0"/>
          </a:p>
        </p:txBody>
      </p:sp>
      <p:sp>
        <p:nvSpPr>
          <p:cNvPr id="12" name="Text 10"/>
          <p:cNvSpPr txBox="1"/>
          <p:nvPr/>
        </p:nvSpPr>
        <p:spPr>
          <a:xfrm>
            <a:off x="6053328" y="1792224"/>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D-Sticker — live hourly position shared straight into baggage tracing; 26% faster recovery, proven at 36 airlines.</a:t>
            </a:r>
            <a:endParaRPr lang="en-US" sz="880" dirty="0"/>
          </a:p>
        </p:txBody>
      </p:sp>
      <p:sp>
        <p:nvSpPr>
          <p:cNvPr id="13" name="Text 11"/>
          <p:cNvSpPr txBox="1"/>
          <p:nvPr/>
        </p:nvSpPr>
        <p:spPr>
          <a:xfrm>
            <a:off x="9208008" y="1792224"/>
            <a:ext cx="2359152"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NEXA answers “where is my bag?” from the live Digitag feed; Amber runs each recovery as a tracked mission.</a:t>
            </a:r>
            <a:endParaRPr lang="en-US" sz="880" dirty="0"/>
          </a:p>
        </p:txBody>
      </p:sp>
      <p:sp>
        <p:nvSpPr>
          <p:cNvPr id="14" name="Shape 12"/>
          <p:cNvSpPr/>
          <p:nvPr/>
        </p:nvSpPr>
        <p:spPr>
          <a:xfrm>
            <a:off x="548640" y="2871216"/>
            <a:ext cx="11091672" cy="0"/>
          </a:xfrm>
          <a:prstGeom prst="line">
            <a:avLst/>
          </a:prstGeom>
          <a:noFill/>
          <a:ln w="9525">
            <a:solidFill>
              <a:srgbClr val="D9E0EA"/>
            </a:solidFill>
            <a:prstDash val="solid"/>
          </a:ln>
        </p:spPr>
      </p:sp>
      <p:sp>
        <p:nvSpPr>
          <p:cNvPr id="15" name="Text 13"/>
          <p:cNvSpPr txBox="1"/>
          <p:nvPr/>
        </p:nvSpPr>
        <p:spPr>
          <a:xfrm>
            <a:off x="658368" y="2871216"/>
            <a:ext cx="20574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Tampered &amp; pilfered</a:t>
            </a:r>
            <a:endParaRPr lang="en-US" sz="880" dirty="0"/>
          </a:p>
          <a:p>
            <a:pPr algn="l" indent="0" marL="0">
              <a:buNone/>
            </a:pPr>
            <a:r>
              <a:rPr lang="en-US" sz="880" dirty="0">
                <a:solidFill>
                  <a:srgbClr val="5E6B7E"/>
                </a:solidFill>
                <a:latin typeface="Arial" pitchFamily="34" charset="0"/>
                <a:ea typeface="Arial" pitchFamily="34" charset="-122"/>
                <a:cs typeface="Arial" pitchFamily="34" charset="-120"/>
              </a:rPr>
              <a:t>±14 claims/day</a:t>
            </a:r>
            <a:endParaRPr lang="en-US" sz="880" dirty="0"/>
          </a:p>
        </p:txBody>
      </p:sp>
      <p:sp>
        <p:nvSpPr>
          <p:cNvPr id="16" name="Text 14"/>
          <p:cNvSpPr txBox="1"/>
          <p:nvPr/>
        </p:nvSpPr>
        <p:spPr>
          <a:xfrm>
            <a:off x="2898648" y="2871216"/>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No evidence of where a bag was opened — claims default to payout, and the thief's window stays invisible.</a:t>
            </a:r>
            <a:endParaRPr lang="en-US" sz="880" dirty="0"/>
          </a:p>
        </p:txBody>
      </p:sp>
      <p:sp>
        <p:nvSpPr>
          <p:cNvPr id="17" name="Text 15"/>
          <p:cNvSpPr txBox="1"/>
          <p:nvPr/>
        </p:nvSpPr>
        <p:spPr>
          <a:xfrm>
            <a:off x="6053328" y="2871216"/>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D-Sticker + D-Pod — a timestamped location trail turns “somewhere between JNB and CPT” into “this zone, this shift”.</a:t>
            </a:r>
            <a:endParaRPr lang="en-US" sz="880" dirty="0"/>
          </a:p>
        </p:txBody>
      </p:sp>
      <p:sp>
        <p:nvSpPr>
          <p:cNvPr id="18" name="Text 16"/>
          <p:cNvSpPr txBox="1"/>
          <p:nvPr/>
        </p:nvSpPr>
        <p:spPr>
          <a:xfrm>
            <a:off x="9208008" y="2871216"/>
            <a:ext cx="2359152"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Sentinel-X anomaly triage flags pattern breaks; Document Studio builds evidence-grade packs for ACSA, insurers, SAPS.</a:t>
            </a:r>
            <a:endParaRPr lang="en-US" sz="880" dirty="0"/>
          </a:p>
        </p:txBody>
      </p:sp>
      <p:sp>
        <p:nvSpPr>
          <p:cNvPr id="19" name="Shape 17"/>
          <p:cNvSpPr/>
          <p:nvPr/>
        </p:nvSpPr>
        <p:spPr>
          <a:xfrm>
            <a:off x="548640" y="3950208"/>
            <a:ext cx="11091672" cy="0"/>
          </a:xfrm>
          <a:prstGeom prst="line">
            <a:avLst/>
          </a:prstGeom>
          <a:noFill/>
          <a:ln w="9525">
            <a:solidFill>
              <a:srgbClr val="D9E0EA"/>
            </a:solidFill>
            <a:prstDash val="solid"/>
          </a:ln>
        </p:spPr>
      </p:sp>
      <p:sp>
        <p:nvSpPr>
          <p:cNvPr id="20" name="Text 18"/>
          <p:cNvSpPr txBox="1"/>
          <p:nvPr/>
        </p:nvSpPr>
        <p:spPr>
          <a:xfrm>
            <a:off x="658368" y="3950208"/>
            <a:ext cx="20574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Never arrives</a:t>
            </a:r>
            <a:endParaRPr lang="en-US" sz="880" dirty="0"/>
          </a:p>
          <a:p>
            <a:pPr algn="l" indent="0" marL="0">
              <a:buNone/>
            </a:pPr>
            <a:r>
              <a:rPr lang="en-US" sz="880" dirty="0">
                <a:solidFill>
                  <a:srgbClr val="5E6B7E"/>
                </a:solidFill>
                <a:latin typeface="Arial" pitchFamily="34" charset="0"/>
                <a:ea typeface="Arial" pitchFamily="34" charset="-122"/>
                <a:cs typeface="Arial" pitchFamily="34" charset="-120"/>
              </a:rPr>
              <a:t>±3 bags/day</a:t>
            </a:r>
            <a:endParaRPr lang="en-US" sz="880" dirty="0"/>
          </a:p>
        </p:txBody>
      </p:sp>
      <p:sp>
        <p:nvSpPr>
          <p:cNvPr id="21" name="Text 19"/>
          <p:cNvSpPr txBox="1"/>
          <p:nvPr/>
        </p:nvSpPr>
        <p:spPr>
          <a:xfrm>
            <a:off x="2898648" y="3950208"/>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R11,240 per bag in compensation — and a passenger, and their story, lost for life.</a:t>
            </a:r>
            <a:endParaRPr lang="en-US" sz="880" dirty="0"/>
          </a:p>
        </p:txBody>
      </p:sp>
      <p:sp>
        <p:nvSpPr>
          <p:cNvPr id="22" name="Text 20"/>
          <p:cNvSpPr txBox="1"/>
          <p:nvPr/>
        </p:nvSpPr>
        <p:spPr>
          <a:xfrm>
            <a:off x="6053328" y="3950208"/>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D-Sticker keeps reporting for 8–12 weeks — covering the entire tracing window, long after the flight has landed.</a:t>
            </a:r>
            <a:endParaRPr lang="en-US" sz="880" dirty="0"/>
          </a:p>
        </p:txBody>
      </p:sp>
      <p:sp>
        <p:nvSpPr>
          <p:cNvPr id="23" name="Text 21"/>
          <p:cNvSpPr txBox="1"/>
          <p:nvPr/>
        </p:nvSpPr>
        <p:spPr>
          <a:xfrm>
            <a:off x="9208008" y="3950208"/>
            <a:ext cx="2359152"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Claims triaged, correspondence drafted by legal and support agents, every case tracked in Mission Control.</a:t>
            </a:r>
            <a:endParaRPr lang="en-US" sz="880" dirty="0"/>
          </a:p>
        </p:txBody>
      </p:sp>
      <p:sp>
        <p:nvSpPr>
          <p:cNvPr id="24" name="Shape 22"/>
          <p:cNvSpPr/>
          <p:nvPr/>
        </p:nvSpPr>
        <p:spPr>
          <a:xfrm>
            <a:off x="548640" y="5029200"/>
            <a:ext cx="11091672" cy="0"/>
          </a:xfrm>
          <a:prstGeom prst="line">
            <a:avLst/>
          </a:prstGeom>
          <a:noFill/>
          <a:ln w="9525">
            <a:solidFill>
              <a:srgbClr val="D9E0EA"/>
            </a:solidFill>
            <a:prstDash val="solid"/>
          </a:ln>
        </p:spPr>
      </p:sp>
      <p:sp>
        <p:nvSpPr>
          <p:cNvPr id="25" name="Text 23"/>
          <p:cNvSpPr txBox="1"/>
          <p:nvPr/>
        </p:nvSpPr>
        <p:spPr>
          <a:xfrm>
            <a:off x="658368" y="5029200"/>
            <a:ext cx="20574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Invisible company assets</a:t>
            </a:r>
            <a:endParaRPr lang="en-US" sz="880" dirty="0"/>
          </a:p>
        </p:txBody>
      </p:sp>
      <p:sp>
        <p:nvSpPr>
          <p:cNvPr id="26" name="Text 24"/>
          <p:cNvSpPr txBox="1"/>
          <p:nvPr/>
        </p:nvSpPr>
        <p:spPr>
          <a:xfrm>
            <a:off x="2898648" y="5029200"/>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Spares, carts and GSE go dark between stations — found by phoning around, not by looking at a screen.</a:t>
            </a:r>
            <a:endParaRPr lang="en-US" sz="880" dirty="0"/>
          </a:p>
        </p:txBody>
      </p:sp>
      <p:sp>
        <p:nvSpPr>
          <p:cNvPr id="27" name="Text 25"/>
          <p:cNvSpPr txBox="1"/>
          <p:nvPr/>
        </p:nvSpPr>
        <p:spPr>
          <a:xfrm>
            <a:off x="6053328" y="5029200"/>
            <a:ext cx="2971800"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D-Pod — covert, magnetic, multi-year visibility on every high-value asset FlySafair owns or moves.</a:t>
            </a:r>
            <a:endParaRPr lang="en-US" sz="880" dirty="0"/>
          </a:p>
        </p:txBody>
      </p:sp>
      <p:sp>
        <p:nvSpPr>
          <p:cNvPr id="28" name="Text 26"/>
          <p:cNvSpPr txBox="1"/>
          <p:nvPr/>
        </p:nvSpPr>
        <p:spPr>
          <a:xfrm>
            <a:off x="9208008" y="5029200"/>
            <a:ext cx="2359152" cy="1078992"/>
          </a:xfrm>
          <a:prstGeom prst="rect">
            <a:avLst/>
          </a:prstGeom>
          <a:noFill/>
          <a:ln/>
        </p:spPr>
        <p:txBody>
          <a:bodyPr wrap="square" lIns="0" tIns="0" rIns="0" bIns="0" rtlCol="0" anchor="ctr"/>
          <a:lstStyle/>
          <a:p>
            <a:pPr algn="l" indent="0" marL="0">
              <a:buNone/>
            </a:pPr>
            <a:r>
              <a:rPr lang="en-US" sz="880" dirty="0">
                <a:solidFill>
                  <a:srgbClr val="5E6B7E"/>
                </a:solidFill>
                <a:latin typeface="Arial" pitchFamily="34" charset="0"/>
                <a:ea typeface="Arial" pitchFamily="34" charset="-122"/>
                <a:cs typeface="Arial" pitchFamily="34" charset="-120"/>
              </a:rPr>
              <a:t>Analytics dashboards on every tagged asset: what moved, what sat idle, what left a geofence it never should have.</a:t>
            </a:r>
            <a:endParaRPr lang="en-US" sz="880" dirty="0"/>
          </a:p>
        </p:txBody>
      </p:sp>
      <p:sp>
        <p:nvSpPr>
          <p:cNvPr id="29" name="Shape 27"/>
          <p:cNvSpPr/>
          <p:nvPr/>
        </p:nvSpPr>
        <p:spPr>
          <a:xfrm>
            <a:off x="548640" y="6108192"/>
            <a:ext cx="11091672" cy="0"/>
          </a:xfrm>
          <a:prstGeom prst="line">
            <a:avLst/>
          </a:prstGeom>
          <a:noFill/>
          <a:ln w="9525">
            <a:solidFill>
              <a:srgbClr val="D9E0EA"/>
            </a:solidFill>
            <a:prstDash val="solid"/>
          </a:ln>
        </p:spPr>
      </p:sp>
      <p:sp>
        <p:nvSpPr>
          <p:cNvPr id="30" name="Text 28"/>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50" i="1" dirty="0">
                <a:solidFill>
                  <a:srgbClr val="8A96A8"/>
                </a:solidFill>
                <a:latin typeface="Arial" pitchFamily="34" charset="0"/>
                <a:ea typeface="Arial" pitchFamily="34" charset="-122"/>
                <a:cs typeface="Arial" pitchFamily="34" charset="-120"/>
              </a:rPr>
              <a:t>Every cell above is covered by the two commercial options that follow — no separate security budget required.</a:t>
            </a:r>
            <a:endParaRPr lang="en-US" sz="950" dirty="0"/>
          </a:p>
        </p:txBody>
      </p:sp>
      <p:sp>
        <p:nvSpPr>
          <p:cNvPr id="31" name="Shape 29"/>
          <p:cNvSpPr/>
          <p:nvPr/>
        </p:nvSpPr>
        <p:spPr>
          <a:xfrm>
            <a:off x="0" y="6583680"/>
            <a:ext cx="12191695" cy="274320"/>
          </a:xfrm>
          <a:prstGeom prst="rect">
            <a:avLst/>
          </a:prstGeom>
          <a:solidFill>
            <a:srgbClr val="0B1B34"/>
          </a:solidFill>
          <a:ln/>
        </p:spPr>
      </p:sp>
      <p:sp>
        <p:nvSpPr>
          <p:cNvPr id="32" name="Text 30"/>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3" name="Text 31"/>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15 / 29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04 · THE TWO COMMERCIAL ROUTES</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Option 1 — Smart vending at every airport &amp; check-in</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Self-service GPS vending stations at all FlySafair airports — beside check-in counters, ticket-sales outlets and departures concourses.</a:t>
            </a:r>
            <a:endParaRPr lang="en-US" sz="1150" dirty="0"/>
          </a:p>
        </p:txBody>
      </p:sp>
      <p:sp>
        <p:nvSpPr>
          <p:cNvPr id="5" name="Text 3"/>
          <p:cNvSpPr txBox="1"/>
          <p:nvPr/>
        </p:nvSpPr>
        <p:spPr>
          <a:xfrm>
            <a:off x="548640" y="1444752"/>
            <a:ext cx="36576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HOW IT WORKS</a:t>
            </a:r>
            <a:endParaRPr lang="en-US" sz="1000" dirty="0"/>
          </a:p>
        </p:txBody>
      </p:sp>
      <p:sp>
        <p:nvSpPr>
          <p:cNvPr id="6" name="Text 4"/>
          <p:cNvSpPr txBox="1"/>
          <p:nvPr/>
        </p:nvSpPr>
        <p:spPr>
          <a:xfrm>
            <a:off x="548640" y="1737360"/>
            <a:ext cx="4709160" cy="3108960"/>
          </a:xfrm>
          <a:prstGeom prst="rect">
            <a:avLst/>
          </a:prstGeom>
          <a:noFill/>
          <a:ln/>
        </p:spPr>
        <p:txBody>
          <a:bodyPr wrap="square" lIns="0" tIns="0" rIns="0" bIns="0" rtlCol="0" anchor="t"/>
          <a:lstStyle/>
          <a:p>
            <a:pPr indent="0" marL="0">
              <a:lnSpc>
                <a:spcPts val="1250"/>
              </a:lnSpc>
              <a:buNone/>
            </a:pPr>
            <a:r>
              <a:rPr lang="en-US" sz="95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950" dirty="0">
                <a:solidFill>
                  <a:srgbClr val="5E6B7E"/>
                </a:solidFill>
                <a:latin typeface="Arial" pitchFamily="34" charset="0"/>
                <a:ea typeface="Arial" pitchFamily="34" charset="-122"/>
                <a:cs typeface="Arial" pitchFamily="34" charset="-120"/>
              </a:rPr>
              <a:t>±40 smart vending stations across the 11-airport network — sized to each airport's daily departures</a:t>
            </a:r>
            <a:endParaRPr lang="en-US" sz="950" dirty="0"/>
          </a:p>
          <a:p>
            <a:pPr indent="0" marL="0">
              <a:lnSpc>
                <a:spcPts val="1250"/>
              </a:lnSpc>
              <a:buNone/>
            </a:pPr>
            <a:r>
              <a:rPr lang="en-US" sz="95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950" dirty="0">
                <a:solidFill>
                  <a:srgbClr val="5E6B7E"/>
                </a:solidFill>
                <a:latin typeface="Arial" pitchFamily="34" charset="0"/>
                <a:ea typeface="Arial" pitchFamily="34" charset="-122"/>
                <a:cs typeface="Arial" pitchFamily="34" charset="-120"/>
              </a:rPr>
              <a:t>Passenger pays R500 at the kiosk; sticker is on the bag in under a minute, live in the app before boarding</a:t>
            </a:r>
            <a:endParaRPr lang="en-US" sz="950" dirty="0"/>
          </a:p>
          <a:p>
            <a:pPr indent="0" marL="0">
              <a:lnSpc>
                <a:spcPts val="1250"/>
              </a:lnSpc>
              <a:buNone/>
            </a:pPr>
            <a:r>
              <a:rPr lang="en-US" sz="95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950" dirty="0">
                <a:solidFill>
                  <a:srgbClr val="5E6B7E"/>
                </a:solidFill>
                <a:latin typeface="Arial" pitchFamily="34" charset="0"/>
                <a:ea typeface="Arial" pitchFamily="34" charset="-122"/>
                <a:cs typeface="Arial" pitchFamily="34" charset="-120"/>
              </a:rPr>
              <a:t>Sells to every traveller in the terminal — not only FlySafair passengers: pure upside walk-up trade</a:t>
            </a:r>
            <a:endParaRPr lang="en-US" sz="950" dirty="0"/>
          </a:p>
          <a:p>
            <a:pPr indent="0" marL="0">
              <a:lnSpc>
                <a:spcPts val="1250"/>
              </a:lnSpc>
              <a:buNone/>
            </a:pPr>
            <a:r>
              <a:rPr lang="en-US" sz="95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950" dirty="0">
                <a:solidFill>
                  <a:srgbClr val="5E6B7E"/>
                </a:solidFill>
                <a:latin typeface="Arial" pitchFamily="34" charset="0"/>
                <a:ea typeface="Arial" pitchFamily="34" charset="-122"/>
                <a:cs typeface="Arial" pitchFamily="34" charset="-120"/>
              </a:rPr>
              <a:t>Zero staffing — stations stocked and serviced by Mr Digitag Man under SLA</a:t>
            </a:r>
            <a:endParaRPr lang="en-US" sz="950" dirty="0"/>
          </a:p>
          <a:p>
            <a:pPr indent="0" marL="0">
              <a:lnSpc>
                <a:spcPts val="1250"/>
              </a:lnSpc>
              <a:buNone/>
            </a:pPr>
            <a:r>
              <a:rPr lang="en-US" sz="95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950" dirty="0">
                <a:solidFill>
                  <a:srgbClr val="5E6B7E"/>
                </a:solidFill>
                <a:latin typeface="Arial" pitchFamily="34" charset="0"/>
                <a:ea typeface="Arial" pitchFamily="34" charset="-122"/>
                <a:cs typeface="Arial" pitchFamily="34" charset="-120"/>
              </a:rPr>
              <a:t>FlySafair earns margin on every unit sold at its check-in zones; station capex carried by the programme</a:t>
            </a:r>
            <a:endParaRPr lang="en-US" sz="950" dirty="0"/>
          </a:p>
        </p:txBody>
      </p:sp>
      <p:sp>
        <p:nvSpPr>
          <p:cNvPr id="7" name="Text 5"/>
          <p:cNvSpPr txBox="1"/>
          <p:nvPr/>
        </p:nvSpPr>
        <p:spPr>
          <a:xfrm>
            <a:off x="5532120" y="1444752"/>
            <a:ext cx="45720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THE REVENUE, MODELLED</a:t>
            </a:r>
            <a:endParaRPr lang="en-US" sz="1000" dirty="0"/>
          </a:p>
        </p:txBody>
      </p:sp>
      <p:sp>
        <p:nvSpPr>
          <p:cNvPr id="8" name="Shape 6"/>
          <p:cNvSpPr/>
          <p:nvPr/>
        </p:nvSpPr>
        <p:spPr>
          <a:xfrm>
            <a:off x="5532120" y="1737360"/>
            <a:ext cx="6108192" cy="365760"/>
          </a:xfrm>
          <a:prstGeom prst="rect">
            <a:avLst/>
          </a:prstGeom>
          <a:solidFill>
            <a:srgbClr val="0B1B34"/>
          </a:solidFill>
          <a:ln/>
        </p:spPr>
      </p:sp>
      <p:sp>
        <p:nvSpPr>
          <p:cNvPr id="9" name="Text 7"/>
          <p:cNvSpPr txBox="1"/>
          <p:nvPr/>
        </p:nvSpPr>
        <p:spPr>
          <a:xfrm>
            <a:off x="5641848" y="1737360"/>
            <a:ext cx="1143000" cy="365760"/>
          </a:xfrm>
          <a:prstGeom prst="rect">
            <a:avLst/>
          </a:prstGeom>
          <a:noFill/>
          <a:ln/>
        </p:spPr>
        <p:txBody>
          <a:bodyPr wrap="square" lIns="0" tIns="0" rIns="0" bIns="0" rtlCol="0" anchor="ctr"/>
          <a:lstStyle/>
          <a:p>
            <a:pPr algn="l" indent="0" marL="0">
              <a:buNone/>
            </a:pPr>
            <a:r>
              <a:rPr lang="en-US" sz="820" b="1" dirty="0">
                <a:solidFill>
                  <a:srgbClr val="FFFFFF"/>
                </a:solidFill>
                <a:latin typeface="Arial" pitchFamily="34" charset="0"/>
                <a:ea typeface="Arial" pitchFamily="34" charset="-122"/>
                <a:cs typeface="Arial" pitchFamily="34" charset="-120"/>
              </a:rPr>
              <a:t>Opt-in</a:t>
            </a:r>
            <a:endParaRPr lang="en-US" sz="820" dirty="0"/>
          </a:p>
        </p:txBody>
      </p:sp>
      <p:sp>
        <p:nvSpPr>
          <p:cNvPr id="10" name="Text 8"/>
          <p:cNvSpPr txBox="1"/>
          <p:nvPr/>
        </p:nvSpPr>
        <p:spPr>
          <a:xfrm>
            <a:off x="6967728" y="1737360"/>
            <a:ext cx="841248"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Units/yr</a:t>
            </a:r>
            <a:endParaRPr lang="en-US" sz="820" dirty="0"/>
          </a:p>
        </p:txBody>
      </p:sp>
      <p:sp>
        <p:nvSpPr>
          <p:cNvPr id="11" name="Text 9"/>
          <p:cNvSpPr txBox="1"/>
          <p:nvPr/>
        </p:nvSpPr>
        <p:spPr>
          <a:xfrm>
            <a:off x="7991856" y="1737360"/>
            <a:ext cx="877824"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Per day</a:t>
            </a:r>
            <a:endParaRPr lang="en-US" sz="820" dirty="0"/>
          </a:p>
        </p:txBody>
      </p:sp>
      <p:sp>
        <p:nvSpPr>
          <p:cNvPr id="12" name="Text 10"/>
          <p:cNvSpPr txBox="1"/>
          <p:nvPr/>
        </p:nvSpPr>
        <p:spPr>
          <a:xfrm>
            <a:off x="9052560" y="1737360"/>
            <a:ext cx="786384"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Month</a:t>
            </a:r>
            <a:endParaRPr lang="en-US" sz="820" dirty="0"/>
          </a:p>
        </p:txBody>
      </p:sp>
      <p:sp>
        <p:nvSpPr>
          <p:cNvPr id="13" name="Text 11"/>
          <p:cNvSpPr txBox="1"/>
          <p:nvPr/>
        </p:nvSpPr>
        <p:spPr>
          <a:xfrm>
            <a:off x="10021824" y="1737360"/>
            <a:ext cx="786384"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Year 1</a:t>
            </a:r>
            <a:endParaRPr lang="en-US" sz="820" dirty="0"/>
          </a:p>
        </p:txBody>
      </p:sp>
      <p:sp>
        <p:nvSpPr>
          <p:cNvPr id="14" name="Text 12"/>
          <p:cNvSpPr txBox="1"/>
          <p:nvPr/>
        </p:nvSpPr>
        <p:spPr>
          <a:xfrm>
            <a:off x="10991088" y="1737360"/>
            <a:ext cx="576072"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5 yrs</a:t>
            </a:r>
            <a:endParaRPr lang="en-US" sz="820" dirty="0"/>
          </a:p>
        </p:txBody>
      </p:sp>
      <p:sp>
        <p:nvSpPr>
          <p:cNvPr id="15" name="Text 13"/>
          <p:cNvSpPr txBox="1"/>
          <p:nvPr/>
        </p:nvSpPr>
        <p:spPr>
          <a:xfrm>
            <a:off x="5641848" y="2103120"/>
            <a:ext cx="1143000" cy="475488"/>
          </a:xfrm>
          <a:prstGeom prst="rect">
            <a:avLst/>
          </a:prstGeom>
          <a:noFill/>
          <a:ln/>
        </p:spPr>
        <p:txBody>
          <a:bodyPr wrap="square" lIns="0" tIns="0" rIns="0" bIns="0" rtlCol="0" anchor="ctr"/>
          <a:lstStyle/>
          <a:p>
            <a:pPr algn="l" indent="0" marL="0">
              <a:buNone/>
            </a:pPr>
            <a:r>
              <a:rPr lang="en-US" sz="880" dirty="0">
                <a:solidFill>
                  <a:srgbClr val="13294B"/>
                </a:solidFill>
                <a:latin typeface="Arial" pitchFamily="34" charset="0"/>
                <a:ea typeface="Arial" pitchFamily="34" charset="-122"/>
                <a:cs typeface="Arial" pitchFamily="34" charset="-120"/>
              </a:rPr>
              <a:t>Conservative 2%</a:t>
            </a:r>
            <a:endParaRPr lang="en-US" sz="880" dirty="0"/>
          </a:p>
        </p:txBody>
      </p:sp>
      <p:sp>
        <p:nvSpPr>
          <p:cNvPr id="16" name="Text 14"/>
          <p:cNvSpPr txBox="1"/>
          <p:nvPr/>
        </p:nvSpPr>
        <p:spPr>
          <a:xfrm>
            <a:off x="6967728" y="2103120"/>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210,000</a:t>
            </a:r>
            <a:endParaRPr lang="en-US" sz="880" dirty="0"/>
          </a:p>
        </p:txBody>
      </p:sp>
      <p:sp>
        <p:nvSpPr>
          <p:cNvPr id="17" name="Text 15"/>
          <p:cNvSpPr txBox="1"/>
          <p:nvPr/>
        </p:nvSpPr>
        <p:spPr>
          <a:xfrm>
            <a:off x="7991856" y="2103120"/>
            <a:ext cx="87782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R287,700</a:t>
            </a:r>
            <a:endParaRPr lang="en-US" sz="880" dirty="0"/>
          </a:p>
        </p:txBody>
      </p:sp>
      <p:sp>
        <p:nvSpPr>
          <p:cNvPr id="18" name="Text 16"/>
          <p:cNvSpPr txBox="1"/>
          <p:nvPr/>
        </p:nvSpPr>
        <p:spPr>
          <a:xfrm>
            <a:off x="9052560" y="2103120"/>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R8.75M</a:t>
            </a:r>
            <a:endParaRPr lang="en-US" sz="880" dirty="0"/>
          </a:p>
        </p:txBody>
      </p:sp>
      <p:sp>
        <p:nvSpPr>
          <p:cNvPr id="19" name="Text 17"/>
          <p:cNvSpPr txBox="1"/>
          <p:nvPr/>
        </p:nvSpPr>
        <p:spPr>
          <a:xfrm>
            <a:off x="10021824" y="2103120"/>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R105M</a:t>
            </a:r>
            <a:endParaRPr lang="en-US" sz="880" dirty="0"/>
          </a:p>
        </p:txBody>
      </p:sp>
      <p:sp>
        <p:nvSpPr>
          <p:cNvPr id="20" name="Text 18"/>
          <p:cNvSpPr txBox="1"/>
          <p:nvPr/>
        </p:nvSpPr>
        <p:spPr>
          <a:xfrm>
            <a:off x="10991088" y="2103120"/>
            <a:ext cx="576072"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R592M</a:t>
            </a:r>
            <a:endParaRPr lang="en-US" sz="880" dirty="0"/>
          </a:p>
        </p:txBody>
      </p:sp>
      <p:sp>
        <p:nvSpPr>
          <p:cNvPr id="21" name="Shape 19"/>
          <p:cNvSpPr/>
          <p:nvPr/>
        </p:nvSpPr>
        <p:spPr>
          <a:xfrm>
            <a:off x="5532120" y="2578608"/>
            <a:ext cx="6108192" cy="0"/>
          </a:xfrm>
          <a:prstGeom prst="line">
            <a:avLst/>
          </a:prstGeom>
          <a:noFill/>
          <a:ln w="9525">
            <a:solidFill>
              <a:srgbClr val="D9E0EA"/>
            </a:solidFill>
            <a:prstDash val="solid"/>
          </a:ln>
        </p:spPr>
      </p:sp>
      <p:sp>
        <p:nvSpPr>
          <p:cNvPr id="22" name="Text 20"/>
          <p:cNvSpPr txBox="1"/>
          <p:nvPr/>
        </p:nvSpPr>
        <p:spPr>
          <a:xfrm>
            <a:off x="5641848" y="2578608"/>
            <a:ext cx="1143000" cy="475488"/>
          </a:xfrm>
          <a:prstGeom prst="rect">
            <a:avLst/>
          </a:prstGeom>
          <a:noFill/>
          <a:ln/>
        </p:spPr>
        <p:txBody>
          <a:bodyPr wrap="square" lIns="0" tIns="0" rIns="0" bIns="0" rtlCol="0" anchor="ctr"/>
          <a:lstStyle/>
          <a:p>
            <a:pPr algn="l" indent="0" marL="0">
              <a:buNone/>
            </a:pPr>
            <a:r>
              <a:rPr lang="en-US" sz="880" dirty="0">
                <a:solidFill>
                  <a:srgbClr val="13294B"/>
                </a:solidFill>
                <a:latin typeface="Arial" pitchFamily="34" charset="0"/>
                <a:ea typeface="Arial" pitchFamily="34" charset="-122"/>
                <a:cs typeface="Arial" pitchFamily="34" charset="-120"/>
              </a:rPr>
              <a:t>Moderate 5%</a:t>
            </a:r>
            <a:endParaRPr lang="en-US" sz="880" dirty="0"/>
          </a:p>
        </p:txBody>
      </p:sp>
      <p:sp>
        <p:nvSpPr>
          <p:cNvPr id="23" name="Text 21"/>
          <p:cNvSpPr txBox="1"/>
          <p:nvPr/>
        </p:nvSpPr>
        <p:spPr>
          <a:xfrm>
            <a:off x="6967728" y="2578608"/>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525,000</a:t>
            </a:r>
            <a:endParaRPr lang="en-US" sz="880" dirty="0"/>
          </a:p>
        </p:txBody>
      </p:sp>
      <p:sp>
        <p:nvSpPr>
          <p:cNvPr id="24" name="Text 22"/>
          <p:cNvSpPr txBox="1"/>
          <p:nvPr/>
        </p:nvSpPr>
        <p:spPr>
          <a:xfrm>
            <a:off x="7991856" y="2578608"/>
            <a:ext cx="87782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R719,200</a:t>
            </a:r>
            <a:endParaRPr lang="en-US" sz="880" dirty="0"/>
          </a:p>
        </p:txBody>
      </p:sp>
      <p:sp>
        <p:nvSpPr>
          <p:cNvPr id="25" name="Text 23"/>
          <p:cNvSpPr txBox="1"/>
          <p:nvPr/>
        </p:nvSpPr>
        <p:spPr>
          <a:xfrm>
            <a:off x="9052560" y="2578608"/>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R21.9M</a:t>
            </a:r>
            <a:endParaRPr lang="en-US" sz="880" dirty="0"/>
          </a:p>
        </p:txBody>
      </p:sp>
      <p:sp>
        <p:nvSpPr>
          <p:cNvPr id="26" name="Text 24"/>
          <p:cNvSpPr txBox="1"/>
          <p:nvPr/>
        </p:nvSpPr>
        <p:spPr>
          <a:xfrm>
            <a:off x="10021824" y="2578608"/>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R262.5M</a:t>
            </a:r>
            <a:endParaRPr lang="en-US" sz="880" dirty="0"/>
          </a:p>
        </p:txBody>
      </p:sp>
      <p:sp>
        <p:nvSpPr>
          <p:cNvPr id="27" name="Text 25"/>
          <p:cNvSpPr txBox="1"/>
          <p:nvPr/>
        </p:nvSpPr>
        <p:spPr>
          <a:xfrm>
            <a:off x="10991088" y="2578608"/>
            <a:ext cx="576072"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R1.48B</a:t>
            </a:r>
            <a:endParaRPr lang="en-US" sz="880" dirty="0"/>
          </a:p>
        </p:txBody>
      </p:sp>
      <p:sp>
        <p:nvSpPr>
          <p:cNvPr id="28" name="Shape 26"/>
          <p:cNvSpPr/>
          <p:nvPr/>
        </p:nvSpPr>
        <p:spPr>
          <a:xfrm>
            <a:off x="5532120" y="3054096"/>
            <a:ext cx="6108192" cy="0"/>
          </a:xfrm>
          <a:prstGeom prst="line">
            <a:avLst/>
          </a:prstGeom>
          <a:noFill/>
          <a:ln w="9525">
            <a:solidFill>
              <a:srgbClr val="D9E0EA"/>
            </a:solidFill>
            <a:prstDash val="solid"/>
          </a:ln>
        </p:spPr>
      </p:sp>
      <p:sp>
        <p:nvSpPr>
          <p:cNvPr id="29" name="Shape 27"/>
          <p:cNvSpPr/>
          <p:nvPr/>
        </p:nvSpPr>
        <p:spPr>
          <a:xfrm>
            <a:off x="5532120" y="3054096"/>
            <a:ext cx="6108192" cy="475488"/>
          </a:xfrm>
          <a:prstGeom prst="rect">
            <a:avLst/>
          </a:prstGeom>
          <a:solidFill>
            <a:srgbClr val="F17400"/>
          </a:solidFill>
          <a:ln/>
        </p:spPr>
      </p:sp>
      <p:sp>
        <p:nvSpPr>
          <p:cNvPr id="30" name="Text 28"/>
          <p:cNvSpPr txBox="1"/>
          <p:nvPr/>
        </p:nvSpPr>
        <p:spPr>
          <a:xfrm>
            <a:off x="5641848" y="3054096"/>
            <a:ext cx="1143000" cy="475488"/>
          </a:xfrm>
          <a:prstGeom prst="rect">
            <a:avLst/>
          </a:prstGeom>
          <a:noFill/>
          <a:ln/>
        </p:spPr>
        <p:txBody>
          <a:bodyPr wrap="square" lIns="0" tIns="0" rIns="0" bIns="0" rtlCol="0" anchor="ctr"/>
          <a:lstStyle/>
          <a:p>
            <a:pPr algn="l" indent="0" marL="0">
              <a:buNone/>
            </a:pPr>
            <a:r>
              <a:rPr lang="en-US" sz="880" b="1" dirty="0">
                <a:solidFill>
                  <a:srgbClr val="FFFFFF"/>
                </a:solidFill>
                <a:latin typeface="Arial" pitchFamily="34" charset="0"/>
                <a:ea typeface="Arial" pitchFamily="34" charset="-122"/>
                <a:cs typeface="Arial" pitchFamily="34" charset="-120"/>
              </a:rPr>
              <a:t>Aggressive 8%</a:t>
            </a:r>
            <a:endParaRPr lang="en-US" sz="880" dirty="0"/>
          </a:p>
        </p:txBody>
      </p:sp>
      <p:sp>
        <p:nvSpPr>
          <p:cNvPr id="31" name="Text 29"/>
          <p:cNvSpPr txBox="1"/>
          <p:nvPr/>
        </p:nvSpPr>
        <p:spPr>
          <a:xfrm>
            <a:off x="6967728" y="3054096"/>
            <a:ext cx="841248"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840,000</a:t>
            </a:r>
            <a:endParaRPr lang="en-US" sz="880" dirty="0"/>
          </a:p>
        </p:txBody>
      </p:sp>
      <p:sp>
        <p:nvSpPr>
          <p:cNvPr id="32" name="Text 30"/>
          <p:cNvSpPr txBox="1"/>
          <p:nvPr/>
        </p:nvSpPr>
        <p:spPr>
          <a:xfrm>
            <a:off x="7991856" y="3054096"/>
            <a:ext cx="877824"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R1.15M</a:t>
            </a:r>
            <a:endParaRPr lang="en-US" sz="880" dirty="0"/>
          </a:p>
        </p:txBody>
      </p:sp>
      <p:sp>
        <p:nvSpPr>
          <p:cNvPr id="33" name="Text 31"/>
          <p:cNvSpPr txBox="1"/>
          <p:nvPr/>
        </p:nvSpPr>
        <p:spPr>
          <a:xfrm>
            <a:off x="9052560" y="3054096"/>
            <a:ext cx="786384"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R35.0M</a:t>
            </a:r>
            <a:endParaRPr lang="en-US" sz="880" dirty="0"/>
          </a:p>
        </p:txBody>
      </p:sp>
      <p:sp>
        <p:nvSpPr>
          <p:cNvPr id="34" name="Text 32"/>
          <p:cNvSpPr txBox="1"/>
          <p:nvPr/>
        </p:nvSpPr>
        <p:spPr>
          <a:xfrm>
            <a:off x="10021824" y="3054096"/>
            <a:ext cx="786384"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R420M</a:t>
            </a:r>
            <a:endParaRPr lang="en-US" sz="880" dirty="0"/>
          </a:p>
        </p:txBody>
      </p:sp>
      <p:sp>
        <p:nvSpPr>
          <p:cNvPr id="35" name="Text 33"/>
          <p:cNvSpPr txBox="1"/>
          <p:nvPr/>
        </p:nvSpPr>
        <p:spPr>
          <a:xfrm>
            <a:off x="10991088" y="3054096"/>
            <a:ext cx="576072"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R2.37B</a:t>
            </a:r>
            <a:endParaRPr lang="en-US" sz="880" dirty="0"/>
          </a:p>
        </p:txBody>
      </p:sp>
      <p:sp>
        <p:nvSpPr>
          <p:cNvPr id="36" name="Shape 34"/>
          <p:cNvSpPr/>
          <p:nvPr/>
        </p:nvSpPr>
        <p:spPr>
          <a:xfrm>
            <a:off x="5532120" y="3703320"/>
            <a:ext cx="2011680" cy="1188720"/>
          </a:xfrm>
          <a:prstGeom prst="rect">
            <a:avLst/>
          </a:prstGeom>
          <a:solidFill>
            <a:srgbClr val="FFFFFF"/>
          </a:solidFill>
          <a:ln w="12700">
            <a:solidFill>
              <a:srgbClr val="D9E0EA"/>
            </a:solidFill>
            <a:prstDash val="solid"/>
          </a:ln>
        </p:spPr>
      </p:sp>
      <p:sp>
        <p:nvSpPr>
          <p:cNvPr id="37" name="Text 35"/>
          <p:cNvSpPr txBox="1"/>
          <p:nvPr/>
        </p:nvSpPr>
        <p:spPr>
          <a:xfrm>
            <a:off x="5696712" y="3813048"/>
            <a:ext cx="168249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R719,200</a:t>
            </a:r>
            <a:endParaRPr lang="en-US" sz="1700" dirty="0"/>
          </a:p>
        </p:txBody>
      </p:sp>
      <p:sp>
        <p:nvSpPr>
          <p:cNvPr id="38" name="Text 36"/>
          <p:cNvSpPr txBox="1"/>
          <p:nvPr/>
        </p:nvSpPr>
        <p:spPr>
          <a:xfrm>
            <a:off x="5696712" y="4215384"/>
            <a:ext cx="168249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a day at a moderate 5% opt-in</a:t>
            </a:r>
            <a:endParaRPr lang="en-US" sz="800" dirty="0"/>
          </a:p>
        </p:txBody>
      </p:sp>
      <p:sp>
        <p:nvSpPr>
          <p:cNvPr id="39" name="Shape 37"/>
          <p:cNvSpPr/>
          <p:nvPr/>
        </p:nvSpPr>
        <p:spPr>
          <a:xfrm>
            <a:off x="7653528" y="3703320"/>
            <a:ext cx="2011680" cy="1188720"/>
          </a:xfrm>
          <a:prstGeom prst="rect">
            <a:avLst/>
          </a:prstGeom>
          <a:solidFill>
            <a:srgbClr val="FFFFFF"/>
          </a:solidFill>
          <a:ln w="12700">
            <a:solidFill>
              <a:srgbClr val="D9E0EA"/>
            </a:solidFill>
            <a:prstDash val="solid"/>
          </a:ln>
        </p:spPr>
      </p:sp>
      <p:sp>
        <p:nvSpPr>
          <p:cNvPr id="40" name="Text 38"/>
          <p:cNvSpPr txBox="1"/>
          <p:nvPr/>
        </p:nvSpPr>
        <p:spPr>
          <a:xfrm>
            <a:off x="7818120" y="3813048"/>
            <a:ext cx="168249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R262.5M</a:t>
            </a:r>
            <a:endParaRPr lang="en-US" sz="1700" dirty="0"/>
          </a:p>
        </p:txBody>
      </p:sp>
      <p:sp>
        <p:nvSpPr>
          <p:cNvPr id="41" name="Text 39"/>
          <p:cNvSpPr txBox="1"/>
          <p:nvPr/>
        </p:nvSpPr>
        <p:spPr>
          <a:xfrm>
            <a:off x="7818120" y="4215384"/>
            <a:ext cx="168249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a year at 5% — R835.7M over 3 years</a:t>
            </a:r>
            <a:endParaRPr lang="en-US" sz="800" dirty="0"/>
          </a:p>
        </p:txBody>
      </p:sp>
      <p:sp>
        <p:nvSpPr>
          <p:cNvPr id="42" name="Shape 40"/>
          <p:cNvSpPr/>
          <p:nvPr/>
        </p:nvSpPr>
        <p:spPr>
          <a:xfrm>
            <a:off x="9774936" y="3703320"/>
            <a:ext cx="2011680" cy="1188720"/>
          </a:xfrm>
          <a:prstGeom prst="rect">
            <a:avLst/>
          </a:prstGeom>
          <a:solidFill>
            <a:srgbClr val="FFFFFF"/>
          </a:solidFill>
          <a:ln w="12700">
            <a:solidFill>
              <a:srgbClr val="D9E0EA"/>
            </a:solidFill>
            <a:prstDash val="solid"/>
          </a:ln>
        </p:spPr>
      </p:sp>
      <p:sp>
        <p:nvSpPr>
          <p:cNvPr id="43" name="Text 41"/>
          <p:cNvSpPr txBox="1"/>
          <p:nvPr/>
        </p:nvSpPr>
        <p:spPr>
          <a:xfrm>
            <a:off x="9939528" y="3813048"/>
            <a:ext cx="168249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R2.37B</a:t>
            </a:r>
            <a:endParaRPr lang="en-US" sz="1700" dirty="0"/>
          </a:p>
        </p:txBody>
      </p:sp>
      <p:sp>
        <p:nvSpPr>
          <p:cNvPr id="44" name="Text 42"/>
          <p:cNvSpPr txBox="1"/>
          <p:nvPr/>
        </p:nvSpPr>
        <p:spPr>
          <a:xfrm>
            <a:off x="9939528" y="4215384"/>
            <a:ext cx="168249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5-year gross at the aggressive 8% case</a:t>
            </a:r>
            <a:endParaRPr lang="en-US" sz="800" dirty="0"/>
          </a:p>
        </p:txBody>
      </p:sp>
      <p:sp>
        <p:nvSpPr>
          <p:cNvPr id="45" name="Shape 43"/>
          <p:cNvSpPr/>
          <p:nvPr/>
        </p:nvSpPr>
        <p:spPr>
          <a:xfrm>
            <a:off x="548640" y="5166360"/>
            <a:ext cx="11094415" cy="804672"/>
          </a:xfrm>
          <a:prstGeom prst="rect">
            <a:avLst/>
          </a:prstGeom>
          <a:solidFill>
            <a:srgbClr val="0B1B34"/>
          </a:solidFill>
          <a:ln/>
        </p:spPr>
      </p:sp>
      <p:sp>
        <p:nvSpPr>
          <p:cNvPr id="46" name="Text 44"/>
          <p:cNvSpPr txBox="1"/>
          <p:nvPr/>
        </p:nvSpPr>
        <p:spPr>
          <a:xfrm>
            <a:off x="777240" y="5166360"/>
            <a:ext cx="10637215" cy="804672"/>
          </a:xfrm>
          <a:prstGeom prst="rect">
            <a:avLst/>
          </a:prstGeom>
          <a:noFill/>
          <a:ln/>
        </p:spPr>
        <p:txBody>
          <a:bodyPr wrap="square" lIns="0" tIns="0" rIns="0" bIns="0" rtlCol="0" anchor="ctr"/>
          <a:lstStyle/>
          <a:p>
            <a:pPr indent="0" marL="0">
              <a:lnSpc>
                <a:spcPts val="1300"/>
              </a:lnSpc>
              <a:buNone/>
            </a:pPr>
            <a:r>
              <a:rPr lang="en-US" sz="950" b="1" dirty="0">
                <a:solidFill>
                  <a:srgbClr val="F17400"/>
                </a:solidFill>
                <a:latin typeface="Arial" pitchFamily="34" charset="0"/>
                <a:ea typeface="Arial" pitchFamily="34" charset="-122"/>
                <a:cs typeface="Arial" pitchFamily="34" charset="-120"/>
              </a:rPr>
              <a:t>Fastest to revenue: </a:t>
            </a:r>
            <a:pPr indent="0" marL="0">
              <a:lnSpc>
                <a:spcPts val="1300"/>
              </a:lnSpc>
              <a:buNone/>
            </a:pPr>
            <a:r>
              <a:rPr lang="en-US" sz="950" dirty="0">
                <a:solidFill>
                  <a:srgbClr val="A9B6CB"/>
                </a:solidFill>
                <a:latin typeface="Arial" pitchFamily="34" charset="0"/>
                <a:ea typeface="Arial" pitchFamily="34" charset="-122"/>
                <a:cs typeface="Arial" pitchFamily="34" charset="-120"/>
              </a:rPr>
              <a:t>no booking-system integration, first stations live ±90 days from signature. Figures are gross passenger spend incl. VAT at R500/unit; 3-year figures: R334M (2%) · R836M (5%) · R1.34B (8%). Commercial split and volume tiers confirmed at commercial stage.</a:t>
            </a:r>
            <a:endParaRPr lang="en-US" sz="950" dirty="0"/>
          </a:p>
        </p:txBody>
      </p:sp>
      <p:sp>
        <p:nvSpPr>
          <p:cNvPr id="47" name="Shape 45"/>
          <p:cNvSpPr/>
          <p:nvPr/>
        </p:nvSpPr>
        <p:spPr>
          <a:xfrm>
            <a:off x="0" y="6583680"/>
            <a:ext cx="12191695" cy="274320"/>
          </a:xfrm>
          <a:prstGeom prst="rect">
            <a:avLst/>
          </a:prstGeom>
          <a:solidFill>
            <a:srgbClr val="0B1B34"/>
          </a:solidFill>
          <a:ln/>
        </p:spPr>
      </p:sp>
      <p:sp>
        <p:nvSpPr>
          <p:cNvPr id="48" name="Text 4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49" name="Text 4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16 / 29</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04 · DEPLOYMENT</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Where it goes: check-in, outlets &amp; departures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Deployment-concept renders — self-service GPS vending placed exactly where FlySafair passengers already pause.</a:t>
            </a:r>
            <a:endParaRPr lang="en-US" sz="1150" dirty="0"/>
          </a:p>
        </p:txBody>
      </p:sp>
      <p:pic>
        <p:nvPicPr>
          <p:cNvPr id="5" name="Image 0" descr="gulf_unpacked/ppt/media/image-18-1.png">    </p:cNvPr>
          <p:cNvPicPr>
            <a:picLocks noChangeAspect="1"/>
          </p:cNvPicPr>
          <p:nvPr/>
        </p:nvPicPr>
        <p:blipFill>
          <a:blip r:embed="rId1"/>
          <a:stretch>
            <a:fillRect/>
          </a:stretch>
        </p:blipFill>
        <p:spPr>
          <a:xfrm>
            <a:off x="548640" y="1463040"/>
            <a:ext cx="3538728" cy="3639312"/>
          </a:xfrm>
          <a:prstGeom prst="rect">
            <a:avLst/>
          </a:prstGeom>
        </p:spPr>
      </p:pic>
      <p:sp>
        <p:nvSpPr>
          <p:cNvPr id="6" name="Text 3"/>
          <p:cNvSpPr txBox="1"/>
          <p:nvPr/>
        </p:nvSpPr>
        <p:spPr>
          <a:xfrm>
            <a:off x="548640" y="5193792"/>
            <a:ext cx="3538728" cy="566928"/>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Beside FlySafair check-in counters — the natural upsell moment before bags disappear from view</a:t>
            </a:r>
            <a:endParaRPr lang="en-US" sz="900" dirty="0"/>
          </a:p>
        </p:txBody>
      </p:sp>
      <p:pic>
        <p:nvPicPr>
          <p:cNvPr id="7" name="Image 1" descr="gulf_unpacked/ppt/media/image-18-2.png">    </p:cNvPr>
          <p:cNvPicPr>
            <a:picLocks noChangeAspect="1"/>
          </p:cNvPicPr>
          <p:nvPr/>
        </p:nvPicPr>
        <p:blipFill>
          <a:blip r:embed="rId2"/>
          <a:stretch>
            <a:fillRect/>
          </a:stretch>
        </p:blipFill>
        <p:spPr>
          <a:xfrm>
            <a:off x="4338828" y="1463040"/>
            <a:ext cx="3538728" cy="3639312"/>
          </a:xfrm>
          <a:prstGeom prst="rect">
            <a:avLst/>
          </a:prstGeom>
        </p:spPr>
      </p:pic>
      <p:sp>
        <p:nvSpPr>
          <p:cNvPr id="8" name="Text 4"/>
          <p:cNvSpPr txBox="1"/>
          <p:nvPr/>
        </p:nvSpPr>
        <p:spPr>
          <a:xfrm>
            <a:off x="4338828" y="5193792"/>
            <a:ext cx="3538728" cy="566928"/>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Self-service kiosk zone — card/tap payment, sticker applied in under a minute</a:t>
            </a:r>
            <a:endParaRPr lang="en-US" sz="900" dirty="0"/>
          </a:p>
        </p:txBody>
      </p:sp>
      <p:pic>
        <p:nvPicPr>
          <p:cNvPr id="9" name="Image 2" descr="gulf_unpacked/ppt/media/image-19-1.png">    </p:cNvPr>
          <p:cNvPicPr>
            <a:picLocks noChangeAspect="1"/>
          </p:cNvPicPr>
          <p:nvPr/>
        </p:nvPicPr>
        <p:blipFill>
          <a:blip r:embed="rId3"/>
          <a:stretch>
            <a:fillRect/>
          </a:stretch>
        </p:blipFill>
        <p:spPr>
          <a:xfrm>
            <a:off x="8129016" y="1463040"/>
            <a:ext cx="3538728" cy="3639312"/>
          </a:xfrm>
          <a:prstGeom prst="rect">
            <a:avLst/>
          </a:prstGeom>
        </p:spPr>
      </p:pic>
      <p:sp>
        <p:nvSpPr>
          <p:cNvPr id="10" name="Text 5"/>
          <p:cNvSpPr txBox="1"/>
          <p:nvPr/>
        </p:nvSpPr>
        <p:spPr>
          <a:xfrm>
            <a:off x="8129016" y="5193792"/>
            <a:ext cx="3538728" cy="566928"/>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Departures concourse tower — “Track Your Luggage Worldwide”, high-footfall placement</a:t>
            </a:r>
            <a:endParaRPr lang="en-US" sz="900" dirty="0"/>
          </a:p>
        </p:txBody>
      </p:sp>
      <p:sp>
        <p:nvSpPr>
          <p:cNvPr id="11" name="Text 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950" i="1" dirty="0">
                <a:solidFill>
                  <a:srgbClr val="8A96A8"/>
                </a:solidFill>
                <a:latin typeface="Arial" pitchFamily="34" charset="0"/>
                <a:ea typeface="Arial" pitchFamily="34" charset="-122"/>
                <a:cs typeface="Arial" pitchFamily="34" charset="-120"/>
              </a:rPr>
              <a:t>Recommended placement: within 15–20m of check-in counters, ticket-sales outlets and self-service kiosks — visible before a passenger commits to letting a bag out of sight.</a:t>
            </a:r>
            <a:endParaRPr lang="en-US" sz="950" dirty="0"/>
          </a:p>
        </p:txBody>
      </p:sp>
      <p:sp>
        <p:nvSpPr>
          <p:cNvPr id="12" name="Shape 7"/>
          <p:cNvSpPr/>
          <p:nvPr/>
        </p:nvSpPr>
        <p:spPr>
          <a:xfrm>
            <a:off x="0" y="6583680"/>
            <a:ext cx="12191695" cy="274320"/>
          </a:xfrm>
          <a:prstGeom prst="rect">
            <a:avLst/>
          </a:prstGeom>
          <a:solidFill>
            <a:srgbClr val="0B1B34"/>
          </a:solidFill>
          <a:ln/>
        </p:spPr>
      </p:sp>
      <p:sp>
        <p:nvSpPr>
          <p:cNvPr id="13" name="Text 8"/>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14" name="Text 9"/>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17 / 29</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04 · DEPLOYMENT</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One platform, six physical formats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Deployment-concept renders — final unit design, FlySafair co-branding and footprint confirmed with each airport's terminal team.</a:t>
            </a:r>
            <a:endParaRPr lang="en-US" sz="1150" dirty="0"/>
          </a:p>
        </p:txBody>
      </p:sp>
      <p:pic>
        <p:nvPicPr>
          <p:cNvPr id="5" name="Image 0" descr="gulf_unpacked/ppt/media/image-21-1.png">    </p:cNvPr>
          <p:cNvPicPr>
            <a:picLocks noChangeAspect="1"/>
          </p:cNvPicPr>
          <p:nvPr/>
        </p:nvPicPr>
        <p:blipFill>
          <a:blip r:embed="rId1"/>
          <a:stretch>
            <a:fillRect/>
          </a:stretch>
        </p:blipFill>
        <p:spPr>
          <a:xfrm>
            <a:off x="548640" y="1417320"/>
            <a:ext cx="3538728" cy="1874520"/>
          </a:xfrm>
          <a:prstGeom prst="rect">
            <a:avLst/>
          </a:prstGeom>
        </p:spPr>
      </p:pic>
      <p:sp>
        <p:nvSpPr>
          <p:cNvPr id="6" name="Text 3"/>
          <p:cNvSpPr txBox="1"/>
          <p:nvPr/>
        </p:nvSpPr>
        <p:spPr>
          <a:xfrm>
            <a:off x="548640" y="3328416"/>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Standard-format GPS Smart Station — the network workhorse</a:t>
            </a:r>
            <a:endParaRPr lang="en-US" sz="850" dirty="0"/>
          </a:p>
        </p:txBody>
      </p:sp>
      <p:pic>
        <p:nvPicPr>
          <p:cNvPr id="7" name="Image 1" descr="gulf_unpacked/ppt/media/image-21-2.png">    </p:cNvPr>
          <p:cNvPicPr>
            <a:picLocks noChangeAspect="1"/>
          </p:cNvPicPr>
          <p:nvPr/>
        </p:nvPicPr>
        <p:blipFill>
          <a:blip r:embed="rId2"/>
          <a:stretch>
            <a:fillRect/>
          </a:stretch>
        </p:blipFill>
        <p:spPr>
          <a:xfrm>
            <a:off x="4338828" y="1417320"/>
            <a:ext cx="3538728" cy="1874520"/>
          </a:xfrm>
          <a:prstGeom prst="rect">
            <a:avLst/>
          </a:prstGeom>
        </p:spPr>
      </p:pic>
      <p:sp>
        <p:nvSpPr>
          <p:cNvPr id="8" name="Text 4"/>
          <p:cNvSpPr txBox="1"/>
          <p:nvPr/>
        </p:nvSpPr>
        <p:spPr>
          <a:xfrm>
            <a:off x="4338828" y="3328416"/>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Map-display variant — live tracking preview at point of sale</a:t>
            </a:r>
            <a:endParaRPr lang="en-US" sz="850" dirty="0"/>
          </a:p>
        </p:txBody>
      </p:sp>
      <p:pic>
        <p:nvPicPr>
          <p:cNvPr id="9" name="Image 2" descr="gulf_unpacked/ppt/media/image-21-3.png">    </p:cNvPr>
          <p:cNvPicPr>
            <a:picLocks noChangeAspect="1"/>
          </p:cNvPicPr>
          <p:nvPr/>
        </p:nvPicPr>
        <p:blipFill>
          <a:blip r:embed="rId3"/>
          <a:stretch>
            <a:fillRect/>
          </a:stretch>
        </p:blipFill>
        <p:spPr>
          <a:xfrm>
            <a:off x="8129016" y="1417320"/>
            <a:ext cx="3538728" cy="1874520"/>
          </a:xfrm>
          <a:prstGeom prst="rect">
            <a:avLst/>
          </a:prstGeom>
        </p:spPr>
      </p:pic>
      <p:sp>
        <p:nvSpPr>
          <p:cNvPr id="10" name="Text 5"/>
          <p:cNvSpPr txBox="1"/>
          <p:nvPr/>
        </p:nvSpPr>
        <p:spPr>
          <a:xfrm>
            <a:off x="8129016" y="3328416"/>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Co-branded format — ready for a FlySafair-branded rollout</a:t>
            </a:r>
            <a:endParaRPr lang="en-US" sz="850" dirty="0"/>
          </a:p>
        </p:txBody>
      </p:sp>
      <p:pic>
        <p:nvPicPr>
          <p:cNvPr id="11" name="Image 3" descr="gulf_unpacked/ppt/media/image-21-4.png">    </p:cNvPr>
          <p:cNvPicPr>
            <a:picLocks noChangeAspect="1"/>
          </p:cNvPicPr>
          <p:nvPr/>
        </p:nvPicPr>
        <p:blipFill>
          <a:blip r:embed="rId4"/>
          <a:stretch>
            <a:fillRect/>
          </a:stretch>
        </p:blipFill>
        <p:spPr>
          <a:xfrm>
            <a:off x="548640" y="3813048"/>
            <a:ext cx="3538728" cy="1874520"/>
          </a:xfrm>
          <a:prstGeom prst="rect">
            <a:avLst/>
          </a:prstGeom>
        </p:spPr>
      </p:pic>
      <p:sp>
        <p:nvSpPr>
          <p:cNvPr id="12" name="Text 6"/>
          <p:cNvSpPr txBox="1"/>
          <p:nvPr/>
        </p:nvSpPr>
        <p:spPr>
          <a:xfrm>
            <a:off x="548640" y="5724144"/>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Curved-panel flagship — premium terminal placements</a:t>
            </a:r>
            <a:endParaRPr lang="en-US" sz="850" dirty="0"/>
          </a:p>
        </p:txBody>
      </p:sp>
      <p:pic>
        <p:nvPicPr>
          <p:cNvPr id="13" name="Image 4" descr="gulf_unpacked/ppt/media/image-21-5.png">    </p:cNvPr>
          <p:cNvPicPr>
            <a:picLocks noChangeAspect="1"/>
          </p:cNvPicPr>
          <p:nvPr/>
        </p:nvPicPr>
        <p:blipFill>
          <a:blip r:embed="rId5"/>
          <a:stretch>
            <a:fillRect/>
          </a:stretch>
        </p:blipFill>
        <p:spPr>
          <a:xfrm>
            <a:off x="4338828" y="3813048"/>
            <a:ext cx="3538728" cy="1874520"/>
          </a:xfrm>
          <a:prstGeom prst="rect">
            <a:avLst/>
          </a:prstGeom>
        </p:spPr>
      </p:pic>
      <p:sp>
        <p:nvSpPr>
          <p:cNvPr id="14" name="Text 7"/>
          <p:cNvSpPr txBox="1"/>
          <p:nvPr/>
        </p:nvSpPr>
        <p:spPr>
          <a:xfrm>
            <a:off x="4338828" y="5724144"/>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Modular twin-panel wall unit — R500 pricing on display</a:t>
            </a:r>
            <a:endParaRPr lang="en-US" sz="850" dirty="0"/>
          </a:p>
        </p:txBody>
      </p:sp>
      <p:pic>
        <p:nvPicPr>
          <p:cNvPr id="15" name="Image 5" descr="gulf_unpacked/ppt/media/image-21-6.png">    </p:cNvPr>
          <p:cNvPicPr>
            <a:picLocks noChangeAspect="1"/>
          </p:cNvPicPr>
          <p:nvPr/>
        </p:nvPicPr>
        <p:blipFill>
          <a:blip r:embed="rId6"/>
          <a:stretch>
            <a:fillRect/>
          </a:stretch>
        </p:blipFill>
        <p:spPr>
          <a:xfrm>
            <a:off x="8129016" y="3813048"/>
            <a:ext cx="3538728" cy="1874520"/>
          </a:xfrm>
          <a:prstGeom prst="rect">
            <a:avLst/>
          </a:prstGeom>
        </p:spPr>
      </p:pic>
      <p:sp>
        <p:nvSpPr>
          <p:cNvPr id="16" name="Text 8"/>
          <p:cNvSpPr txBox="1"/>
          <p:nvPr/>
        </p:nvSpPr>
        <p:spPr>
          <a:xfrm>
            <a:off x="8129016" y="5724144"/>
            <a:ext cx="3538728" cy="384048"/>
          </a:xfrm>
          <a:prstGeom prst="rect">
            <a:avLst/>
          </a:prstGeom>
          <a:noFill/>
          <a:ln/>
        </p:spPr>
        <p:txBody>
          <a:bodyPr wrap="square" lIns="0" tIns="0" rIns="0" bIns="0" rtlCol="0" anchor="ctr"/>
          <a:lstStyle/>
          <a:p>
            <a:pPr indent="0" marL="0">
              <a:lnSpc>
                <a:spcPts val="1050"/>
              </a:lnSpc>
              <a:buNone/>
            </a:pPr>
            <a:r>
              <a:rPr lang="en-US" sz="850" dirty="0">
                <a:solidFill>
                  <a:srgbClr val="5E6B7E"/>
                </a:solidFill>
                <a:latin typeface="Arial" pitchFamily="34" charset="0"/>
                <a:ea typeface="Arial" pitchFamily="34" charset="-122"/>
                <a:cs typeface="Arial" pitchFamily="34" charset="-120"/>
              </a:rPr>
              <a:t>Slim wall-mount — corridor and washroom-adjacent placements</a:t>
            </a:r>
            <a:endParaRPr lang="en-US" sz="850" dirty="0"/>
          </a:p>
        </p:txBody>
      </p:sp>
      <p:sp>
        <p:nvSpPr>
          <p:cNvPr id="17" name="Shape 9"/>
          <p:cNvSpPr/>
          <p:nvPr/>
        </p:nvSpPr>
        <p:spPr>
          <a:xfrm>
            <a:off x="0" y="6583680"/>
            <a:ext cx="12191695" cy="274320"/>
          </a:xfrm>
          <a:prstGeom prst="rect">
            <a:avLst/>
          </a:prstGeom>
          <a:solidFill>
            <a:srgbClr val="0B1B34"/>
          </a:solidFill>
          <a:ln/>
        </p:spPr>
      </p:sp>
      <p:sp>
        <p:nvSpPr>
          <p:cNvPr id="18" name="Text 10"/>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19" name="Text 11"/>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18 / 29</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04 · THE TWO COMMERCIAL ROUTES</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Option 2 — One tap in the FlySafair booking flow</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FlySafair wrote South Africa's ancillary-revenue playbook — seats, bags and flexibility are already add-ons. “Digitag Protect” becomes the next toggle.</a:t>
            </a:r>
            <a:endParaRPr lang="en-US" sz="1150" dirty="0"/>
          </a:p>
        </p:txBody>
      </p:sp>
      <p:sp>
        <p:nvSpPr>
          <p:cNvPr id="5" name="Shape 3"/>
          <p:cNvSpPr/>
          <p:nvPr/>
        </p:nvSpPr>
        <p:spPr>
          <a:xfrm>
            <a:off x="548640" y="1481328"/>
            <a:ext cx="502920" cy="502920"/>
          </a:xfrm>
          <a:prstGeom prst="ellipse">
            <a:avLst/>
          </a:prstGeom>
          <a:solidFill>
            <a:srgbClr val="F17400"/>
          </a:solidFill>
          <a:ln/>
        </p:spPr>
      </p:sp>
      <p:sp>
        <p:nvSpPr>
          <p:cNvPr id="6" name="Text 4"/>
          <p:cNvSpPr txBox="1"/>
          <p:nvPr/>
        </p:nvSpPr>
        <p:spPr>
          <a:xfrm>
            <a:off x="548640" y="1481328"/>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7" name="Text 5"/>
          <p:cNvSpPr txBox="1"/>
          <p:nvPr/>
        </p:nvSpPr>
        <p:spPr>
          <a:xfrm>
            <a:off x="1234440" y="1463040"/>
            <a:ext cx="4160520" cy="457200"/>
          </a:xfrm>
          <a:prstGeom prst="rect">
            <a:avLst/>
          </a:prstGeom>
          <a:noFill/>
          <a:ln/>
        </p:spPr>
        <p:txBody>
          <a:bodyPr wrap="square" lIns="0" tIns="0" rIns="0" bIns="0" rtlCol="0" anchor="ctr"/>
          <a:lstStyle/>
          <a:p>
            <a:pPr indent="0" marL="0">
              <a:lnSpc>
                <a:spcPts val="1300"/>
              </a:lnSpc>
              <a:buNone/>
            </a:pPr>
            <a:r>
              <a:rPr lang="en-US" sz="1100" b="1" dirty="0">
                <a:solidFill>
                  <a:srgbClr val="13294B"/>
                </a:solidFill>
                <a:latin typeface="Arial" pitchFamily="34" charset="0"/>
                <a:ea typeface="Arial" pitchFamily="34" charset="-122"/>
                <a:cs typeface="Arial" pitchFamily="34" charset="-120"/>
              </a:rPr>
              <a:t>Passenger adds “Digitag Protect — R299” at booking</a:t>
            </a:r>
            <a:endParaRPr lang="en-US" sz="1100" dirty="0"/>
          </a:p>
        </p:txBody>
      </p:sp>
      <p:sp>
        <p:nvSpPr>
          <p:cNvPr id="8" name="Text 6"/>
          <p:cNvSpPr txBox="1"/>
          <p:nvPr/>
        </p:nvSpPr>
        <p:spPr>
          <a:xfrm>
            <a:off x="1234440" y="1938528"/>
            <a:ext cx="4160520" cy="603504"/>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One toggle in the payment path, next to seat selection and checked bags — exactly where FlySafair already converts best.</a:t>
            </a:r>
            <a:endParaRPr lang="en-US" sz="900" dirty="0"/>
          </a:p>
        </p:txBody>
      </p:sp>
      <p:sp>
        <p:nvSpPr>
          <p:cNvPr id="9" name="Shape 7"/>
          <p:cNvSpPr/>
          <p:nvPr/>
        </p:nvSpPr>
        <p:spPr>
          <a:xfrm>
            <a:off x="548640" y="2615184"/>
            <a:ext cx="502920" cy="502920"/>
          </a:xfrm>
          <a:prstGeom prst="ellipse">
            <a:avLst/>
          </a:prstGeom>
          <a:solidFill>
            <a:srgbClr val="F17400"/>
          </a:solidFill>
          <a:ln/>
        </p:spPr>
      </p:sp>
      <p:sp>
        <p:nvSpPr>
          <p:cNvPr id="10" name="Text 8"/>
          <p:cNvSpPr txBox="1"/>
          <p:nvPr/>
        </p:nvSpPr>
        <p:spPr>
          <a:xfrm>
            <a:off x="548640" y="2615184"/>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9"/>
          <p:cNvSpPr txBox="1"/>
          <p:nvPr/>
        </p:nvSpPr>
        <p:spPr>
          <a:xfrm>
            <a:off x="1234440" y="2596896"/>
            <a:ext cx="4160520" cy="457200"/>
          </a:xfrm>
          <a:prstGeom prst="rect">
            <a:avLst/>
          </a:prstGeom>
          <a:noFill/>
          <a:ln/>
        </p:spPr>
        <p:txBody>
          <a:bodyPr wrap="square" lIns="0" tIns="0" rIns="0" bIns="0" rtlCol="0" anchor="ctr"/>
          <a:lstStyle/>
          <a:p>
            <a:pPr indent="0" marL="0">
              <a:lnSpc>
                <a:spcPts val="1300"/>
              </a:lnSpc>
              <a:buNone/>
            </a:pPr>
            <a:r>
              <a:rPr lang="en-US" sz="1100" b="1" dirty="0">
                <a:solidFill>
                  <a:srgbClr val="13294B"/>
                </a:solidFill>
                <a:latin typeface="Arial" pitchFamily="34" charset="0"/>
                <a:ea typeface="Arial" pitchFamily="34" charset="-122"/>
                <a:cs typeface="Arial" pitchFamily="34" charset="-120"/>
              </a:rPr>
              <a:t>Sticker applied at bag-drop in seconds</a:t>
            </a:r>
            <a:endParaRPr lang="en-US" sz="1100" dirty="0"/>
          </a:p>
        </p:txBody>
      </p:sp>
      <p:sp>
        <p:nvSpPr>
          <p:cNvPr id="12" name="Text 10"/>
          <p:cNvSpPr txBox="1"/>
          <p:nvPr/>
        </p:nvSpPr>
        <p:spPr>
          <a:xfrm>
            <a:off x="1234440" y="3072384"/>
            <a:ext cx="4160520" cy="603504"/>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Pre-paired to the booking reference at the counter or kiosk — no queue added, no new staff process beyond peel-and-stick.</a:t>
            </a:r>
            <a:endParaRPr lang="en-US" sz="900" dirty="0"/>
          </a:p>
        </p:txBody>
      </p:sp>
      <p:sp>
        <p:nvSpPr>
          <p:cNvPr id="13" name="Shape 11"/>
          <p:cNvSpPr/>
          <p:nvPr/>
        </p:nvSpPr>
        <p:spPr>
          <a:xfrm>
            <a:off x="548640" y="3749040"/>
            <a:ext cx="502920" cy="502920"/>
          </a:xfrm>
          <a:prstGeom prst="ellipse">
            <a:avLst/>
          </a:prstGeom>
          <a:solidFill>
            <a:srgbClr val="F17400"/>
          </a:solidFill>
          <a:ln/>
        </p:spPr>
      </p:sp>
      <p:sp>
        <p:nvSpPr>
          <p:cNvPr id="14" name="Text 12"/>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5" name="Text 13"/>
          <p:cNvSpPr txBox="1"/>
          <p:nvPr/>
        </p:nvSpPr>
        <p:spPr>
          <a:xfrm>
            <a:off x="1234440" y="3730752"/>
            <a:ext cx="4160520" cy="457200"/>
          </a:xfrm>
          <a:prstGeom prst="rect">
            <a:avLst/>
          </a:prstGeom>
          <a:noFill/>
          <a:ln/>
        </p:spPr>
        <p:txBody>
          <a:bodyPr wrap="square" lIns="0" tIns="0" rIns="0" bIns="0" rtlCol="0" anchor="ctr"/>
          <a:lstStyle/>
          <a:p>
            <a:pPr indent="0" marL="0">
              <a:lnSpc>
                <a:spcPts val="1300"/>
              </a:lnSpc>
              <a:buNone/>
            </a:pPr>
            <a:r>
              <a:rPr lang="en-US" sz="1100" b="1" dirty="0">
                <a:solidFill>
                  <a:srgbClr val="13294B"/>
                </a:solidFill>
                <a:latin typeface="Arial" pitchFamily="34" charset="0"/>
                <a:ea typeface="Arial" pitchFamily="34" charset="-122"/>
                <a:cs typeface="Arial" pitchFamily="34" charset="-120"/>
              </a:rPr>
              <a:t>The bag is live before the aircraft doors close</a:t>
            </a:r>
            <a:endParaRPr lang="en-US" sz="1100" dirty="0"/>
          </a:p>
        </p:txBody>
      </p:sp>
      <p:sp>
        <p:nvSpPr>
          <p:cNvPr id="16" name="Text 14"/>
          <p:cNvSpPr txBox="1"/>
          <p:nvPr/>
        </p:nvSpPr>
        <p:spPr>
          <a:xfrm>
            <a:off x="1234440" y="4206240"/>
            <a:ext cx="4160520" cy="603504"/>
          </a:xfrm>
          <a:prstGeom prst="rect">
            <a:avLst/>
          </a:prstGeom>
          <a:noFill/>
          <a:ln/>
        </p:spPr>
        <p:txBody>
          <a:bodyPr wrap="square" lIns="0" tIns="0" rIns="0" bIns="0" rtlCol="0" anchor="ctr"/>
          <a:lstStyle/>
          <a:p>
            <a:pPr indent="0" marL="0">
              <a:lnSpc>
                <a:spcPts val="1150"/>
              </a:lnSpc>
              <a:buNone/>
            </a:pPr>
            <a:r>
              <a:rPr lang="en-US" sz="900" dirty="0">
                <a:solidFill>
                  <a:srgbClr val="5E6B7E"/>
                </a:solidFill>
                <a:latin typeface="Arial" pitchFamily="34" charset="0"/>
                <a:ea typeface="Arial" pitchFamily="34" charset="-122"/>
                <a:cs typeface="Arial" pitchFamily="34" charset="-120"/>
              </a:rPr>
              <a:t>Passenger tracks it in the app; Nexas AI watches every tagged bag on the rotation. Margin stays with FlySafair — no vending capex at all.</a:t>
            </a:r>
            <a:endParaRPr lang="en-US" sz="900" dirty="0"/>
          </a:p>
        </p:txBody>
      </p:sp>
      <p:sp>
        <p:nvSpPr>
          <p:cNvPr id="17" name="Text 15"/>
          <p:cNvSpPr txBox="1"/>
          <p:nvPr/>
        </p:nvSpPr>
        <p:spPr>
          <a:xfrm>
            <a:off x="5806440" y="1444752"/>
            <a:ext cx="45720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THE REVENUE, MODELLED</a:t>
            </a:r>
            <a:endParaRPr lang="en-US" sz="1000" dirty="0"/>
          </a:p>
        </p:txBody>
      </p:sp>
      <p:sp>
        <p:nvSpPr>
          <p:cNvPr id="18" name="Shape 16"/>
          <p:cNvSpPr/>
          <p:nvPr/>
        </p:nvSpPr>
        <p:spPr>
          <a:xfrm>
            <a:off x="5806440" y="1737360"/>
            <a:ext cx="6007608" cy="365760"/>
          </a:xfrm>
          <a:prstGeom prst="rect">
            <a:avLst/>
          </a:prstGeom>
          <a:solidFill>
            <a:srgbClr val="0B1B34"/>
          </a:solidFill>
          <a:ln/>
        </p:spPr>
      </p:sp>
      <p:sp>
        <p:nvSpPr>
          <p:cNvPr id="19" name="Text 17"/>
          <p:cNvSpPr txBox="1"/>
          <p:nvPr/>
        </p:nvSpPr>
        <p:spPr>
          <a:xfrm>
            <a:off x="5916168" y="1737360"/>
            <a:ext cx="1115568" cy="365760"/>
          </a:xfrm>
          <a:prstGeom prst="rect">
            <a:avLst/>
          </a:prstGeom>
          <a:noFill/>
          <a:ln/>
        </p:spPr>
        <p:txBody>
          <a:bodyPr wrap="square" lIns="0" tIns="0" rIns="0" bIns="0" rtlCol="0" anchor="ctr"/>
          <a:lstStyle/>
          <a:p>
            <a:pPr algn="l" indent="0" marL="0">
              <a:buNone/>
            </a:pPr>
            <a:r>
              <a:rPr lang="en-US" sz="820" b="1" dirty="0">
                <a:solidFill>
                  <a:srgbClr val="FFFFFF"/>
                </a:solidFill>
                <a:latin typeface="Arial" pitchFamily="34" charset="0"/>
                <a:ea typeface="Arial" pitchFamily="34" charset="-122"/>
                <a:cs typeface="Arial" pitchFamily="34" charset="-120"/>
              </a:rPr>
              <a:t>Attach</a:t>
            </a:r>
            <a:endParaRPr lang="en-US" sz="820" dirty="0"/>
          </a:p>
        </p:txBody>
      </p:sp>
      <p:sp>
        <p:nvSpPr>
          <p:cNvPr id="20" name="Text 18"/>
          <p:cNvSpPr txBox="1"/>
          <p:nvPr/>
        </p:nvSpPr>
        <p:spPr>
          <a:xfrm>
            <a:off x="7214616" y="1737360"/>
            <a:ext cx="841248"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Units/yr</a:t>
            </a:r>
            <a:endParaRPr lang="en-US" sz="820" dirty="0"/>
          </a:p>
        </p:txBody>
      </p:sp>
      <p:sp>
        <p:nvSpPr>
          <p:cNvPr id="21" name="Text 19"/>
          <p:cNvSpPr txBox="1"/>
          <p:nvPr/>
        </p:nvSpPr>
        <p:spPr>
          <a:xfrm>
            <a:off x="8238744" y="1737360"/>
            <a:ext cx="841248"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Per day</a:t>
            </a:r>
            <a:endParaRPr lang="en-US" sz="820" dirty="0"/>
          </a:p>
        </p:txBody>
      </p:sp>
      <p:sp>
        <p:nvSpPr>
          <p:cNvPr id="22" name="Text 20"/>
          <p:cNvSpPr txBox="1"/>
          <p:nvPr/>
        </p:nvSpPr>
        <p:spPr>
          <a:xfrm>
            <a:off x="9262872" y="1737360"/>
            <a:ext cx="749808"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Month</a:t>
            </a:r>
            <a:endParaRPr lang="en-US" sz="820" dirty="0"/>
          </a:p>
        </p:txBody>
      </p:sp>
      <p:sp>
        <p:nvSpPr>
          <p:cNvPr id="23" name="Text 21"/>
          <p:cNvSpPr txBox="1"/>
          <p:nvPr/>
        </p:nvSpPr>
        <p:spPr>
          <a:xfrm>
            <a:off x="10195560" y="1737360"/>
            <a:ext cx="786384"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Year 1</a:t>
            </a:r>
            <a:endParaRPr lang="en-US" sz="820" dirty="0"/>
          </a:p>
        </p:txBody>
      </p:sp>
      <p:sp>
        <p:nvSpPr>
          <p:cNvPr id="24" name="Text 22"/>
          <p:cNvSpPr txBox="1"/>
          <p:nvPr/>
        </p:nvSpPr>
        <p:spPr>
          <a:xfrm>
            <a:off x="11164824" y="1737360"/>
            <a:ext cx="576072" cy="365760"/>
          </a:xfrm>
          <a:prstGeom prst="rect">
            <a:avLst/>
          </a:prstGeom>
          <a:noFill/>
          <a:ln/>
        </p:spPr>
        <p:txBody>
          <a:bodyPr wrap="square" lIns="0" tIns="0" rIns="0" bIns="0" rtlCol="0" anchor="ctr"/>
          <a:lstStyle/>
          <a:p>
            <a:pPr algn="r" indent="0" marL="0">
              <a:buNone/>
            </a:pPr>
            <a:r>
              <a:rPr lang="en-US" sz="820" b="1" dirty="0">
                <a:solidFill>
                  <a:srgbClr val="FFFFFF"/>
                </a:solidFill>
                <a:latin typeface="Arial" pitchFamily="34" charset="0"/>
                <a:ea typeface="Arial" pitchFamily="34" charset="-122"/>
                <a:cs typeface="Arial" pitchFamily="34" charset="-120"/>
              </a:rPr>
              <a:t>5 yrs</a:t>
            </a:r>
            <a:endParaRPr lang="en-US" sz="820" dirty="0"/>
          </a:p>
        </p:txBody>
      </p:sp>
      <p:sp>
        <p:nvSpPr>
          <p:cNvPr id="25" name="Text 23"/>
          <p:cNvSpPr txBox="1"/>
          <p:nvPr/>
        </p:nvSpPr>
        <p:spPr>
          <a:xfrm>
            <a:off x="5916168" y="2103120"/>
            <a:ext cx="1115568" cy="475488"/>
          </a:xfrm>
          <a:prstGeom prst="rect">
            <a:avLst/>
          </a:prstGeom>
          <a:noFill/>
          <a:ln/>
        </p:spPr>
        <p:txBody>
          <a:bodyPr wrap="square" lIns="0" tIns="0" rIns="0" bIns="0" rtlCol="0" anchor="ctr"/>
          <a:lstStyle/>
          <a:p>
            <a:pPr algn="l" indent="0" marL="0">
              <a:buNone/>
            </a:pPr>
            <a:r>
              <a:rPr lang="en-US" sz="880" dirty="0">
                <a:solidFill>
                  <a:srgbClr val="13294B"/>
                </a:solidFill>
                <a:latin typeface="Arial" pitchFamily="34" charset="0"/>
                <a:ea typeface="Arial" pitchFamily="34" charset="-122"/>
                <a:cs typeface="Arial" pitchFamily="34" charset="-120"/>
              </a:rPr>
              <a:t>Conservative 6%</a:t>
            </a:r>
            <a:endParaRPr lang="en-US" sz="880" dirty="0"/>
          </a:p>
        </p:txBody>
      </p:sp>
      <p:sp>
        <p:nvSpPr>
          <p:cNvPr id="26" name="Text 24"/>
          <p:cNvSpPr txBox="1"/>
          <p:nvPr/>
        </p:nvSpPr>
        <p:spPr>
          <a:xfrm>
            <a:off x="7214616" y="2103120"/>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630,000</a:t>
            </a:r>
            <a:endParaRPr lang="en-US" sz="880" dirty="0"/>
          </a:p>
        </p:txBody>
      </p:sp>
      <p:sp>
        <p:nvSpPr>
          <p:cNvPr id="27" name="Text 25"/>
          <p:cNvSpPr txBox="1"/>
          <p:nvPr/>
        </p:nvSpPr>
        <p:spPr>
          <a:xfrm>
            <a:off x="8238744" y="2103120"/>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R516,100</a:t>
            </a:r>
            <a:endParaRPr lang="en-US" sz="880" dirty="0"/>
          </a:p>
        </p:txBody>
      </p:sp>
      <p:sp>
        <p:nvSpPr>
          <p:cNvPr id="28" name="Text 26"/>
          <p:cNvSpPr txBox="1"/>
          <p:nvPr/>
        </p:nvSpPr>
        <p:spPr>
          <a:xfrm>
            <a:off x="9262872" y="2103120"/>
            <a:ext cx="74980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R15.7M</a:t>
            </a:r>
            <a:endParaRPr lang="en-US" sz="880" dirty="0"/>
          </a:p>
        </p:txBody>
      </p:sp>
      <p:sp>
        <p:nvSpPr>
          <p:cNvPr id="29" name="Text 27"/>
          <p:cNvSpPr txBox="1"/>
          <p:nvPr/>
        </p:nvSpPr>
        <p:spPr>
          <a:xfrm>
            <a:off x="10195560" y="2103120"/>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R188.4M</a:t>
            </a:r>
            <a:endParaRPr lang="en-US" sz="880" dirty="0"/>
          </a:p>
        </p:txBody>
      </p:sp>
      <p:sp>
        <p:nvSpPr>
          <p:cNvPr id="30" name="Text 28"/>
          <p:cNvSpPr txBox="1"/>
          <p:nvPr/>
        </p:nvSpPr>
        <p:spPr>
          <a:xfrm>
            <a:off x="11164824" y="2103120"/>
            <a:ext cx="576072"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R1.06B</a:t>
            </a:r>
            <a:endParaRPr lang="en-US" sz="880" dirty="0"/>
          </a:p>
        </p:txBody>
      </p:sp>
      <p:sp>
        <p:nvSpPr>
          <p:cNvPr id="31" name="Shape 29"/>
          <p:cNvSpPr/>
          <p:nvPr/>
        </p:nvSpPr>
        <p:spPr>
          <a:xfrm>
            <a:off x="5806440" y="2578608"/>
            <a:ext cx="6007608" cy="0"/>
          </a:xfrm>
          <a:prstGeom prst="line">
            <a:avLst/>
          </a:prstGeom>
          <a:noFill/>
          <a:ln w="9525">
            <a:solidFill>
              <a:srgbClr val="D9E0EA"/>
            </a:solidFill>
            <a:prstDash val="solid"/>
          </a:ln>
        </p:spPr>
      </p:sp>
      <p:sp>
        <p:nvSpPr>
          <p:cNvPr id="32" name="Text 30"/>
          <p:cNvSpPr txBox="1"/>
          <p:nvPr/>
        </p:nvSpPr>
        <p:spPr>
          <a:xfrm>
            <a:off x="5916168" y="2578608"/>
            <a:ext cx="1115568" cy="475488"/>
          </a:xfrm>
          <a:prstGeom prst="rect">
            <a:avLst/>
          </a:prstGeom>
          <a:noFill/>
          <a:ln/>
        </p:spPr>
        <p:txBody>
          <a:bodyPr wrap="square" lIns="0" tIns="0" rIns="0" bIns="0" rtlCol="0" anchor="ctr"/>
          <a:lstStyle/>
          <a:p>
            <a:pPr algn="l" indent="0" marL="0">
              <a:buNone/>
            </a:pPr>
            <a:r>
              <a:rPr lang="en-US" sz="880" dirty="0">
                <a:solidFill>
                  <a:srgbClr val="13294B"/>
                </a:solidFill>
                <a:latin typeface="Arial" pitchFamily="34" charset="0"/>
                <a:ea typeface="Arial" pitchFamily="34" charset="-122"/>
                <a:cs typeface="Arial" pitchFamily="34" charset="-120"/>
              </a:rPr>
              <a:t>Moderate 10%</a:t>
            </a:r>
            <a:endParaRPr lang="en-US" sz="880" dirty="0"/>
          </a:p>
        </p:txBody>
      </p:sp>
      <p:sp>
        <p:nvSpPr>
          <p:cNvPr id="33" name="Text 31"/>
          <p:cNvSpPr txBox="1"/>
          <p:nvPr/>
        </p:nvSpPr>
        <p:spPr>
          <a:xfrm>
            <a:off x="7214616" y="2578608"/>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1.05M</a:t>
            </a:r>
            <a:endParaRPr lang="en-US" sz="880" dirty="0"/>
          </a:p>
        </p:txBody>
      </p:sp>
      <p:sp>
        <p:nvSpPr>
          <p:cNvPr id="34" name="Text 32"/>
          <p:cNvSpPr txBox="1"/>
          <p:nvPr/>
        </p:nvSpPr>
        <p:spPr>
          <a:xfrm>
            <a:off x="8238744" y="2578608"/>
            <a:ext cx="84124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R860,100</a:t>
            </a:r>
            <a:endParaRPr lang="en-US" sz="880" dirty="0"/>
          </a:p>
        </p:txBody>
      </p:sp>
      <p:sp>
        <p:nvSpPr>
          <p:cNvPr id="35" name="Text 33"/>
          <p:cNvSpPr txBox="1"/>
          <p:nvPr/>
        </p:nvSpPr>
        <p:spPr>
          <a:xfrm>
            <a:off x="9262872" y="2578608"/>
            <a:ext cx="749808"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R26.2M</a:t>
            </a:r>
            <a:endParaRPr lang="en-US" sz="880" dirty="0"/>
          </a:p>
        </p:txBody>
      </p:sp>
      <p:sp>
        <p:nvSpPr>
          <p:cNvPr id="36" name="Text 34"/>
          <p:cNvSpPr txBox="1"/>
          <p:nvPr/>
        </p:nvSpPr>
        <p:spPr>
          <a:xfrm>
            <a:off x="10195560" y="2578608"/>
            <a:ext cx="786384"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R313.9M</a:t>
            </a:r>
            <a:endParaRPr lang="en-US" sz="880" dirty="0"/>
          </a:p>
        </p:txBody>
      </p:sp>
      <p:sp>
        <p:nvSpPr>
          <p:cNvPr id="37" name="Text 35"/>
          <p:cNvSpPr txBox="1"/>
          <p:nvPr/>
        </p:nvSpPr>
        <p:spPr>
          <a:xfrm>
            <a:off x="11164824" y="2578608"/>
            <a:ext cx="576072" cy="475488"/>
          </a:xfrm>
          <a:prstGeom prst="rect">
            <a:avLst/>
          </a:prstGeom>
          <a:noFill/>
          <a:ln/>
        </p:spPr>
        <p:txBody>
          <a:bodyPr wrap="square" lIns="0" tIns="0" rIns="0" bIns="0" rtlCol="0" anchor="ctr"/>
          <a:lstStyle/>
          <a:p>
            <a:pPr algn="r" indent="0" marL="0">
              <a:buNone/>
            </a:pPr>
            <a:r>
              <a:rPr lang="en-US" sz="880" dirty="0">
                <a:solidFill>
                  <a:srgbClr val="5E6B7E"/>
                </a:solidFill>
                <a:latin typeface="Arial" pitchFamily="34" charset="0"/>
                <a:ea typeface="Arial" pitchFamily="34" charset="-122"/>
                <a:cs typeface="Arial" pitchFamily="34" charset="-120"/>
              </a:rPr>
              <a:t>R1.77B</a:t>
            </a:r>
            <a:endParaRPr lang="en-US" sz="880" dirty="0"/>
          </a:p>
        </p:txBody>
      </p:sp>
      <p:sp>
        <p:nvSpPr>
          <p:cNvPr id="38" name="Shape 36"/>
          <p:cNvSpPr/>
          <p:nvPr/>
        </p:nvSpPr>
        <p:spPr>
          <a:xfrm>
            <a:off x="5806440" y="3054096"/>
            <a:ext cx="6007608" cy="0"/>
          </a:xfrm>
          <a:prstGeom prst="line">
            <a:avLst/>
          </a:prstGeom>
          <a:noFill/>
          <a:ln w="9525">
            <a:solidFill>
              <a:srgbClr val="D9E0EA"/>
            </a:solidFill>
            <a:prstDash val="solid"/>
          </a:ln>
        </p:spPr>
      </p:sp>
      <p:sp>
        <p:nvSpPr>
          <p:cNvPr id="39" name="Shape 37"/>
          <p:cNvSpPr/>
          <p:nvPr/>
        </p:nvSpPr>
        <p:spPr>
          <a:xfrm>
            <a:off x="5806440" y="3054096"/>
            <a:ext cx="6007608" cy="475488"/>
          </a:xfrm>
          <a:prstGeom prst="rect">
            <a:avLst/>
          </a:prstGeom>
          <a:solidFill>
            <a:srgbClr val="F17400"/>
          </a:solidFill>
          <a:ln/>
        </p:spPr>
      </p:sp>
      <p:sp>
        <p:nvSpPr>
          <p:cNvPr id="40" name="Text 38"/>
          <p:cNvSpPr txBox="1"/>
          <p:nvPr/>
        </p:nvSpPr>
        <p:spPr>
          <a:xfrm>
            <a:off x="5916168" y="3054096"/>
            <a:ext cx="1115568" cy="475488"/>
          </a:xfrm>
          <a:prstGeom prst="rect">
            <a:avLst/>
          </a:prstGeom>
          <a:noFill/>
          <a:ln/>
        </p:spPr>
        <p:txBody>
          <a:bodyPr wrap="square" lIns="0" tIns="0" rIns="0" bIns="0" rtlCol="0" anchor="ctr"/>
          <a:lstStyle/>
          <a:p>
            <a:pPr algn="l" indent="0" marL="0">
              <a:buNone/>
            </a:pPr>
            <a:r>
              <a:rPr lang="en-US" sz="880" b="1" dirty="0">
                <a:solidFill>
                  <a:srgbClr val="FFFFFF"/>
                </a:solidFill>
                <a:latin typeface="Arial" pitchFamily="34" charset="0"/>
                <a:ea typeface="Arial" pitchFamily="34" charset="-122"/>
                <a:cs typeface="Arial" pitchFamily="34" charset="-120"/>
              </a:rPr>
              <a:t>Aggressive 15%</a:t>
            </a:r>
            <a:endParaRPr lang="en-US" sz="880" dirty="0"/>
          </a:p>
        </p:txBody>
      </p:sp>
      <p:sp>
        <p:nvSpPr>
          <p:cNvPr id="41" name="Text 39"/>
          <p:cNvSpPr txBox="1"/>
          <p:nvPr/>
        </p:nvSpPr>
        <p:spPr>
          <a:xfrm>
            <a:off x="7214616" y="3054096"/>
            <a:ext cx="841248"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1.58M</a:t>
            </a:r>
            <a:endParaRPr lang="en-US" sz="880" dirty="0"/>
          </a:p>
        </p:txBody>
      </p:sp>
      <p:sp>
        <p:nvSpPr>
          <p:cNvPr id="42" name="Text 40"/>
          <p:cNvSpPr txBox="1"/>
          <p:nvPr/>
        </p:nvSpPr>
        <p:spPr>
          <a:xfrm>
            <a:off x="8238744" y="3054096"/>
            <a:ext cx="841248"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R1.29M</a:t>
            </a:r>
            <a:endParaRPr lang="en-US" sz="880" dirty="0"/>
          </a:p>
        </p:txBody>
      </p:sp>
      <p:sp>
        <p:nvSpPr>
          <p:cNvPr id="43" name="Text 41"/>
          <p:cNvSpPr txBox="1"/>
          <p:nvPr/>
        </p:nvSpPr>
        <p:spPr>
          <a:xfrm>
            <a:off x="9262872" y="3054096"/>
            <a:ext cx="749808"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R39.2M</a:t>
            </a:r>
            <a:endParaRPr lang="en-US" sz="880" dirty="0"/>
          </a:p>
        </p:txBody>
      </p:sp>
      <p:sp>
        <p:nvSpPr>
          <p:cNvPr id="44" name="Text 42"/>
          <p:cNvSpPr txBox="1"/>
          <p:nvPr/>
        </p:nvSpPr>
        <p:spPr>
          <a:xfrm>
            <a:off x="10195560" y="3054096"/>
            <a:ext cx="786384"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R470.9M</a:t>
            </a:r>
            <a:endParaRPr lang="en-US" sz="880" dirty="0"/>
          </a:p>
        </p:txBody>
      </p:sp>
      <p:sp>
        <p:nvSpPr>
          <p:cNvPr id="45" name="Text 43"/>
          <p:cNvSpPr txBox="1"/>
          <p:nvPr/>
        </p:nvSpPr>
        <p:spPr>
          <a:xfrm>
            <a:off x="11164824" y="3054096"/>
            <a:ext cx="576072" cy="475488"/>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R2.65B</a:t>
            </a:r>
            <a:endParaRPr lang="en-US" sz="880" dirty="0"/>
          </a:p>
        </p:txBody>
      </p:sp>
      <p:sp>
        <p:nvSpPr>
          <p:cNvPr id="46" name="Shape 44"/>
          <p:cNvSpPr/>
          <p:nvPr/>
        </p:nvSpPr>
        <p:spPr>
          <a:xfrm>
            <a:off x="5806440" y="3703320"/>
            <a:ext cx="1920240" cy="1188720"/>
          </a:xfrm>
          <a:prstGeom prst="rect">
            <a:avLst/>
          </a:prstGeom>
          <a:solidFill>
            <a:srgbClr val="FFFFFF"/>
          </a:solidFill>
          <a:ln w="12700">
            <a:solidFill>
              <a:srgbClr val="D9E0EA"/>
            </a:solidFill>
            <a:prstDash val="solid"/>
          </a:ln>
        </p:spPr>
      </p:sp>
      <p:sp>
        <p:nvSpPr>
          <p:cNvPr id="47" name="Text 45"/>
          <p:cNvSpPr txBox="1"/>
          <p:nvPr/>
        </p:nvSpPr>
        <p:spPr>
          <a:xfrm>
            <a:off x="5971032" y="3813048"/>
            <a:ext cx="159105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R860,100</a:t>
            </a:r>
            <a:endParaRPr lang="en-US" sz="1700" dirty="0"/>
          </a:p>
        </p:txBody>
      </p:sp>
      <p:sp>
        <p:nvSpPr>
          <p:cNvPr id="48" name="Text 46"/>
          <p:cNvSpPr txBox="1"/>
          <p:nvPr/>
        </p:nvSpPr>
        <p:spPr>
          <a:xfrm>
            <a:off x="5971032" y="4215384"/>
            <a:ext cx="159105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a day at a moderate 10% attach</a:t>
            </a:r>
            <a:endParaRPr lang="en-US" sz="800" dirty="0"/>
          </a:p>
        </p:txBody>
      </p:sp>
      <p:sp>
        <p:nvSpPr>
          <p:cNvPr id="49" name="Shape 47"/>
          <p:cNvSpPr/>
          <p:nvPr/>
        </p:nvSpPr>
        <p:spPr>
          <a:xfrm>
            <a:off x="7836408" y="3703320"/>
            <a:ext cx="1920240" cy="1188720"/>
          </a:xfrm>
          <a:prstGeom prst="rect">
            <a:avLst/>
          </a:prstGeom>
          <a:solidFill>
            <a:srgbClr val="FFFFFF"/>
          </a:solidFill>
          <a:ln w="12700">
            <a:solidFill>
              <a:srgbClr val="D9E0EA"/>
            </a:solidFill>
            <a:prstDash val="solid"/>
          </a:ln>
        </p:spPr>
      </p:sp>
      <p:sp>
        <p:nvSpPr>
          <p:cNvPr id="50" name="Text 48"/>
          <p:cNvSpPr txBox="1"/>
          <p:nvPr/>
        </p:nvSpPr>
        <p:spPr>
          <a:xfrm>
            <a:off x="8001000" y="3813048"/>
            <a:ext cx="159105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R313.9M</a:t>
            </a:r>
            <a:endParaRPr lang="en-US" sz="1700" dirty="0"/>
          </a:p>
        </p:txBody>
      </p:sp>
      <p:sp>
        <p:nvSpPr>
          <p:cNvPr id="51" name="Text 49"/>
          <p:cNvSpPr txBox="1"/>
          <p:nvPr/>
        </p:nvSpPr>
        <p:spPr>
          <a:xfrm>
            <a:off x="8001000" y="4215384"/>
            <a:ext cx="159105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a year at 10% — R999.5M over 3 years</a:t>
            </a:r>
            <a:endParaRPr lang="en-US" sz="800" dirty="0"/>
          </a:p>
        </p:txBody>
      </p:sp>
      <p:sp>
        <p:nvSpPr>
          <p:cNvPr id="52" name="Shape 50"/>
          <p:cNvSpPr/>
          <p:nvPr/>
        </p:nvSpPr>
        <p:spPr>
          <a:xfrm>
            <a:off x="9866376" y="3703320"/>
            <a:ext cx="1920240" cy="1188720"/>
          </a:xfrm>
          <a:prstGeom prst="rect">
            <a:avLst/>
          </a:prstGeom>
          <a:solidFill>
            <a:srgbClr val="FFFFFF"/>
          </a:solidFill>
          <a:ln w="12700">
            <a:solidFill>
              <a:srgbClr val="D9E0EA"/>
            </a:solidFill>
            <a:prstDash val="solid"/>
          </a:ln>
        </p:spPr>
      </p:sp>
      <p:sp>
        <p:nvSpPr>
          <p:cNvPr id="53" name="Text 51"/>
          <p:cNvSpPr txBox="1"/>
          <p:nvPr/>
        </p:nvSpPr>
        <p:spPr>
          <a:xfrm>
            <a:off x="10030968" y="3813048"/>
            <a:ext cx="1591056" cy="384048"/>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R2.65B</a:t>
            </a:r>
            <a:endParaRPr lang="en-US" sz="1700" dirty="0"/>
          </a:p>
        </p:txBody>
      </p:sp>
      <p:sp>
        <p:nvSpPr>
          <p:cNvPr id="54" name="Text 52"/>
          <p:cNvSpPr txBox="1"/>
          <p:nvPr/>
        </p:nvSpPr>
        <p:spPr>
          <a:xfrm>
            <a:off x="10030968" y="4215384"/>
            <a:ext cx="1591056" cy="621792"/>
          </a:xfrm>
          <a:prstGeom prst="rect">
            <a:avLst/>
          </a:prstGeom>
          <a:noFill/>
          <a:ln/>
        </p:spPr>
        <p:txBody>
          <a:bodyPr wrap="square" lIns="0" tIns="0" rIns="0" bIns="0" rtlCol="0" anchor="ctr"/>
          <a:lstStyle/>
          <a:p>
            <a:pPr indent="0" marL="0">
              <a:lnSpc>
                <a:spcPts val="1100"/>
              </a:lnSpc>
              <a:buNone/>
            </a:pPr>
            <a:r>
              <a:rPr lang="en-US" sz="800" dirty="0">
                <a:solidFill>
                  <a:srgbClr val="5E6B7E"/>
                </a:solidFill>
                <a:latin typeface="Arial" pitchFamily="34" charset="0"/>
                <a:ea typeface="Arial" pitchFamily="34" charset="-122"/>
                <a:cs typeface="Arial" pitchFamily="34" charset="-120"/>
              </a:rPr>
              <a:t>5-year gross at the aggressive 15% case</a:t>
            </a:r>
            <a:endParaRPr lang="en-US" sz="800" dirty="0"/>
          </a:p>
        </p:txBody>
      </p:sp>
      <p:sp>
        <p:nvSpPr>
          <p:cNvPr id="55" name="Shape 53"/>
          <p:cNvSpPr/>
          <p:nvPr/>
        </p:nvSpPr>
        <p:spPr>
          <a:xfrm>
            <a:off x="548640" y="5166360"/>
            <a:ext cx="11094415" cy="804672"/>
          </a:xfrm>
          <a:prstGeom prst="rect">
            <a:avLst/>
          </a:prstGeom>
          <a:solidFill>
            <a:srgbClr val="0B1B34"/>
          </a:solidFill>
          <a:ln/>
        </p:spPr>
      </p:sp>
      <p:sp>
        <p:nvSpPr>
          <p:cNvPr id="56" name="Text 54"/>
          <p:cNvSpPr txBox="1"/>
          <p:nvPr/>
        </p:nvSpPr>
        <p:spPr>
          <a:xfrm>
            <a:off x="777240" y="5166360"/>
            <a:ext cx="10637215" cy="804672"/>
          </a:xfrm>
          <a:prstGeom prst="rect">
            <a:avLst/>
          </a:prstGeom>
          <a:noFill/>
          <a:ln/>
        </p:spPr>
        <p:txBody>
          <a:bodyPr wrap="square" lIns="0" tIns="0" rIns="0" bIns="0" rtlCol="0" anchor="ctr"/>
          <a:lstStyle/>
          <a:p>
            <a:pPr indent="0" marL="0">
              <a:lnSpc>
                <a:spcPts val="1300"/>
              </a:lnSpc>
              <a:buNone/>
            </a:pPr>
            <a:r>
              <a:rPr lang="en-US" sz="950" b="1" dirty="0">
                <a:solidFill>
                  <a:srgbClr val="F17400"/>
                </a:solidFill>
                <a:latin typeface="Arial" pitchFamily="34" charset="0"/>
                <a:ea typeface="Arial" pitchFamily="34" charset="-122"/>
                <a:cs typeface="Arial" pitchFamily="34" charset="-120"/>
              </a:rPr>
              <a:t>Why R299 beats R500 here: </a:t>
            </a:r>
            <a:pPr indent="0" marL="0">
              <a:lnSpc>
                <a:spcPts val="1300"/>
              </a:lnSpc>
              <a:buNone/>
            </a:pPr>
            <a:r>
              <a:rPr lang="en-US" sz="950" dirty="0">
                <a:solidFill>
                  <a:srgbClr val="A9B6CB"/>
                </a:solidFill>
                <a:latin typeface="Arial" pitchFamily="34" charset="0"/>
                <a:ea typeface="Arial" pitchFamily="34" charset="-122"/>
                <a:cs typeface="Arial" pitchFamily="34" charset="-120"/>
              </a:rPr>
              <a:t>conversion in the payment path beats conversion in the concourse — the in-flow price is set deliberately below the kiosk price to drive attach. 3-year figures: R600M (6%) · R999M (10%) · R1.50B (15%). At an illustrative 45% margin, the moderate case adds ±R141M a year to FlySafair's ancillary line.</a:t>
            </a:r>
            <a:endParaRPr lang="en-US" sz="950" dirty="0"/>
          </a:p>
        </p:txBody>
      </p:sp>
      <p:sp>
        <p:nvSpPr>
          <p:cNvPr id="57" name="Shape 55"/>
          <p:cNvSpPr/>
          <p:nvPr/>
        </p:nvSpPr>
        <p:spPr>
          <a:xfrm>
            <a:off x="0" y="6583680"/>
            <a:ext cx="12191695" cy="274320"/>
          </a:xfrm>
          <a:prstGeom prst="rect">
            <a:avLst/>
          </a:prstGeom>
          <a:solidFill>
            <a:srgbClr val="0B1B34"/>
          </a:solidFill>
          <a:ln/>
        </p:spPr>
      </p:sp>
      <p:sp>
        <p:nvSpPr>
          <p:cNvPr id="58" name="Text 5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59" name="Text 5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19 / 29</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04 · THE TWO COMMERCIAL ROUTES</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Two options, one decision — and they compound</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Both routes sell the same R500-value product through FlySafair's own front doors — they differ in speed, reach and economics.</a:t>
            </a:r>
            <a:endParaRPr lang="en-US" sz="1150" dirty="0"/>
          </a:p>
        </p:txBody>
      </p:sp>
      <p:sp>
        <p:nvSpPr>
          <p:cNvPr id="5" name="Shape 3"/>
          <p:cNvSpPr/>
          <p:nvPr/>
        </p:nvSpPr>
        <p:spPr>
          <a:xfrm>
            <a:off x="548640" y="1481328"/>
            <a:ext cx="5394960" cy="3611880"/>
          </a:xfrm>
          <a:prstGeom prst="rect">
            <a:avLst/>
          </a:prstGeom>
          <a:solidFill>
            <a:srgbClr val="FFFFFF"/>
          </a:solidFill>
          <a:ln w="12700">
            <a:solidFill>
              <a:srgbClr val="D9E0EA"/>
            </a:solidFill>
            <a:prstDash val="solid"/>
          </a:ln>
        </p:spPr>
      </p:sp>
      <p:sp>
        <p:nvSpPr>
          <p:cNvPr id="6" name="Shape 4"/>
          <p:cNvSpPr/>
          <p:nvPr/>
        </p:nvSpPr>
        <p:spPr>
          <a:xfrm>
            <a:off x="777240" y="1700784"/>
            <a:ext cx="1554480" cy="329184"/>
          </a:xfrm>
          <a:prstGeom prst="roundRect">
            <a:avLst>
              <a:gd name="adj" fmla="val 50000"/>
            </a:avLst>
          </a:prstGeom>
          <a:solidFill>
            <a:srgbClr val="0B1B34"/>
          </a:solidFill>
          <a:ln w="12700">
            <a:solidFill>
              <a:srgbClr val="0B1B34"/>
            </a:solidFill>
            <a:prstDash val="solid"/>
          </a:ln>
        </p:spPr>
      </p:sp>
      <p:sp>
        <p:nvSpPr>
          <p:cNvPr id="7" name="Text 5"/>
          <p:cNvSpPr txBox="1"/>
          <p:nvPr/>
        </p:nvSpPr>
        <p:spPr>
          <a:xfrm>
            <a:off x="777240" y="1700784"/>
            <a:ext cx="155448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OPTION 1</a:t>
            </a:r>
            <a:endParaRPr lang="en-US" sz="950" dirty="0"/>
          </a:p>
        </p:txBody>
      </p:sp>
      <p:sp>
        <p:nvSpPr>
          <p:cNvPr id="8" name="Text 6"/>
          <p:cNvSpPr txBox="1"/>
          <p:nvPr/>
        </p:nvSpPr>
        <p:spPr>
          <a:xfrm>
            <a:off x="777240" y="2121408"/>
            <a:ext cx="4937760" cy="310896"/>
          </a:xfrm>
          <a:prstGeom prst="rect">
            <a:avLst/>
          </a:prstGeom>
          <a:noFill/>
          <a:ln/>
        </p:spPr>
        <p:txBody>
          <a:bodyPr wrap="square" lIns="0" tIns="0" rIns="0" bIns="0" rtlCol="0" anchor="ctr"/>
          <a:lstStyle/>
          <a:p>
            <a:pPr indent="0" marL="0">
              <a:buNone/>
            </a:pPr>
            <a:r>
              <a:rPr lang="en-US" sz="1500" b="1" dirty="0">
                <a:solidFill>
                  <a:srgbClr val="13294B"/>
                </a:solidFill>
                <a:latin typeface="Arial" pitchFamily="34" charset="0"/>
                <a:ea typeface="Arial" pitchFamily="34" charset="-122"/>
                <a:cs typeface="Arial" pitchFamily="34" charset="-120"/>
              </a:rPr>
              <a:t>Smart vending network</a:t>
            </a:r>
            <a:endParaRPr lang="en-US" sz="1500" dirty="0"/>
          </a:p>
        </p:txBody>
      </p:sp>
      <p:sp>
        <p:nvSpPr>
          <p:cNvPr id="9" name="Text 7"/>
          <p:cNvSpPr txBox="1"/>
          <p:nvPr/>
        </p:nvSpPr>
        <p:spPr>
          <a:xfrm>
            <a:off x="777240" y="2542032"/>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Year-1 gross (2% → 8%)</a:t>
            </a:r>
            <a:endParaRPr lang="en-US" sz="950" dirty="0"/>
          </a:p>
        </p:txBody>
      </p:sp>
      <p:sp>
        <p:nvSpPr>
          <p:cNvPr id="10" name="Text 8"/>
          <p:cNvSpPr txBox="1"/>
          <p:nvPr/>
        </p:nvSpPr>
        <p:spPr>
          <a:xfrm>
            <a:off x="3657600" y="2542032"/>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R105M – R420M</a:t>
            </a:r>
            <a:endParaRPr lang="en-US" sz="1150" dirty="0"/>
          </a:p>
        </p:txBody>
      </p:sp>
      <p:sp>
        <p:nvSpPr>
          <p:cNvPr id="11" name="Shape 9"/>
          <p:cNvSpPr/>
          <p:nvPr/>
        </p:nvSpPr>
        <p:spPr>
          <a:xfrm>
            <a:off x="777240" y="2871216"/>
            <a:ext cx="4937760" cy="0"/>
          </a:xfrm>
          <a:prstGeom prst="line">
            <a:avLst/>
          </a:prstGeom>
          <a:noFill/>
          <a:ln w="9525">
            <a:solidFill>
              <a:srgbClr val="D9E0EA"/>
            </a:solidFill>
            <a:prstDash val="solid"/>
          </a:ln>
        </p:spPr>
      </p:sp>
      <p:sp>
        <p:nvSpPr>
          <p:cNvPr id="12" name="Text 10"/>
          <p:cNvSpPr txBox="1"/>
          <p:nvPr/>
        </p:nvSpPr>
        <p:spPr>
          <a:xfrm>
            <a:off x="777240" y="2944368"/>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5-year gross (aggressive)</a:t>
            </a:r>
            <a:endParaRPr lang="en-US" sz="950" dirty="0"/>
          </a:p>
        </p:txBody>
      </p:sp>
      <p:sp>
        <p:nvSpPr>
          <p:cNvPr id="13" name="Text 11"/>
          <p:cNvSpPr txBox="1"/>
          <p:nvPr/>
        </p:nvSpPr>
        <p:spPr>
          <a:xfrm>
            <a:off x="3657600" y="2944368"/>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R2.37B</a:t>
            </a:r>
            <a:endParaRPr lang="en-US" sz="1150" dirty="0"/>
          </a:p>
        </p:txBody>
      </p:sp>
      <p:sp>
        <p:nvSpPr>
          <p:cNvPr id="14" name="Shape 12"/>
          <p:cNvSpPr/>
          <p:nvPr/>
        </p:nvSpPr>
        <p:spPr>
          <a:xfrm>
            <a:off x="777240" y="3273552"/>
            <a:ext cx="4937760" cy="0"/>
          </a:xfrm>
          <a:prstGeom prst="line">
            <a:avLst/>
          </a:prstGeom>
          <a:noFill/>
          <a:ln w="9525">
            <a:solidFill>
              <a:srgbClr val="D9E0EA"/>
            </a:solidFill>
            <a:prstDash val="solid"/>
          </a:ln>
        </p:spPr>
      </p:sp>
      <p:sp>
        <p:nvSpPr>
          <p:cNvPr id="15" name="Text 13"/>
          <p:cNvSpPr txBox="1"/>
          <p:nvPr/>
        </p:nvSpPr>
        <p:spPr>
          <a:xfrm>
            <a:off x="777240" y="3346704"/>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Time to first revenue</a:t>
            </a:r>
            <a:endParaRPr lang="en-US" sz="950" dirty="0"/>
          </a:p>
        </p:txBody>
      </p:sp>
      <p:sp>
        <p:nvSpPr>
          <p:cNvPr id="16" name="Text 14"/>
          <p:cNvSpPr txBox="1"/>
          <p:nvPr/>
        </p:nvSpPr>
        <p:spPr>
          <a:xfrm>
            <a:off x="3657600" y="3346704"/>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±90 days</a:t>
            </a:r>
            <a:endParaRPr lang="en-US" sz="1150" dirty="0"/>
          </a:p>
        </p:txBody>
      </p:sp>
      <p:sp>
        <p:nvSpPr>
          <p:cNvPr id="17" name="Shape 15"/>
          <p:cNvSpPr/>
          <p:nvPr/>
        </p:nvSpPr>
        <p:spPr>
          <a:xfrm>
            <a:off x="777240" y="3675888"/>
            <a:ext cx="4937760" cy="0"/>
          </a:xfrm>
          <a:prstGeom prst="line">
            <a:avLst/>
          </a:prstGeom>
          <a:noFill/>
          <a:ln w="9525">
            <a:solidFill>
              <a:srgbClr val="D9E0EA"/>
            </a:solidFill>
            <a:prstDash val="solid"/>
          </a:ln>
        </p:spPr>
      </p:sp>
      <p:sp>
        <p:nvSpPr>
          <p:cNvPr id="18" name="Text 16"/>
          <p:cNvSpPr txBox="1"/>
          <p:nvPr/>
        </p:nvSpPr>
        <p:spPr>
          <a:xfrm>
            <a:off x="777240" y="3840480"/>
            <a:ext cx="5029200" cy="1188720"/>
          </a:xfrm>
          <a:prstGeom prst="rect">
            <a:avLst/>
          </a:prstGeom>
          <a:noFill/>
          <a:ln/>
        </p:spPr>
        <p:txBody>
          <a:bodyPr wrap="square" lIns="0" tIns="0" rIns="0" bIns="0" rtlCol="0" anchor="t"/>
          <a:lstStyle/>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Zero IT integration — no booking-system work at all</a:t>
            </a:r>
            <a:endParaRPr lang="en-US" sz="880" dirty="0"/>
          </a:p>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Sells to the whole terminal, including non-FlySafair passengers</a:t>
            </a:r>
            <a:endParaRPr lang="en-US" sz="880" dirty="0"/>
          </a:p>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Physical brand presence at every check-in and outlet</a:t>
            </a:r>
            <a:endParaRPr lang="en-US" sz="880" dirty="0"/>
          </a:p>
        </p:txBody>
      </p:sp>
      <p:sp>
        <p:nvSpPr>
          <p:cNvPr id="19" name="Shape 17"/>
          <p:cNvSpPr/>
          <p:nvPr/>
        </p:nvSpPr>
        <p:spPr>
          <a:xfrm>
            <a:off x="6245352" y="1481328"/>
            <a:ext cx="5394960" cy="3611880"/>
          </a:xfrm>
          <a:prstGeom prst="rect">
            <a:avLst/>
          </a:prstGeom>
          <a:solidFill>
            <a:srgbClr val="FFFFFF"/>
          </a:solidFill>
          <a:ln w="12700">
            <a:solidFill>
              <a:srgbClr val="D9E0EA"/>
            </a:solidFill>
            <a:prstDash val="solid"/>
          </a:ln>
        </p:spPr>
      </p:sp>
      <p:sp>
        <p:nvSpPr>
          <p:cNvPr id="20" name="Shape 18"/>
          <p:cNvSpPr/>
          <p:nvPr/>
        </p:nvSpPr>
        <p:spPr>
          <a:xfrm>
            <a:off x="6473952" y="1700784"/>
            <a:ext cx="1554480" cy="329184"/>
          </a:xfrm>
          <a:prstGeom prst="roundRect">
            <a:avLst>
              <a:gd name="adj" fmla="val 50000"/>
            </a:avLst>
          </a:prstGeom>
          <a:solidFill>
            <a:srgbClr val="0B1B34"/>
          </a:solidFill>
          <a:ln w="12700">
            <a:solidFill>
              <a:srgbClr val="0B1B34"/>
            </a:solidFill>
            <a:prstDash val="solid"/>
          </a:ln>
        </p:spPr>
      </p:sp>
      <p:sp>
        <p:nvSpPr>
          <p:cNvPr id="21" name="Text 19"/>
          <p:cNvSpPr txBox="1"/>
          <p:nvPr/>
        </p:nvSpPr>
        <p:spPr>
          <a:xfrm>
            <a:off x="6473952" y="1700784"/>
            <a:ext cx="155448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OPTION 2</a:t>
            </a:r>
            <a:endParaRPr lang="en-US" sz="950" dirty="0"/>
          </a:p>
        </p:txBody>
      </p:sp>
      <p:sp>
        <p:nvSpPr>
          <p:cNvPr id="22" name="Text 20"/>
          <p:cNvSpPr txBox="1"/>
          <p:nvPr/>
        </p:nvSpPr>
        <p:spPr>
          <a:xfrm>
            <a:off x="6473952" y="2121408"/>
            <a:ext cx="4937760" cy="310896"/>
          </a:xfrm>
          <a:prstGeom prst="rect">
            <a:avLst/>
          </a:prstGeom>
          <a:noFill/>
          <a:ln/>
        </p:spPr>
        <p:txBody>
          <a:bodyPr wrap="square" lIns="0" tIns="0" rIns="0" bIns="0" rtlCol="0" anchor="ctr"/>
          <a:lstStyle/>
          <a:p>
            <a:pPr indent="0" marL="0">
              <a:buNone/>
            </a:pPr>
            <a:r>
              <a:rPr lang="en-US" sz="1500" b="1" dirty="0">
                <a:solidFill>
                  <a:srgbClr val="13294B"/>
                </a:solidFill>
                <a:latin typeface="Arial" pitchFamily="34" charset="0"/>
                <a:ea typeface="Arial" pitchFamily="34" charset="-122"/>
                <a:cs typeface="Arial" pitchFamily="34" charset="-120"/>
              </a:rPr>
              <a:t>Ticket-flow integration</a:t>
            </a:r>
            <a:endParaRPr lang="en-US" sz="1500" dirty="0"/>
          </a:p>
        </p:txBody>
      </p:sp>
      <p:sp>
        <p:nvSpPr>
          <p:cNvPr id="23" name="Text 21"/>
          <p:cNvSpPr txBox="1"/>
          <p:nvPr/>
        </p:nvSpPr>
        <p:spPr>
          <a:xfrm>
            <a:off x="6473952" y="2542032"/>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Year-1 gross (6% → 15%)</a:t>
            </a:r>
            <a:endParaRPr lang="en-US" sz="950" dirty="0"/>
          </a:p>
        </p:txBody>
      </p:sp>
      <p:sp>
        <p:nvSpPr>
          <p:cNvPr id="24" name="Text 22"/>
          <p:cNvSpPr txBox="1"/>
          <p:nvPr/>
        </p:nvSpPr>
        <p:spPr>
          <a:xfrm>
            <a:off x="9354312" y="2542032"/>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R188M – R471M</a:t>
            </a:r>
            <a:endParaRPr lang="en-US" sz="1150" dirty="0"/>
          </a:p>
        </p:txBody>
      </p:sp>
      <p:sp>
        <p:nvSpPr>
          <p:cNvPr id="25" name="Shape 23"/>
          <p:cNvSpPr/>
          <p:nvPr/>
        </p:nvSpPr>
        <p:spPr>
          <a:xfrm>
            <a:off x="6473952" y="2871216"/>
            <a:ext cx="4937760" cy="0"/>
          </a:xfrm>
          <a:prstGeom prst="line">
            <a:avLst/>
          </a:prstGeom>
          <a:noFill/>
          <a:ln w="9525">
            <a:solidFill>
              <a:srgbClr val="D9E0EA"/>
            </a:solidFill>
            <a:prstDash val="solid"/>
          </a:ln>
        </p:spPr>
      </p:sp>
      <p:sp>
        <p:nvSpPr>
          <p:cNvPr id="26" name="Text 24"/>
          <p:cNvSpPr txBox="1"/>
          <p:nvPr/>
        </p:nvSpPr>
        <p:spPr>
          <a:xfrm>
            <a:off x="6473952" y="2944368"/>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5-year gross (aggressive)</a:t>
            </a:r>
            <a:endParaRPr lang="en-US" sz="950" dirty="0"/>
          </a:p>
        </p:txBody>
      </p:sp>
      <p:sp>
        <p:nvSpPr>
          <p:cNvPr id="27" name="Text 25"/>
          <p:cNvSpPr txBox="1"/>
          <p:nvPr/>
        </p:nvSpPr>
        <p:spPr>
          <a:xfrm>
            <a:off x="9354312" y="2944368"/>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R2.65B</a:t>
            </a:r>
            <a:endParaRPr lang="en-US" sz="1150" dirty="0"/>
          </a:p>
        </p:txBody>
      </p:sp>
      <p:sp>
        <p:nvSpPr>
          <p:cNvPr id="28" name="Shape 26"/>
          <p:cNvSpPr/>
          <p:nvPr/>
        </p:nvSpPr>
        <p:spPr>
          <a:xfrm>
            <a:off x="6473952" y="3273552"/>
            <a:ext cx="4937760" cy="0"/>
          </a:xfrm>
          <a:prstGeom prst="line">
            <a:avLst/>
          </a:prstGeom>
          <a:noFill/>
          <a:ln w="9525">
            <a:solidFill>
              <a:srgbClr val="D9E0EA"/>
            </a:solidFill>
            <a:prstDash val="solid"/>
          </a:ln>
        </p:spPr>
      </p:sp>
      <p:sp>
        <p:nvSpPr>
          <p:cNvPr id="29" name="Text 27"/>
          <p:cNvSpPr txBox="1"/>
          <p:nvPr/>
        </p:nvSpPr>
        <p:spPr>
          <a:xfrm>
            <a:off x="6473952" y="3346704"/>
            <a:ext cx="3108960" cy="310896"/>
          </a:xfrm>
          <a:prstGeom prst="rect">
            <a:avLst/>
          </a:prstGeom>
          <a:noFill/>
          <a:ln/>
        </p:spPr>
        <p:txBody>
          <a:bodyPr wrap="square" lIns="0" tIns="0" rIns="0" bIns="0" rtlCol="0" anchor="ctr"/>
          <a:lstStyle/>
          <a:p>
            <a:pPr indent="0" marL="0">
              <a:buNone/>
            </a:pPr>
            <a:r>
              <a:rPr lang="en-US" sz="950" dirty="0">
                <a:solidFill>
                  <a:srgbClr val="5E6B7E"/>
                </a:solidFill>
                <a:latin typeface="Arial" pitchFamily="34" charset="0"/>
                <a:ea typeface="Arial" pitchFamily="34" charset="-122"/>
                <a:cs typeface="Arial" pitchFamily="34" charset="-120"/>
              </a:rPr>
              <a:t>FlySafair margin (moderate, 45%)</a:t>
            </a:r>
            <a:endParaRPr lang="en-US" sz="950" dirty="0"/>
          </a:p>
        </p:txBody>
      </p:sp>
      <p:sp>
        <p:nvSpPr>
          <p:cNvPr id="30" name="Text 28"/>
          <p:cNvSpPr txBox="1"/>
          <p:nvPr/>
        </p:nvSpPr>
        <p:spPr>
          <a:xfrm>
            <a:off x="9354312" y="3346704"/>
            <a:ext cx="2057400" cy="310896"/>
          </a:xfrm>
          <a:prstGeom prst="rect">
            <a:avLst/>
          </a:prstGeom>
          <a:noFill/>
          <a:ln/>
        </p:spPr>
        <p:txBody>
          <a:bodyPr wrap="square" lIns="0" tIns="0" rIns="0" bIns="0" rtlCol="0" anchor="ctr"/>
          <a:lstStyle/>
          <a:p>
            <a:pPr algn="r" indent="0" marL="0">
              <a:buNone/>
            </a:pPr>
            <a:r>
              <a:rPr lang="en-US" sz="1150" b="1" dirty="0">
                <a:solidFill>
                  <a:srgbClr val="F17400"/>
                </a:solidFill>
                <a:latin typeface="Arial" pitchFamily="34" charset="0"/>
                <a:ea typeface="Arial" pitchFamily="34" charset="-122"/>
                <a:cs typeface="Arial" pitchFamily="34" charset="-120"/>
              </a:rPr>
              <a:t>±R141M / yr</a:t>
            </a:r>
            <a:endParaRPr lang="en-US" sz="1150" dirty="0"/>
          </a:p>
        </p:txBody>
      </p:sp>
      <p:sp>
        <p:nvSpPr>
          <p:cNvPr id="31" name="Shape 29"/>
          <p:cNvSpPr/>
          <p:nvPr/>
        </p:nvSpPr>
        <p:spPr>
          <a:xfrm>
            <a:off x="6473952" y="3675888"/>
            <a:ext cx="4937760" cy="0"/>
          </a:xfrm>
          <a:prstGeom prst="line">
            <a:avLst/>
          </a:prstGeom>
          <a:noFill/>
          <a:ln w="9525">
            <a:solidFill>
              <a:srgbClr val="D9E0EA"/>
            </a:solidFill>
            <a:prstDash val="solid"/>
          </a:ln>
        </p:spPr>
      </p:sp>
      <p:sp>
        <p:nvSpPr>
          <p:cNvPr id="32" name="Text 30"/>
          <p:cNvSpPr txBox="1"/>
          <p:nvPr/>
        </p:nvSpPr>
        <p:spPr>
          <a:xfrm>
            <a:off x="6473952" y="3840480"/>
            <a:ext cx="5029200" cy="1188720"/>
          </a:xfrm>
          <a:prstGeom prst="rect">
            <a:avLst/>
          </a:prstGeom>
          <a:noFill/>
          <a:ln/>
        </p:spPr>
        <p:txBody>
          <a:bodyPr wrap="square" lIns="0" tIns="0" rIns="0" bIns="0" rtlCol="0" anchor="t"/>
          <a:lstStyle/>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Attach-rate economics — sold where FlySafair already converts</a:t>
            </a:r>
            <a:endParaRPr lang="en-US" sz="880" dirty="0"/>
          </a:p>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Zero floor space, zero station capex, zero staffing</a:t>
            </a:r>
            <a:endParaRPr lang="en-US" sz="880" dirty="0"/>
          </a:p>
          <a:p>
            <a:pPr indent="0" marL="0">
              <a:lnSpc>
                <a:spcPts val="1100"/>
              </a:lnSpc>
              <a:buNone/>
            </a:pPr>
            <a:r>
              <a:rPr lang="en-US" sz="880" b="1" dirty="0">
                <a:solidFill>
                  <a:srgbClr val="F17400"/>
                </a:solidFill>
                <a:latin typeface="Arial" pitchFamily="34" charset="0"/>
                <a:ea typeface="Arial" pitchFamily="34" charset="-122"/>
                <a:cs typeface="Arial" pitchFamily="34" charset="-120"/>
              </a:rPr>
              <a:t>✓  </a:t>
            </a:r>
            <a:pPr indent="0" marL="0">
              <a:lnSpc>
                <a:spcPts val="1100"/>
              </a:lnSpc>
              <a:spcAft>
                <a:spcPts val="500"/>
              </a:spcAft>
              <a:buNone/>
            </a:pPr>
            <a:r>
              <a:rPr lang="en-US" sz="880" dirty="0">
                <a:solidFill>
                  <a:srgbClr val="5E6B7E"/>
                </a:solidFill>
                <a:latin typeface="Arial" pitchFamily="34" charset="0"/>
                <a:ea typeface="Arial" pitchFamily="34" charset="-122"/>
                <a:cs typeface="Arial" pitchFamily="34" charset="-120"/>
              </a:rPr>
              <a:t>Every unit pre-paired to a booking — cleaner data for Nexas AI</a:t>
            </a:r>
            <a:endParaRPr lang="en-US" sz="880" dirty="0"/>
          </a:p>
        </p:txBody>
      </p:sp>
      <p:sp>
        <p:nvSpPr>
          <p:cNvPr id="33" name="Shape 31"/>
          <p:cNvSpPr/>
          <p:nvPr/>
        </p:nvSpPr>
        <p:spPr>
          <a:xfrm>
            <a:off x="548640" y="5285232"/>
            <a:ext cx="11094415" cy="749808"/>
          </a:xfrm>
          <a:prstGeom prst="rect">
            <a:avLst/>
          </a:prstGeom>
          <a:solidFill>
            <a:srgbClr val="0B1B34"/>
          </a:solidFill>
          <a:ln/>
        </p:spPr>
      </p:sp>
      <p:sp>
        <p:nvSpPr>
          <p:cNvPr id="34" name="Text 32"/>
          <p:cNvSpPr txBox="1"/>
          <p:nvPr/>
        </p:nvSpPr>
        <p:spPr>
          <a:xfrm>
            <a:off x="777240" y="5285232"/>
            <a:ext cx="10637215" cy="749808"/>
          </a:xfrm>
          <a:prstGeom prst="rect">
            <a:avLst/>
          </a:prstGeom>
          <a:noFill/>
          <a:ln/>
        </p:spPr>
        <p:txBody>
          <a:bodyPr wrap="square" lIns="0" tIns="0" rIns="0" bIns="0" rtlCol="0" anchor="ctr"/>
          <a:lstStyle/>
          <a:p>
            <a:pPr indent="0" marL="0">
              <a:lnSpc>
                <a:spcPts val="1350"/>
              </a:lnSpc>
              <a:buNone/>
            </a:pPr>
            <a:r>
              <a:rPr lang="en-US" sz="1000" b="1" dirty="0">
                <a:solidFill>
                  <a:srgbClr val="F17400"/>
                </a:solidFill>
                <a:latin typeface="Arial" pitchFamily="34" charset="0"/>
                <a:ea typeface="Arial" pitchFamily="34" charset="-122"/>
                <a:cs typeface="Arial" pitchFamily="34" charset="-120"/>
              </a:rPr>
              <a:t>The recommended path is both: </a:t>
            </a:r>
            <a:pPr indent="0" marL="0">
              <a:lnSpc>
                <a:spcPts val="1350"/>
              </a:lnSpc>
              <a:buNone/>
            </a:pPr>
            <a:r>
              <a:rPr lang="en-US" sz="1000" dirty="0">
                <a:solidFill>
                  <a:srgbClr val="A9B6CB"/>
                </a:solidFill>
                <a:latin typeface="Arial" pitchFamily="34" charset="0"/>
                <a:ea typeface="Arial" pitchFamily="34" charset="-122"/>
                <a:cs typeface="Arial" pitchFamily="34" charset="-120"/>
              </a:rPr>
              <a:t>launch Option 1 in ±90 days while the Option 2 integration is built, then run them together — vending keeps serving walk-ups and other carriers' passengers after the ticket flow goes live. Modelled together at R390M+ a year, without double-counting.</a:t>
            </a:r>
            <a:endParaRPr lang="en-US" sz="1000" dirty="0"/>
          </a:p>
        </p:txBody>
      </p:sp>
      <p:sp>
        <p:nvSpPr>
          <p:cNvPr id="35" name="Shape 33"/>
          <p:cNvSpPr/>
          <p:nvPr/>
        </p:nvSpPr>
        <p:spPr>
          <a:xfrm>
            <a:off x="0" y="6583680"/>
            <a:ext cx="12191695" cy="274320"/>
          </a:xfrm>
          <a:prstGeom prst="rect">
            <a:avLst/>
          </a:prstGeom>
          <a:solidFill>
            <a:srgbClr val="0B1B34"/>
          </a:solidFill>
          <a:ln/>
        </p:spPr>
      </p:sp>
      <p:sp>
        <p:nvSpPr>
          <p:cNvPr id="36" name="Text 34"/>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7" name="Text 35"/>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20 / 29</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05 · THE BUSINESS CASE</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How every number in this proposal was built</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A transparent, source-cited model — deliberately conservative-defensible, not sales-inflated.</a:t>
            </a:r>
            <a:endParaRPr lang="en-US" sz="1150" dirty="0"/>
          </a:p>
        </p:txBody>
      </p:sp>
      <p:sp>
        <p:nvSpPr>
          <p:cNvPr id="5" name="Shape 3"/>
          <p:cNvSpPr/>
          <p:nvPr/>
        </p:nvSpPr>
        <p:spPr>
          <a:xfrm>
            <a:off x="548640" y="1481328"/>
            <a:ext cx="457200" cy="457200"/>
          </a:xfrm>
          <a:prstGeom prst="ellipse">
            <a:avLst/>
          </a:prstGeom>
          <a:solidFill>
            <a:srgbClr val="F17400"/>
          </a:solidFill>
          <a:ln/>
        </p:spPr>
      </p:sp>
      <p:sp>
        <p:nvSpPr>
          <p:cNvPr id="6" name="Text 4"/>
          <p:cNvSpPr txBox="1"/>
          <p:nvPr/>
        </p:nvSpPr>
        <p:spPr>
          <a:xfrm>
            <a:off x="548640" y="1481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463040"/>
            <a:ext cx="5394960" cy="256032"/>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Passengers</a:t>
            </a:r>
            <a:endParaRPr lang="en-US" sz="1100" dirty="0"/>
          </a:p>
        </p:txBody>
      </p:sp>
      <p:sp>
        <p:nvSpPr>
          <p:cNvPr id="8" name="Text 6"/>
          <p:cNvSpPr txBox="1"/>
          <p:nvPr/>
        </p:nvSpPr>
        <p:spPr>
          <a:xfrm>
            <a:off x="1188720" y="1719072"/>
            <a:ext cx="5669280" cy="566928"/>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10.5 million a year — modelled from FlySafair's published ±30,000 passengers/day and ±180 daily flights; ±60% domestic share.</a:t>
            </a:r>
            <a:endParaRPr lang="en-US" sz="880" dirty="0"/>
          </a:p>
        </p:txBody>
      </p:sp>
      <p:sp>
        <p:nvSpPr>
          <p:cNvPr id="9" name="Shape 7"/>
          <p:cNvSpPr/>
          <p:nvPr/>
        </p:nvSpPr>
        <p:spPr>
          <a:xfrm>
            <a:off x="548640" y="2322576"/>
            <a:ext cx="457200" cy="457200"/>
          </a:xfrm>
          <a:prstGeom prst="ellipse">
            <a:avLst/>
          </a:prstGeom>
          <a:solidFill>
            <a:srgbClr val="F17400"/>
          </a:solidFill>
          <a:ln/>
        </p:spPr>
      </p:sp>
      <p:sp>
        <p:nvSpPr>
          <p:cNvPr id="10" name="Text 8"/>
          <p:cNvSpPr txBox="1"/>
          <p:nvPr/>
        </p:nvSpPr>
        <p:spPr>
          <a:xfrm>
            <a:off x="548640" y="232257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304288"/>
            <a:ext cx="5394960" cy="256032"/>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Mishandling rate</a:t>
            </a:r>
            <a:endParaRPr lang="en-US" sz="1100" dirty="0"/>
          </a:p>
        </p:txBody>
      </p:sp>
      <p:sp>
        <p:nvSpPr>
          <p:cNvPr id="12" name="Text 10"/>
          <p:cNvSpPr txBox="1"/>
          <p:nvPr/>
        </p:nvSpPr>
        <p:spPr>
          <a:xfrm>
            <a:off x="1188720" y="2560320"/>
            <a:ext cx="5669280" cy="566928"/>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2.7 bags per 1,000 passengers — SITA's domestic / point-to-point benchmark class, not the higher global or transfer-heavy rates.</a:t>
            </a:r>
            <a:endParaRPr lang="en-US" sz="880" dirty="0"/>
          </a:p>
        </p:txBody>
      </p:sp>
      <p:sp>
        <p:nvSpPr>
          <p:cNvPr id="13" name="Shape 11"/>
          <p:cNvSpPr/>
          <p:nvPr/>
        </p:nvSpPr>
        <p:spPr>
          <a:xfrm>
            <a:off x="548640" y="3163824"/>
            <a:ext cx="457200" cy="457200"/>
          </a:xfrm>
          <a:prstGeom prst="ellipse">
            <a:avLst/>
          </a:prstGeom>
          <a:solidFill>
            <a:srgbClr val="F17400"/>
          </a:solidFill>
          <a:ln/>
        </p:spPr>
      </p:sp>
      <p:sp>
        <p:nvSpPr>
          <p:cNvPr id="14" name="Text 12"/>
          <p:cNvSpPr txBox="1"/>
          <p:nvPr/>
        </p:nvSpPr>
        <p:spPr>
          <a:xfrm>
            <a:off x="548640" y="31638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145536"/>
            <a:ext cx="5394960" cy="256032"/>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Never-arrived share</a:t>
            </a:r>
            <a:endParaRPr lang="en-US" sz="1100" dirty="0"/>
          </a:p>
        </p:txBody>
      </p:sp>
      <p:sp>
        <p:nvSpPr>
          <p:cNvPr id="16" name="Text 14"/>
          <p:cNvSpPr txBox="1"/>
          <p:nvPr/>
        </p:nvSpPr>
        <p:spPr>
          <a:xfrm>
            <a:off x="1188720" y="3401568"/>
            <a:ext cx="5669280" cy="566928"/>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4% of mishandled bags are never recovered (SITA 2026) — the highest-cost, highest-emotion failure mode.</a:t>
            </a:r>
            <a:endParaRPr lang="en-US" sz="880" dirty="0"/>
          </a:p>
        </p:txBody>
      </p:sp>
      <p:sp>
        <p:nvSpPr>
          <p:cNvPr id="17" name="Shape 15"/>
          <p:cNvSpPr/>
          <p:nvPr/>
        </p:nvSpPr>
        <p:spPr>
          <a:xfrm>
            <a:off x="548640" y="4005072"/>
            <a:ext cx="457200" cy="457200"/>
          </a:xfrm>
          <a:prstGeom prst="ellipse">
            <a:avLst/>
          </a:prstGeom>
          <a:solidFill>
            <a:srgbClr val="F17400"/>
          </a:solidFill>
          <a:ln/>
        </p:spPr>
      </p:sp>
      <p:sp>
        <p:nvSpPr>
          <p:cNvPr id="18" name="Text 16"/>
          <p:cNvSpPr txBox="1"/>
          <p:nvPr/>
        </p:nvSpPr>
        <p:spPr>
          <a:xfrm>
            <a:off x="548640" y="400507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3986784"/>
            <a:ext cx="5394960" cy="256032"/>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Tampering layer</a:t>
            </a:r>
            <a:endParaRPr lang="en-US" sz="1100" dirty="0"/>
          </a:p>
        </p:txBody>
      </p:sp>
      <p:sp>
        <p:nvSpPr>
          <p:cNvPr id="20" name="Text 18"/>
          <p:cNvSpPr txBox="1"/>
          <p:nvPr/>
        </p:nvSpPr>
        <p:spPr>
          <a:xfrm>
            <a:off x="1188720" y="4242816"/>
            <a:ext cx="5669280" cy="566928"/>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0.5 claims per 1,000 passengers — modelled on South Africa's documented airport-pilferage history; FlySafair publishes no official rate.</a:t>
            </a:r>
            <a:endParaRPr lang="en-US" sz="880" dirty="0"/>
          </a:p>
        </p:txBody>
      </p:sp>
      <p:sp>
        <p:nvSpPr>
          <p:cNvPr id="21" name="Shape 19"/>
          <p:cNvSpPr/>
          <p:nvPr/>
        </p:nvSpPr>
        <p:spPr>
          <a:xfrm>
            <a:off x="548640" y="4846320"/>
            <a:ext cx="457200" cy="457200"/>
          </a:xfrm>
          <a:prstGeom prst="ellipse">
            <a:avLst/>
          </a:prstGeom>
          <a:solidFill>
            <a:srgbClr val="F17400"/>
          </a:solidFill>
          <a:ln/>
        </p:spPr>
      </p:sp>
      <p:sp>
        <p:nvSpPr>
          <p:cNvPr id="22" name="Text 20"/>
          <p:cNvSpPr txBox="1"/>
          <p:nvPr/>
        </p:nvSpPr>
        <p:spPr>
          <a:xfrm>
            <a:off x="548640" y="4846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4828032"/>
            <a:ext cx="5394960" cy="256032"/>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Unit costs</a:t>
            </a:r>
            <a:endParaRPr lang="en-US" sz="1100" dirty="0"/>
          </a:p>
        </p:txBody>
      </p:sp>
      <p:sp>
        <p:nvSpPr>
          <p:cNvPr id="24" name="Text 22"/>
          <p:cNvSpPr txBox="1"/>
          <p:nvPr/>
        </p:nvSpPr>
        <p:spPr>
          <a:xfrm>
            <a:off x="1188720" y="5084064"/>
            <a:ext cx="5669280" cy="566928"/>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R1,150 per delayed/damaged bag (domestic-calibrated), R11,240 per never-arrived bag and R2,850 per tampering claim — SITA 2026 benchmarks at R17.70/$.</a:t>
            </a:r>
            <a:endParaRPr lang="en-US" sz="880" dirty="0"/>
          </a:p>
        </p:txBody>
      </p:sp>
      <p:sp>
        <p:nvSpPr>
          <p:cNvPr id="25" name="Shape 23"/>
          <p:cNvSpPr/>
          <p:nvPr/>
        </p:nvSpPr>
        <p:spPr>
          <a:xfrm>
            <a:off x="7315200" y="1481328"/>
            <a:ext cx="4325112" cy="4023360"/>
          </a:xfrm>
          <a:prstGeom prst="rect">
            <a:avLst/>
          </a:prstGeom>
          <a:solidFill>
            <a:srgbClr val="F4F7FB"/>
          </a:solidFill>
          <a:ln w="12700">
            <a:solidFill>
              <a:srgbClr val="D9E0EA"/>
            </a:solidFill>
            <a:prstDash val="solid"/>
          </a:ln>
        </p:spPr>
      </p:sp>
      <p:sp>
        <p:nvSpPr>
          <p:cNvPr id="26" name="Text 24"/>
          <p:cNvSpPr txBox="1"/>
          <p:nvPr/>
        </p:nvSpPr>
        <p:spPr>
          <a:xfrm>
            <a:off x="7543800" y="1664208"/>
            <a:ext cx="384048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THREE RECOVERY SCENARIOS</a:t>
            </a:r>
            <a:endParaRPr lang="en-US" sz="1000" dirty="0"/>
          </a:p>
        </p:txBody>
      </p:sp>
      <p:sp>
        <p:nvSpPr>
          <p:cNvPr id="27" name="Text 25"/>
          <p:cNvSpPr txBox="1"/>
          <p:nvPr/>
        </p:nvSpPr>
        <p:spPr>
          <a:xfrm>
            <a:off x="7543800" y="2057400"/>
            <a:ext cx="1234440" cy="502920"/>
          </a:xfrm>
          <a:prstGeom prst="rect">
            <a:avLst/>
          </a:prstGeom>
          <a:noFill/>
          <a:ln/>
        </p:spPr>
        <p:txBody>
          <a:bodyPr wrap="square" lIns="0" tIns="0" rIns="0" bIns="0" rtlCol="0" anchor="ctr"/>
          <a:lstStyle/>
          <a:p>
            <a:pPr indent="0" marL="0">
              <a:buNone/>
            </a:pPr>
            <a:r>
              <a:rPr lang="en-US" sz="2600" b="1" dirty="0">
                <a:solidFill>
                  <a:srgbClr val="8A96A8"/>
                </a:solidFill>
                <a:latin typeface="Arial" pitchFamily="34" charset="0"/>
                <a:ea typeface="Arial" pitchFamily="34" charset="-122"/>
                <a:cs typeface="Arial" pitchFamily="34" charset="-120"/>
              </a:rPr>
              <a:t>40%</a:t>
            </a:r>
            <a:endParaRPr lang="en-US" sz="2600" dirty="0"/>
          </a:p>
        </p:txBody>
      </p:sp>
      <p:sp>
        <p:nvSpPr>
          <p:cNvPr id="28" name="Text 26"/>
          <p:cNvSpPr txBox="1"/>
          <p:nvPr/>
        </p:nvSpPr>
        <p:spPr>
          <a:xfrm>
            <a:off x="8869680" y="2075688"/>
            <a:ext cx="2743200" cy="237744"/>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Conservative</a:t>
            </a:r>
            <a:endParaRPr lang="en-US" sz="1100" dirty="0"/>
          </a:p>
        </p:txBody>
      </p:sp>
      <p:sp>
        <p:nvSpPr>
          <p:cNvPr id="29" name="Text 27"/>
          <p:cNvSpPr txBox="1"/>
          <p:nvPr/>
        </p:nvSpPr>
        <p:spPr>
          <a:xfrm>
            <a:off x="8869680" y="2331720"/>
            <a:ext cx="2697480" cy="822960"/>
          </a:xfrm>
          <a:prstGeom prst="rect">
            <a:avLst/>
          </a:prstGeom>
          <a:noFill/>
          <a:ln/>
        </p:spPr>
        <p:txBody>
          <a:bodyPr wrap="square" lIns="0" tIns="0" rIns="0" bIns="0" rtlCol="0" anchor="ctr"/>
          <a:lstStyle/>
          <a:p>
            <a:pPr indent="0" marL="0">
              <a:lnSpc>
                <a:spcPts val="1050"/>
              </a:lnSpc>
              <a:buNone/>
            </a:pPr>
            <a:r>
              <a:rPr lang="en-US" sz="830" dirty="0">
                <a:solidFill>
                  <a:srgbClr val="5E6B7E"/>
                </a:solidFill>
                <a:latin typeface="Arial" pitchFamily="34" charset="0"/>
                <a:ea typeface="Arial" pitchFamily="34" charset="-122"/>
                <a:cs typeface="Arial" pitchFamily="34" charset="-120"/>
              </a:rPr>
              <a:t>A cautious first-year adoption-and-recovery assumption, before any process maturity.</a:t>
            </a:r>
            <a:endParaRPr lang="en-US" sz="830" dirty="0"/>
          </a:p>
        </p:txBody>
      </p:sp>
      <p:sp>
        <p:nvSpPr>
          <p:cNvPr id="30" name="Text 28"/>
          <p:cNvSpPr txBox="1"/>
          <p:nvPr/>
        </p:nvSpPr>
        <p:spPr>
          <a:xfrm>
            <a:off x="7543800" y="3191256"/>
            <a:ext cx="1234440" cy="502920"/>
          </a:xfrm>
          <a:prstGeom prst="rect">
            <a:avLst/>
          </a:prstGeom>
          <a:noFill/>
          <a:ln/>
        </p:spPr>
        <p:txBody>
          <a:bodyPr wrap="square" lIns="0" tIns="0" rIns="0" bIns="0" rtlCol="0" anchor="ctr"/>
          <a:lstStyle/>
          <a:p>
            <a:pPr indent="0" marL="0">
              <a:buNone/>
            </a:pPr>
            <a:r>
              <a:rPr lang="en-US" sz="2600" b="1" dirty="0">
                <a:solidFill>
                  <a:srgbClr val="13294B"/>
                </a:solidFill>
                <a:latin typeface="Arial" pitchFamily="34" charset="0"/>
                <a:ea typeface="Arial" pitchFamily="34" charset="-122"/>
                <a:cs typeface="Arial" pitchFamily="34" charset="-120"/>
              </a:rPr>
              <a:t>65%</a:t>
            </a:r>
            <a:endParaRPr lang="en-US" sz="2600" dirty="0"/>
          </a:p>
        </p:txBody>
      </p:sp>
      <p:sp>
        <p:nvSpPr>
          <p:cNvPr id="31" name="Text 29"/>
          <p:cNvSpPr txBox="1"/>
          <p:nvPr/>
        </p:nvSpPr>
        <p:spPr>
          <a:xfrm>
            <a:off x="8869680" y="3209544"/>
            <a:ext cx="2743200" cy="237744"/>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Moderate</a:t>
            </a:r>
            <a:endParaRPr lang="en-US" sz="1100" dirty="0"/>
          </a:p>
        </p:txBody>
      </p:sp>
      <p:sp>
        <p:nvSpPr>
          <p:cNvPr id="32" name="Text 30"/>
          <p:cNvSpPr txBox="1"/>
          <p:nvPr/>
        </p:nvSpPr>
        <p:spPr>
          <a:xfrm>
            <a:off x="8869680" y="3465576"/>
            <a:ext cx="2697480" cy="822960"/>
          </a:xfrm>
          <a:prstGeom prst="rect">
            <a:avLst/>
          </a:prstGeom>
          <a:noFill/>
          <a:ln/>
        </p:spPr>
        <p:txBody>
          <a:bodyPr wrap="square" lIns="0" tIns="0" rIns="0" bIns="0" rtlCol="0" anchor="ctr"/>
          <a:lstStyle/>
          <a:p>
            <a:pPr indent="0" marL="0">
              <a:lnSpc>
                <a:spcPts val="1050"/>
              </a:lnSpc>
              <a:buNone/>
            </a:pPr>
            <a:r>
              <a:rPr lang="en-US" sz="830" dirty="0">
                <a:solidFill>
                  <a:srgbClr val="5E6B7E"/>
                </a:solidFill>
                <a:latin typeface="Arial" pitchFamily="34" charset="0"/>
                <a:ea typeface="Arial" pitchFamily="34" charset="-122"/>
                <a:cs typeface="Arial" pitchFamily="34" charset="-120"/>
              </a:rPr>
              <a:t>Mid-point recovery once vending and ticket-flow sales are embedded and habits form.</a:t>
            </a:r>
            <a:endParaRPr lang="en-US" sz="830" dirty="0"/>
          </a:p>
        </p:txBody>
      </p:sp>
      <p:sp>
        <p:nvSpPr>
          <p:cNvPr id="33" name="Text 31"/>
          <p:cNvSpPr txBox="1"/>
          <p:nvPr/>
        </p:nvSpPr>
        <p:spPr>
          <a:xfrm>
            <a:off x="7543800" y="4325112"/>
            <a:ext cx="1234440" cy="502920"/>
          </a:xfrm>
          <a:prstGeom prst="rect">
            <a:avLst/>
          </a:prstGeom>
          <a:noFill/>
          <a:ln/>
        </p:spPr>
        <p:txBody>
          <a:bodyPr wrap="square" lIns="0" tIns="0" rIns="0" bIns="0" rtlCol="0" anchor="ctr"/>
          <a:lstStyle/>
          <a:p>
            <a:pPr indent="0" marL="0">
              <a:buNone/>
            </a:pPr>
            <a:r>
              <a:rPr lang="en-US" sz="2600" b="1" dirty="0">
                <a:solidFill>
                  <a:srgbClr val="F17400"/>
                </a:solidFill>
                <a:latin typeface="Arial" pitchFamily="34" charset="0"/>
                <a:ea typeface="Arial" pitchFamily="34" charset="-122"/>
                <a:cs typeface="Arial" pitchFamily="34" charset="-120"/>
              </a:rPr>
              <a:t>90%</a:t>
            </a:r>
            <a:endParaRPr lang="en-US" sz="2600" dirty="0"/>
          </a:p>
        </p:txBody>
      </p:sp>
      <p:sp>
        <p:nvSpPr>
          <p:cNvPr id="34" name="Text 32"/>
          <p:cNvSpPr txBox="1"/>
          <p:nvPr/>
        </p:nvSpPr>
        <p:spPr>
          <a:xfrm>
            <a:off x="8869680" y="4343400"/>
            <a:ext cx="2743200" cy="237744"/>
          </a:xfrm>
          <a:prstGeom prst="rect">
            <a:avLst/>
          </a:prstGeom>
          <a:noFill/>
          <a:ln/>
        </p:spPr>
        <p:txBody>
          <a:bodyPr wrap="square" lIns="0" tIns="0" rIns="0" bIns="0" rtlCol="0" anchor="ctr"/>
          <a:lstStyle/>
          <a:p>
            <a:pPr indent="0" marL="0">
              <a:buNone/>
            </a:pPr>
            <a:r>
              <a:rPr lang="en-US" sz="1100" b="1" dirty="0">
                <a:solidFill>
                  <a:srgbClr val="13294B"/>
                </a:solidFill>
                <a:latin typeface="Arial" pitchFamily="34" charset="0"/>
                <a:ea typeface="Arial" pitchFamily="34" charset="-122"/>
                <a:cs typeface="Arial" pitchFamily="34" charset="-120"/>
              </a:rPr>
              <a:t>Aggressive</a:t>
            </a:r>
            <a:endParaRPr lang="en-US" sz="1100" dirty="0"/>
          </a:p>
        </p:txBody>
      </p:sp>
      <p:sp>
        <p:nvSpPr>
          <p:cNvPr id="35" name="Text 33"/>
          <p:cNvSpPr txBox="1"/>
          <p:nvPr/>
        </p:nvSpPr>
        <p:spPr>
          <a:xfrm>
            <a:off x="8869680" y="4599432"/>
            <a:ext cx="2697480" cy="822960"/>
          </a:xfrm>
          <a:prstGeom prst="rect">
            <a:avLst/>
          </a:prstGeom>
          <a:noFill/>
          <a:ln/>
        </p:spPr>
        <p:txBody>
          <a:bodyPr wrap="square" lIns="0" tIns="0" rIns="0" bIns="0" rtlCol="0" anchor="ctr"/>
          <a:lstStyle/>
          <a:p>
            <a:pPr indent="0" marL="0">
              <a:lnSpc>
                <a:spcPts val="1050"/>
              </a:lnSpc>
              <a:buNone/>
            </a:pPr>
            <a:r>
              <a:rPr lang="en-US" sz="830" dirty="0">
                <a:solidFill>
                  <a:srgbClr val="5E6B7E"/>
                </a:solidFill>
                <a:latin typeface="Arial" pitchFamily="34" charset="0"/>
                <a:ea typeface="Arial" pitchFamily="34" charset="-122"/>
                <a:cs typeface="Arial" pitchFamily="34" charset="-120"/>
              </a:rPr>
              <a:t>The SITA-documented real-world result: crowd-find × airline tracing cut permanently-lost bags 90% in year one.</a:t>
            </a:r>
            <a:endParaRPr lang="en-US" sz="830" dirty="0"/>
          </a:p>
        </p:txBody>
      </p:sp>
      <p:sp>
        <p:nvSpPr>
          <p:cNvPr id="36" name="Shape 34"/>
          <p:cNvSpPr/>
          <p:nvPr/>
        </p:nvSpPr>
        <p:spPr>
          <a:xfrm>
            <a:off x="548640" y="5742432"/>
            <a:ext cx="11094415" cy="566928"/>
          </a:xfrm>
          <a:prstGeom prst="rect">
            <a:avLst/>
          </a:prstGeom>
          <a:solidFill>
            <a:srgbClr val="0B1B34"/>
          </a:solidFill>
          <a:ln/>
        </p:spPr>
      </p:sp>
      <p:sp>
        <p:nvSpPr>
          <p:cNvPr id="37" name="Text 35"/>
          <p:cNvSpPr txBox="1"/>
          <p:nvPr/>
        </p:nvSpPr>
        <p:spPr>
          <a:xfrm>
            <a:off x="777240" y="5742432"/>
            <a:ext cx="10637215" cy="566928"/>
          </a:xfrm>
          <a:prstGeom prst="rect">
            <a:avLst/>
          </a:prstGeom>
          <a:noFill/>
          <a:ln/>
        </p:spPr>
        <p:txBody>
          <a:bodyPr wrap="square" lIns="0" tIns="0" rIns="0" bIns="0" rtlCol="0" anchor="ctr"/>
          <a:lstStyle/>
          <a:p>
            <a:pPr indent="0" marL="0">
              <a:lnSpc>
                <a:spcPts val="1250"/>
              </a:lnSpc>
              <a:buNone/>
            </a:pPr>
            <a:r>
              <a:rPr lang="en-US" sz="950" b="1" dirty="0">
                <a:solidFill>
                  <a:srgbClr val="F17400"/>
                </a:solidFill>
                <a:latin typeface="Arial" pitchFamily="34" charset="0"/>
                <a:ea typeface="Arial" pitchFamily="34" charset="-122"/>
                <a:cs typeface="Arial" pitchFamily="34" charset="-120"/>
              </a:rPr>
              <a:t>Growth: </a:t>
            </a:r>
            <a:pPr indent="0" marL="0">
              <a:lnSpc>
                <a:spcPts val="1250"/>
              </a:lnSpc>
              <a:buNone/>
            </a:pPr>
            <a:r>
              <a:rPr lang="en-US" sz="950" dirty="0">
                <a:solidFill>
                  <a:srgbClr val="A9B6CB"/>
                </a:solidFill>
                <a:latin typeface="Arial" pitchFamily="34" charset="0"/>
                <a:ea typeface="Arial" pitchFamily="34" charset="-122"/>
                <a:cs typeface="Arial" pitchFamily="34" charset="-120"/>
              </a:rPr>
              <a:t>6% p.a. compounding — below FlySafair's own recent trajectory. Scope: the exposure model covers checked baggage and tampering only; revenue is modelled separately and never blended into the savings total.</a:t>
            </a:r>
            <a:endParaRPr lang="en-US" sz="950" dirty="0"/>
          </a:p>
        </p:txBody>
      </p:sp>
      <p:sp>
        <p:nvSpPr>
          <p:cNvPr id="38" name="Shape 36"/>
          <p:cNvSpPr/>
          <p:nvPr/>
        </p:nvSpPr>
        <p:spPr>
          <a:xfrm>
            <a:off x="0" y="6583680"/>
            <a:ext cx="12191695" cy="274320"/>
          </a:xfrm>
          <a:prstGeom prst="rect">
            <a:avLst/>
          </a:prstGeom>
          <a:solidFill>
            <a:srgbClr val="0B1B34"/>
          </a:solidFill>
          <a:ln/>
        </p:spPr>
      </p:sp>
      <p:sp>
        <p:nvSpPr>
          <p:cNvPr id="39" name="Text 37"/>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40" name="Text 38"/>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21 / 29</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05 · THE BUSINESS CASE</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The recovery case: turning R59M a year of leaks into savings</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Applying the three scenarios to FlySafair's modelled exposure — checked-baggage and tampering layer only.</a:t>
            </a:r>
            <a:endParaRPr lang="en-US" sz="1150" dirty="0"/>
          </a:p>
        </p:txBody>
      </p:sp>
      <p:sp>
        <p:nvSpPr>
          <p:cNvPr id="5" name="Text 3"/>
          <p:cNvSpPr txBox="1"/>
          <p:nvPr/>
        </p:nvSpPr>
        <p:spPr>
          <a:xfrm>
            <a:off x="548640" y="1463040"/>
            <a:ext cx="2834640" cy="502920"/>
          </a:xfrm>
          <a:prstGeom prst="rect">
            <a:avLst/>
          </a:prstGeom>
          <a:noFill/>
          <a:ln/>
        </p:spPr>
        <p:txBody>
          <a:bodyPr wrap="square" lIns="0" tIns="0" rIns="0" bIns="0" rtlCol="0" anchor="ctr"/>
          <a:lstStyle/>
          <a:p>
            <a:pPr indent="0" marL="0">
              <a:buNone/>
            </a:pPr>
            <a:r>
              <a:rPr lang="en-US" sz="3000" b="1" dirty="0">
                <a:solidFill>
                  <a:srgbClr val="F17400"/>
                </a:solidFill>
                <a:latin typeface="Arial" pitchFamily="34" charset="0"/>
                <a:ea typeface="Arial" pitchFamily="34" charset="-122"/>
                <a:cs typeface="Arial" pitchFamily="34" charset="-120"/>
              </a:rPr>
              <a:t>R53.1M</a:t>
            </a:r>
            <a:endParaRPr lang="en-US" sz="3000" dirty="0"/>
          </a:p>
        </p:txBody>
      </p:sp>
      <p:sp>
        <p:nvSpPr>
          <p:cNvPr id="6" name="Text 4"/>
          <p:cNvSpPr txBox="1"/>
          <p:nvPr/>
        </p:nvSpPr>
        <p:spPr>
          <a:xfrm>
            <a:off x="548640" y="1993392"/>
            <a:ext cx="2697480" cy="502920"/>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Modelled Year-1 savings (aggressive / SITA-proven scenario)</a:t>
            </a:r>
            <a:endParaRPr lang="en-US" sz="880" dirty="0"/>
          </a:p>
        </p:txBody>
      </p:sp>
      <p:sp>
        <p:nvSpPr>
          <p:cNvPr id="7" name="Text 5"/>
          <p:cNvSpPr txBox="1"/>
          <p:nvPr/>
        </p:nvSpPr>
        <p:spPr>
          <a:xfrm>
            <a:off x="3657600" y="1463040"/>
            <a:ext cx="2834640" cy="502920"/>
          </a:xfrm>
          <a:prstGeom prst="rect">
            <a:avLst/>
          </a:prstGeom>
          <a:noFill/>
          <a:ln/>
        </p:spPr>
        <p:txBody>
          <a:bodyPr wrap="square" lIns="0" tIns="0" rIns="0" bIns="0" rtlCol="0" anchor="ctr"/>
          <a:lstStyle/>
          <a:p>
            <a:pPr indent="0" marL="0">
              <a:buNone/>
            </a:pPr>
            <a:r>
              <a:rPr lang="en-US" sz="3000" b="1" dirty="0">
                <a:solidFill>
                  <a:srgbClr val="13294B"/>
                </a:solidFill>
                <a:latin typeface="Arial" pitchFamily="34" charset="0"/>
                <a:ea typeface="Arial" pitchFamily="34" charset="-122"/>
                <a:cs typeface="Arial" pitchFamily="34" charset="-120"/>
              </a:rPr>
              <a:t>R169.1M</a:t>
            </a:r>
            <a:endParaRPr lang="en-US" sz="3000" dirty="0"/>
          </a:p>
        </p:txBody>
      </p:sp>
      <p:sp>
        <p:nvSpPr>
          <p:cNvPr id="8" name="Text 6"/>
          <p:cNvSpPr txBox="1"/>
          <p:nvPr/>
        </p:nvSpPr>
        <p:spPr>
          <a:xfrm>
            <a:off x="3657600" y="1993392"/>
            <a:ext cx="2697480" cy="502920"/>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3-year cumulative savings (aggressive, 6% p.a. growth)</a:t>
            </a:r>
            <a:endParaRPr lang="en-US" sz="880" dirty="0"/>
          </a:p>
        </p:txBody>
      </p:sp>
      <p:sp>
        <p:nvSpPr>
          <p:cNvPr id="9" name="Text 7"/>
          <p:cNvSpPr txBox="1"/>
          <p:nvPr/>
        </p:nvSpPr>
        <p:spPr>
          <a:xfrm>
            <a:off x="6766560" y="1463040"/>
            <a:ext cx="2834640" cy="502920"/>
          </a:xfrm>
          <a:prstGeom prst="rect">
            <a:avLst/>
          </a:prstGeom>
          <a:noFill/>
          <a:ln/>
        </p:spPr>
        <p:txBody>
          <a:bodyPr wrap="square" lIns="0" tIns="0" rIns="0" bIns="0" rtlCol="0" anchor="ctr"/>
          <a:lstStyle/>
          <a:p>
            <a:pPr indent="0" marL="0">
              <a:buNone/>
            </a:pPr>
            <a:r>
              <a:rPr lang="en-US" sz="3000" b="1" dirty="0">
                <a:solidFill>
                  <a:srgbClr val="13294B"/>
                </a:solidFill>
                <a:latin typeface="Arial" pitchFamily="34" charset="0"/>
                <a:ea typeface="Arial" pitchFamily="34" charset="-122"/>
                <a:cs typeface="Arial" pitchFamily="34" charset="-120"/>
              </a:rPr>
              <a:t>R299.4M</a:t>
            </a:r>
            <a:endParaRPr lang="en-US" sz="3000" dirty="0"/>
          </a:p>
        </p:txBody>
      </p:sp>
      <p:sp>
        <p:nvSpPr>
          <p:cNvPr id="10" name="Text 8"/>
          <p:cNvSpPr txBox="1"/>
          <p:nvPr/>
        </p:nvSpPr>
        <p:spPr>
          <a:xfrm>
            <a:off x="6766560" y="1993392"/>
            <a:ext cx="2697480" cy="502920"/>
          </a:xfrm>
          <a:prstGeom prst="rect">
            <a:avLst/>
          </a:prstGeom>
          <a:noFill/>
          <a:ln/>
        </p:spPr>
        <p:txBody>
          <a:bodyPr wrap="square" lIns="0" tIns="0" rIns="0" bIns="0" rtlCol="0" anchor="ctr"/>
          <a:lstStyle/>
          <a:p>
            <a:pPr indent="0" marL="0">
              <a:lnSpc>
                <a:spcPts val="1100"/>
              </a:lnSpc>
              <a:buNone/>
            </a:pPr>
            <a:r>
              <a:rPr lang="en-US" sz="880" dirty="0">
                <a:solidFill>
                  <a:srgbClr val="5E6B7E"/>
                </a:solidFill>
                <a:latin typeface="Arial" pitchFamily="34" charset="0"/>
                <a:ea typeface="Arial" pitchFamily="34" charset="-122"/>
                <a:cs typeface="Arial" pitchFamily="34" charset="-120"/>
              </a:rPr>
              <a:t>5-year cumulative savings (aggressive, 6% p.a. growth)</a:t>
            </a:r>
            <a:endParaRPr lang="en-US" sz="880" dirty="0"/>
          </a:p>
        </p:txBody>
      </p:sp>
      <p:sp>
        <p:nvSpPr>
          <p:cNvPr id="11" name="Shape 9"/>
          <p:cNvSpPr/>
          <p:nvPr/>
        </p:nvSpPr>
        <p:spPr>
          <a:xfrm>
            <a:off x="548640" y="2743200"/>
            <a:ext cx="8412480" cy="329184"/>
          </a:xfrm>
          <a:prstGeom prst="rect">
            <a:avLst/>
          </a:prstGeom>
          <a:solidFill>
            <a:srgbClr val="0B1B34"/>
          </a:solidFill>
          <a:ln/>
        </p:spPr>
      </p:sp>
      <p:sp>
        <p:nvSpPr>
          <p:cNvPr id="12" name="Text 10"/>
          <p:cNvSpPr txBox="1"/>
          <p:nvPr/>
        </p:nvSpPr>
        <p:spPr>
          <a:xfrm>
            <a:off x="658368" y="2743200"/>
            <a:ext cx="292608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Scenario</a:t>
            </a:r>
            <a:endParaRPr lang="en-US" sz="900" dirty="0"/>
          </a:p>
        </p:txBody>
      </p:sp>
      <p:sp>
        <p:nvSpPr>
          <p:cNvPr id="13" name="Text 11"/>
          <p:cNvSpPr txBox="1"/>
          <p:nvPr/>
        </p:nvSpPr>
        <p:spPr>
          <a:xfrm>
            <a:off x="3767328" y="2743200"/>
            <a:ext cx="146304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Year 1</a:t>
            </a:r>
            <a:endParaRPr lang="en-US" sz="900" dirty="0"/>
          </a:p>
        </p:txBody>
      </p:sp>
      <p:sp>
        <p:nvSpPr>
          <p:cNvPr id="14" name="Text 12"/>
          <p:cNvSpPr txBox="1"/>
          <p:nvPr/>
        </p:nvSpPr>
        <p:spPr>
          <a:xfrm>
            <a:off x="5413248" y="2743200"/>
            <a:ext cx="164592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3-Year Cumulative</a:t>
            </a:r>
            <a:endParaRPr lang="en-US" sz="900" dirty="0"/>
          </a:p>
        </p:txBody>
      </p:sp>
      <p:sp>
        <p:nvSpPr>
          <p:cNvPr id="15" name="Text 13"/>
          <p:cNvSpPr txBox="1"/>
          <p:nvPr/>
        </p:nvSpPr>
        <p:spPr>
          <a:xfrm>
            <a:off x="7242048" y="2743200"/>
            <a:ext cx="164592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5-Year Cumulative</a:t>
            </a:r>
            <a:endParaRPr lang="en-US" sz="900" dirty="0"/>
          </a:p>
        </p:txBody>
      </p:sp>
      <p:sp>
        <p:nvSpPr>
          <p:cNvPr id="16" name="Text 14"/>
          <p:cNvSpPr txBox="1"/>
          <p:nvPr/>
        </p:nvSpPr>
        <p:spPr>
          <a:xfrm>
            <a:off x="658368" y="3072384"/>
            <a:ext cx="2926080" cy="420624"/>
          </a:xfrm>
          <a:prstGeom prst="rect">
            <a:avLst/>
          </a:prstGeom>
          <a:noFill/>
          <a:ln/>
        </p:spPr>
        <p:txBody>
          <a:bodyPr wrap="square" lIns="0" tIns="0" rIns="0" bIns="0" rtlCol="0" anchor="ctr"/>
          <a:lstStyle/>
          <a:p>
            <a:pPr algn="l" indent="0" marL="0">
              <a:buNone/>
            </a:pPr>
            <a:r>
              <a:rPr lang="en-US" sz="1000" dirty="0">
                <a:solidFill>
                  <a:srgbClr val="13294B"/>
                </a:solidFill>
                <a:latin typeface="Arial" pitchFamily="34" charset="0"/>
                <a:ea typeface="Arial" pitchFamily="34" charset="-122"/>
                <a:cs typeface="Arial" pitchFamily="34" charset="-120"/>
              </a:rPr>
              <a:t>Conservative (40%)</a:t>
            </a:r>
            <a:endParaRPr lang="en-US" sz="1000" dirty="0"/>
          </a:p>
        </p:txBody>
      </p:sp>
      <p:sp>
        <p:nvSpPr>
          <p:cNvPr id="17" name="Text 15"/>
          <p:cNvSpPr txBox="1"/>
          <p:nvPr/>
        </p:nvSpPr>
        <p:spPr>
          <a:xfrm>
            <a:off x="3767328" y="3072384"/>
            <a:ext cx="146304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R23.6M</a:t>
            </a:r>
            <a:endParaRPr lang="en-US" sz="1000" dirty="0"/>
          </a:p>
        </p:txBody>
      </p:sp>
      <p:sp>
        <p:nvSpPr>
          <p:cNvPr id="18" name="Text 16"/>
          <p:cNvSpPr txBox="1"/>
          <p:nvPr/>
        </p:nvSpPr>
        <p:spPr>
          <a:xfrm>
            <a:off x="5413248" y="3072384"/>
            <a:ext cx="164592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R75.1M</a:t>
            </a:r>
            <a:endParaRPr lang="en-US" sz="1000" dirty="0"/>
          </a:p>
        </p:txBody>
      </p:sp>
      <p:sp>
        <p:nvSpPr>
          <p:cNvPr id="19" name="Text 17"/>
          <p:cNvSpPr txBox="1"/>
          <p:nvPr/>
        </p:nvSpPr>
        <p:spPr>
          <a:xfrm>
            <a:off x="7242048" y="3072384"/>
            <a:ext cx="164592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R133.1M</a:t>
            </a:r>
            <a:endParaRPr lang="en-US" sz="1000" dirty="0"/>
          </a:p>
        </p:txBody>
      </p:sp>
      <p:sp>
        <p:nvSpPr>
          <p:cNvPr id="20" name="Shape 18"/>
          <p:cNvSpPr/>
          <p:nvPr/>
        </p:nvSpPr>
        <p:spPr>
          <a:xfrm>
            <a:off x="548640" y="3493008"/>
            <a:ext cx="8412480" cy="0"/>
          </a:xfrm>
          <a:prstGeom prst="line">
            <a:avLst/>
          </a:prstGeom>
          <a:noFill/>
          <a:ln w="9525">
            <a:solidFill>
              <a:srgbClr val="D9E0EA"/>
            </a:solidFill>
            <a:prstDash val="solid"/>
          </a:ln>
        </p:spPr>
      </p:sp>
      <p:sp>
        <p:nvSpPr>
          <p:cNvPr id="21" name="Text 19"/>
          <p:cNvSpPr txBox="1"/>
          <p:nvPr/>
        </p:nvSpPr>
        <p:spPr>
          <a:xfrm>
            <a:off x="658368" y="3493008"/>
            <a:ext cx="2926080" cy="420624"/>
          </a:xfrm>
          <a:prstGeom prst="rect">
            <a:avLst/>
          </a:prstGeom>
          <a:noFill/>
          <a:ln/>
        </p:spPr>
        <p:txBody>
          <a:bodyPr wrap="square" lIns="0" tIns="0" rIns="0" bIns="0" rtlCol="0" anchor="ctr"/>
          <a:lstStyle/>
          <a:p>
            <a:pPr algn="l" indent="0" marL="0">
              <a:buNone/>
            </a:pPr>
            <a:r>
              <a:rPr lang="en-US" sz="1000" dirty="0">
                <a:solidFill>
                  <a:srgbClr val="13294B"/>
                </a:solidFill>
                <a:latin typeface="Arial" pitchFamily="34" charset="0"/>
                <a:ea typeface="Arial" pitchFamily="34" charset="-122"/>
                <a:cs typeface="Arial" pitchFamily="34" charset="-120"/>
              </a:rPr>
              <a:t>Moderate (65%)</a:t>
            </a:r>
            <a:endParaRPr lang="en-US" sz="1000" dirty="0"/>
          </a:p>
        </p:txBody>
      </p:sp>
      <p:sp>
        <p:nvSpPr>
          <p:cNvPr id="22" name="Text 20"/>
          <p:cNvSpPr txBox="1"/>
          <p:nvPr/>
        </p:nvSpPr>
        <p:spPr>
          <a:xfrm>
            <a:off x="3767328" y="3493008"/>
            <a:ext cx="146304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R38.4M</a:t>
            </a:r>
            <a:endParaRPr lang="en-US" sz="1000" dirty="0"/>
          </a:p>
        </p:txBody>
      </p:sp>
      <p:sp>
        <p:nvSpPr>
          <p:cNvPr id="23" name="Text 21"/>
          <p:cNvSpPr txBox="1"/>
          <p:nvPr/>
        </p:nvSpPr>
        <p:spPr>
          <a:xfrm>
            <a:off x="5413248" y="3493008"/>
            <a:ext cx="164592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R122.1M</a:t>
            </a:r>
            <a:endParaRPr lang="en-US" sz="1000" dirty="0"/>
          </a:p>
        </p:txBody>
      </p:sp>
      <p:sp>
        <p:nvSpPr>
          <p:cNvPr id="24" name="Text 22"/>
          <p:cNvSpPr txBox="1"/>
          <p:nvPr/>
        </p:nvSpPr>
        <p:spPr>
          <a:xfrm>
            <a:off x="7242048" y="3493008"/>
            <a:ext cx="1645920" cy="420624"/>
          </a:xfrm>
          <a:prstGeom prst="rect">
            <a:avLst/>
          </a:prstGeom>
          <a:noFill/>
          <a:ln/>
        </p:spPr>
        <p:txBody>
          <a:bodyPr wrap="square" lIns="0" tIns="0" rIns="0" bIns="0" rtlCol="0" anchor="ctr"/>
          <a:lstStyle/>
          <a:p>
            <a:pPr algn="r" indent="0" marL="0">
              <a:buNone/>
            </a:pPr>
            <a:r>
              <a:rPr lang="en-US" sz="1000" dirty="0">
                <a:solidFill>
                  <a:srgbClr val="5E6B7E"/>
                </a:solidFill>
                <a:latin typeface="Arial" pitchFamily="34" charset="0"/>
                <a:ea typeface="Arial" pitchFamily="34" charset="-122"/>
                <a:cs typeface="Arial" pitchFamily="34" charset="-120"/>
              </a:rPr>
              <a:t>R216.2M</a:t>
            </a:r>
            <a:endParaRPr lang="en-US" sz="1000" dirty="0"/>
          </a:p>
        </p:txBody>
      </p:sp>
      <p:sp>
        <p:nvSpPr>
          <p:cNvPr id="25" name="Shape 23"/>
          <p:cNvSpPr/>
          <p:nvPr/>
        </p:nvSpPr>
        <p:spPr>
          <a:xfrm>
            <a:off x="548640" y="3913632"/>
            <a:ext cx="8412480" cy="0"/>
          </a:xfrm>
          <a:prstGeom prst="line">
            <a:avLst/>
          </a:prstGeom>
          <a:noFill/>
          <a:ln w="9525">
            <a:solidFill>
              <a:srgbClr val="D9E0EA"/>
            </a:solidFill>
            <a:prstDash val="solid"/>
          </a:ln>
        </p:spPr>
      </p:sp>
      <p:sp>
        <p:nvSpPr>
          <p:cNvPr id="26" name="Shape 24"/>
          <p:cNvSpPr/>
          <p:nvPr/>
        </p:nvSpPr>
        <p:spPr>
          <a:xfrm>
            <a:off x="548640" y="3913632"/>
            <a:ext cx="8412480" cy="420624"/>
          </a:xfrm>
          <a:prstGeom prst="rect">
            <a:avLst/>
          </a:prstGeom>
          <a:solidFill>
            <a:srgbClr val="F17400"/>
          </a:solidFill>
          <a:ln/>
        </p:spPr>
      </p:sp>
      <p:sp>
        <p:nvSpPr>
          <p:cNvPr id="27" name="Text 25"/>
          <p:cNvSpPr txBox="1"/>
          <p:nvPr/>
        </p:nvSpPr>
        <p:spPr>
          <a:xfrm>
            <a:off x="658368" y="3913632"/>
            <a:ext cx="2926080" cy="420624"/>
          </a:xfrm>
          <a:prstGeom prst="rect">
            <a:avLst/>
          </a:prstGeom>
          <a:noFill/>
          <a:ln/>
        </p:spPr>
        <p:txBody>
          <a:bodyPr wrap="square" lIns="0" tIns="0" rIns="0" bIns="0" rtlCol="0" anchor="ctr"/>
          <a:lstStyle/>
          <a:p>
            <a:pPr algn="l" indent="0" marL="0">
              <a:buNone/>
            </a:pPr>
            <a:r>
              <a:rPr lang="en-US" sz="1000" b="1" dirty="0">
                <a:solidFill>
                  <a:srgbClr val="FFFFFF"/>
                </a:solidFill>
                <a:latin typeface="Arial" pitchFamily="34" charset="0"/>
                <a:ea typeface="Arial" pitchFamily="34" charset="-122"/>
                <a:cs typeface="Arial" pitchFamily="34" charset="-120"/>
              </a:rPr>
              <a:t>Aggressive (90%, SITA-proven)</a:t>
            </a:r>
            <a:endParaRPr lang="en-US" sz="1000" dirty="0"/>
          </a:p>
        </p:txBody>
      </p:sp>
      <p:sp>
        <p:nvSpPr>
          <p:cNvPr id="28" name="Text 26"/>
          <p:cNvSpPr txBox="1"/>
          <p:nvPr/>
        </p:nvSpPr>
        <p:spPr>
          <a:xfrm>
            <a:off x="3767328" y="3913632"/>
            <a:ext cx="1463040" cy="420624"/>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R53.1M</a:t>
            </a:r>
            <a:endParaRPr lang="en-US" sz="1000" dirty="0"/>
          </a:p>
        </p:txBody>
      </p:sp>
      <p:sp>
        <p:nvSpPr>
          <p:cNvPr id="29" name="Text 27"/>
          <p:cNvSpPr txBox="1"/>
          <p:nvPr/>
        </p:nvSpPr>
        <p:spPr>
          <a:xfrm>
            <a:off x="5413248" y="3913632"/>
            <a:ext cx="1645920" cy="420624"/>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R169.1M</a:t>
            </a:r>
            <a:endParaRPr lang="en-US" sz="1000" dirty="0"/>
          </a:p>
        </p:txBody>
      </p:sp>
      <p:sp>
        <p:nvSpPr>
          <p:cNvPr id="30" name="Text 28"/>
          <p:cNvSpPr txBox="1"/>
          <p:nvPr/>
        </p:nvSpPr>
        <p:spPr>
          <a:xfrm>
            <a:off x="7242048" y="3913632"/>
            <a:ext cx="1645920" cy="420624"/>
          </a:xfrm>
          <a:prstGeom prst="rect">
            <a:avLst/>
          </a:prstGeom>
          <a:noFill/>
          <a:ln/>
        </p:spPr>
        <p:txBody>
          <a:bodyPr wrap="square" lIns="0" tIns="0" rIns="0" bIns="0" rtlCol="0" anchor="ctr"/>
          <a:lstStyle/>
          <a:p>
            <a:pPr algn="r" indent="0" marL="0">
              <a:buNone/>
            </a:pPr>
            <a:r>
              <a:rPr lang="en-US" sz="1000" b="1" dirty="0">
                <a:solidFill>
                  <a:srgbClr val="FFFFFF"/>
                </a:solidFill>
                <a:latin typeface="Arial" pitchFamily="34" charset="0"/>
                <a:ea typeface="Arial" pitchFamily="34" charset="-122"/>
                <a:cs typeface="Arial" pitchFamily="34" charset="-120"/>
              </a:rPr>
              <a:t>R299.4M</a:t>
            </a:r>
            <a:endParaRPr lang="en-US" sz="1000" dirty="0"/>
          </a:p>
        </p:txBody>
      </p:sp>
      <p:sp>
        <p:nvSpPr>
          <p:cNvPr id="31" name="Shape 29"/>
          <p:cNvSpPr/>
          <p:nvPr/>
        </p:nvSpPr>
        <p:spPr>
          <a:xfrm>
            <a:off x="9326880" y="2743200"/>
            <a:ext cx="2313432" cy="2286000"/>
          </a:xfrm>
          <a:prstGeom prst="rect">
            <a:avLst/>
          </a:prstGeom>
          <a:solidFill>
            <a:srgbClr val="F4F7FB"/>
          </a:solidFill>
          <a:ln w="12700">
            <a:solidFill>
              <a:srgbClr val="D9E0EA"/>
            </a:solidFill>
            <a:prstDash val="solid"/>
          </a:ln>
        </p:spPr>
      </p:sp>
      <p:sp>
        <p:nvSpPr>
          <p:cNvPr id="32" name="Text 30"/>
          <p:cNvSpPr txBox="1"/>
          <p:nvPr/>
        </p:nvSpPr>
        <p:spPr>
          <a:xfrm>
            <a:off x="9509760" y="2907792"/>
            <a:ext cx="2011680" cy="457200"/>
          </a:xfrm>
          <a:prstGeom prst="rect">
            <a:avLst/>
          </a:prstGeom>
          <a:noFill/>
          <a:ln/>
        </p:spPr>
        <p:txBody>
          <a:bodyPr wrap="square" lIns="0" tIns="0" rIns="0" bIns="0" rtlCol="0" anchor="ctr"/>
          <a:lstStyle/>
          <a:p>
            <a:pPr indent="0" marL="0">
              <a:lnSpc>
                <a:spcPts val="1100"/>
              </a:lnSpc>
              <a:buNone/>
            </a:pPr>
            <a:r>
              <a:rPr lang="en-US" sz="900" b="1" spc="100" kern="0" dirty="0">
                <a:solidFill>
                  <a:srgbClr val="13294B"/>
                </a:solidFill>
                <a:latin typeface="Arial" pitchFamily="34" charset="0"/>
                <a:ea typeface="Arial" pitchFamily="34" charset="-122"/>
                <a:cs typeface="Arial" pitchFamily="34" charset="-120"/>
              </a:rPr>
              <a:t>WHAT 90% MEANS, PHYSICALLY</a:t>
            </a:r>
            <a:endParaRPr lang="en-US" sz="900" dirty="0"/>
          </a:p>
        </p:txBody>
      </p:sp>
      <p:sp>
        <p:nvSpPr>
          <p:cNvPr id="33" name="Text 31"/>
          <p:cNvSpPr txBox="1"/>
          <p:nvPr/>
        </p:nvSpPr>
        <p:spPr>
          <a:xfrm>
            <a:off x="9509760" y="3401568"/>
            <a:ext cx="1965960" cy="146304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±70 of the 78 bags that would go astray each day, found before the carousel empties — and tampering windows closed before claims are filed.</a:t>
            </a:r>
            <a:endParaRPr lang="en-US" sz="880" dirty="0"/>
          </a:p>
        </p:txBody>
      </p:sp>
      <p:sp>
        <p:nvSpPr>
          <p:cNvPr id="34" name="Shape 32"/>
          <p:cNvSpPr/>
          <p:nvPr/>
        </p:nvSpPr>
        <p:spPr>
          <a:xfrm>
            <a:off x="548640" y="5349240"/>
            <a:ext cx="11094415" cy="868680"/>
          </a:xfrm>
          <a:prstGeom prst="rect">
            <a:avLst/>
          </a:prstGeom>
          <a:solidFill>
            <a:srgbClr val="0B1B34"/>
          </a:solidFill>
          <a:ln/>
        </p:spPr>
      </p:sp>
      <p:sp>
        <p:nvSpPr>
          <p:cNvPr id="35" name="Text 33"/>
          <p:cNvSpPr txBox="1"/>
          <p:nvPr/>
        </p:nvSpPr>
        <p:spPr>
          <a:xfrm>
            <a:off x="777240" y="5349240"/>
            <a:ext cx="10637215" cy="868680"/>
          </a:xfrm>
          <a:prstGeom prst="rect">
            <a:avLst/>
          </a:prstGeom>
          <a:noFill/>
          <a:ln/>
        </p:spPr>
        <p:txBody>
          <a:bodyPr wrap="square" lIns="0" tIns="0" rIns="0" bIns="0" rtlCol="0" anchor="ctr"/>
          <a:lstStyle/>
          <a:p>
            <a:pPr indent="0" marL="0">
              <a:lnSpc>
                <a:spcPts val="1350"/>
              </a:lnSpc>
              <a:buNone/>
            </a:pPr>
            <a:r>
              <a:rPr lang="en-US" sz="1000" b="1" dirty="0">
                <a:solidFill>
                  <a:srgbClr val="F17400"/>
                </a:solidFill>
                <a:latin typeface="Arial" pitchFamily="34" charset="0"/>
                <a:ea typeface="Arial" pitchFamily="34" charset="-122"/>
                <a:cs typeface="Arial" pitchFamily="34" charset="-120"/>
              </a:rPr>
              <a:t>THE RECORD THIS PROTECTS — </a:t>
            </a:r>
            <a:pPr indent="0" marL="0">
              <a:lnSpc>
                <a:spcPts val="1350"/>
              </a:lnSpc>
              <a:buNone/>
            </a:pPr>
            <a:r>
              <a:rPr lang="en-US" sz="1000" dirty="0">
                <a:solidFill>
                  <a:srgbClr val="A9B6CB"/>
                </a:solidFill>
                <a:latin typeface="Arial" pitchFamily="34" charset="0"/>
                <a:ea typeface="Arial" pitchFamily="34" charset="-122"/>
                <a:cs typeface="Arial" pitchFamily="34" charset="-120"/>
              </a:rPr>
              <a:t>FlySafair closed 2024 as the most on-time airline in the world (Cirium, 95.9%) and carries six in ten of South Africa's domestic passengers. A GPS visibility layer doesn't fix a weakness here; it extends a record-breaking operation into the one journey it cannot yet see — and keeps the country's most trusted airline ahead of anyone trying to copy it.</a:t>
            </a:r>
            <a:endParaRPr lang="en-US" sz="1000" dirty="0"/>
          </a:p>
        </p:txBody>
      </p:sp>
      <p:sp>
        <p:nvSpPr>
          <p:cNvPr id="36" name="Shape 34"/>
          <p:cNvSpPr/>
          <p:nvPr/>
        </p:nvSpPr>
        <p:spPr>
          <a:xfrm>
            <a:off x="0" y="6583680"/>
            <a:ext cx="12191695" cy="274320"/>
          </a:xfrm>
          <a:prstGeom prst="rect">
            <a:avLst/>
          </a:prstGeom>
          <a:solidFill>
            <a:srgbClr val="0B1B34"/>
          </a:solidFill>
          <a:ln/>
        </p:spPr>
      </p:sp>
      <p:sp>
        <p:nvSpPr>
          <p:cNvPr id="37" name="Text 35"/>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8" name="Text 36"/>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22 / 29</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05 · THE BUSINESS CASE</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The combined FlySafair number</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Losses recovered plus the new revenue stream, one picture — before D-Card, D-Pod or a cent of reputational upside is added.</a:t>
            </a:r>
            <a:endParaRPr lang="en-US" sz="1150" dirty="0"/>
          </a:p>
        </p:txBody>
      </p:sp>
      <p:sp>
        <p:nvSpPr>
          <p:cNvPr id="5" name="Text 3"/>
          <p:cNvSpPr txBox="1"/>
          <p:nvPr/>
        </p:nvSpPr>
        <p:spPr>
          <a:xfrm>
            <a:off x="548640" y="1444752"/>
            <a:ext cx="45720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5-YEAR COMBINED OPPORTUNITY</a:t>
            </a:r>
            <a:endParaRPr lang="en-US" sz="1000" dirty="0"/>
          </a:p>
        </p:txBody>
      </p:sp>
      <p:sp>
        <p:nvSpPr>
          <p:cNvPr id="6" name="Text 4"/>
          <p:cNvSpPr txBox="1"/>
          <p:nvPr/>
        </p:nvSpPr>
        <p:spPr>
          <a:xfrm>
            <a:off x="548640" y="1700784"/>
            <a:ext cx="5029200" cy="822960"/>
          </a:xfrm>
          <a:prstGeom prst="rect">
            <a:avLst/>
          </a:prstGeom>
          <a:noFill/>
          <a:ln/>
        </p:spPr>
        <p:txBody>
          <a:bodyPr wrap="square" lIns="0" tIns="0" rIns="0" bIns="0" rtlCol="0" anchor="ctr"/>
          <a:lstStyle/>
          <a:p>
            <a:pPr indent="0" marL="0">
              <a:buNone/>
            </a:pPr>
            <a:r>
              <a:rPr lang="en-US" sz="5400" b="1" dirty="0">
                <a:solidFill>
                  <a:srgbClr val="F17400"/>
                </a:solidFill>
                <a:latin typeface="Arial" pitchFamily="34" charset="0"/>
                <a:ea typeface="Arial" pitchFamily="34" charset="-122"/>
                <a:cs typeface="Arial" pitchFamily="34" charset="-120"/>
              </a:rPr>
              <a:t>R2.07B</a:t>
            </a:r>
            <a:endParaRPr lang="en-US" sz="5400" dirty="0"/>
          </a:p>
        </p:txBody>
      </p:sp>
      <p:sp>
        <p:nvSpPr>
          <p:cNvPr id="7" name="Text 5"/>
          <p:cNvSpPr txBox="1"/>
          <p:nvPr/>
        </p:nvSpPr>
        <p:spPr>
          <a:xfrm>
            <a:off x="548640" y="2578608"/>
            <a:ext cx="5029200" cy="548640"/>
          </a:xfrm>
          <a:prstGeom prst="rect">
            <a:avLst/>
          </a:prstGeom>
          <a:noFill/>
          <a:ln/>
        </p:spPr>
        <p:txBody>
          <a:bodyPr wrap="square" lIns="0" tIns="0" rIns="0" bIns="0" rtlCol="0" anchor="ctr"/>
          <a:lstStyle/>
          <a:p>
            <a:pPr indent="0" marL="0">
              <a:lnSpc>
                <a:spcPts val="1250"/>
              </a:lnSpc>
              <a:buNone/>
            </a:pPr>
            <a:r>
              <a:rPr lang="en-US" sz="950" dirty="0">
                <a:solidFill>
                  <a:srgbClr val="5E6B7E"/>
                </a:solidFill>
                <a:latin typeface="Arial" pitchFamily="34" charset="0"/>
                <a:ea typeface="Arial" pitchFamily="34" charset="-122"/>
                <a:cs typeface="Arial" pitchFamily="34" charset="-120"/>
              </a:rPr>
              <a:t>cumulative modelled value: recovered losses (aggressive / SITA-proven scenario) + Digitag Protect ticket-flow revenue at a moderate 10% attach.</a:t>
            </a:r>
            <a:endParaRPr lang="en-US" sz="950" dirty="0"/>
          </a:p>
        </p:txBody>
      </p:sp>
      <p:sp>
        <p:nvSpPr>
          <p:cNvPr id="8" name="Shape 6"/>
          <p:cNvSpPr/>
          <p:nvPr/>
        </p:nvSpPr>
        <p:spPr>
          <a:xfrm>
            <a:off x="548640" y="3310128"/>
            <a:ext cx="6355080" cy="329184"/>
          </a:xfrm>
          <a:prstGeom prst="rect">
            <a:avLst/>
          </a:prstGeom>
          <a:solidFill>
            <a:srgbClr val="0B1B34"/>
          </a:solidFill>
          <a:ln/>
        </p:spPr>
      </p:sp>
      <p:sp>
        <p:nvSpPr>
          <p:cNvPr id="9" name="Text 7"/>
          <p:cNvSpPr txBox="1"/>
          <p:nvPr/>
        </p:nvSpPr>
        <p:spPr>
          <a:xfrm>
            <a:off x="658368" y="3310128"/>
            <a:ext cx="2468880" cy="329184"/>
          </a:xfrm>
          <a:prstGeom prst="rect">
            <a:avLst/>
          </a:prstGeom>
          <a:noFill/>
          <a:ln/>
        </p:spPr>
        <p:txBody>
          <a:bodyPr wrap="square" lIns="0" tIns="0" rIns="0" bIns="0" rtlCol="0" anchor="ctr"/>
          <a:lstStyle/>
          <a:p>
            <a:pPr algn="l" indent="0" marL="0">
              <a:buNone/>
            </a:pPr>
            <a:r>
              <a:rPr lang="en-US" sz="880" b="1" dirty="0">
                <a:solidFill>
                  <a:srgbClr val="FFFFFF"/>
                </a:solidFill>
                <a:latin typeface="Arial" pitchFamily="34" charset="0"/>
                <a:ea typeface="Arial" pitchFamily="34" charset="-122"/>
                <a:cs typeface="Arial" pitchFamily="34" charset="-120"/>
              </a:rPr>
              <a:t>Layer</a:t>
            </a:r>
            <a:endParaRPr lang="en-US" sz="880" dirty="0"/>
          </a:p>
        </p:txBody>
      </p:sp>
      <p:sp>
        <p:nvSpPr>
          <p:cNvPr id="10" name="Text 8"/>
          <p:cNvSpPr txBox="1"/>
          <p:nvPr/>
        </p:nvSpPr>
        <p:spPr>
          <a:xfrm>
            <a:off x="3310128" y="3310128"/>
            <a:ext cx="1051560" cy="329184"/>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Year 1</a:t>
            </a:r>
            <a:endParaRPr lang="en-US" sz="880" dirty="0"/>
          </a:p>
        </p:txBody>
      </p:sp>
      <p:sp>
        <p:nvSpPr>
          <p:cNvPr id="11" name="Text 9"/>
          <p:cNvSpPr txBox="1"/>
          <p:nvPr/>
        </p:nvSpPr>
        <p:spPr>
          <a:xfrm>
            <a:off x="4544568" y="3310128"/>
            <a:ext cx="1051560" cy="329184"/>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3-Yr</a:t>
            </a:r>
            <a:endParaRPr lang="en-US" sz="880" dirty="0"/>
          </a:p>
        </p:txBody>
      </p:sp>
      <p:sp>
        <p:nvSpPr>
          <p:cNvPr id="12" name="Text 10"/>
          <p:cNvSpPr txBox="1"/>
          <p:nvPr/>
        </p:nvSpPr>
        <p:spPr>
          <a:xfrm>
            <a:off x="5779008" y="3310128"/>
            <a:ext cx="1051560" cy="329184"/>
          </a:xfrm>
          <a:prstGeom prst="rect">
            <a:avLst/>
          </a:prstGeom>
          <a:noFill/>
          <a:ln/>
        </p:spPr>
        <p:txBody>
          <a:bodyPr wrap="square" lIns="0" tIns="0" rIns="0" bIns="0" rtlCol="0" anchor="ctr"/>
          <a:lstStyle/>
          <a:p>
            <a:pPr algn="r" indent="0" marL="0">
              <a:buNone/>
            </a:pPr>
            <a:r>
              <a:rPr lang="en-US" sz="880" b="1" dirty="0">
                <a:solidFill>
                  <a:srgbClr val="FFFFFF"/>
                </a:solidFill>
                <a:latin typeface="Arial" pitchFamily="34" charset="0"/>
                <a:ea typeface="Arial" pitchFamily="34" charset="-122"/>
                <a:cs typeface="Arial" pitchFamily="34" charset="-120"/>
              </a:rPr>
              <a:t>5-Yr</a:t>
            </a:r>
            <a:endParaRPr lang="en-US" sz="880" dirty="0"/>
          </a:p>
        </p:txBody>
      </p:sp>
      <p:sp>
        <p:nvSpPr>
          <p:cNvPr id="13" name="Text 11"/>
          <p:cNvSpPr txBox="1"/>
          <p:nvPr/>
        </p:nvSpPr>
        <p:spPr>
          <a:xfrm>
            <a:off x="658368" y="3639312"/>
            <a:ext cx="2468880" cy="420624"/>
          </a:xfrm>
          <a:prstGeom prst="rect">
            <a:avLst/>
          </a:prstGeom>
          <a:noFill/>
          <a:ln/>
        </p:spPr>
        <p:txBody>
          <a:bodyPr wrap="square" lIns="0" tIns="0" rIns="0" bIns="0" rtlCol="0" anchor="ctr"/>
          <a:lstStyle/>
          <a:p>
            <a:pPr algn="l" indent="0" marL="0">
              <a:buNone/>
            </a:pPr>
            <a:r>
              <a:rPr lang="en-US" sz="930" dirty="0">
                <a:solidFill>
                  <a:srgbClr val="13294B"/>
                </a:solidFill>
                <a:latin typeface="Arial" pitchFamily="34" charset="0"/>
                <a:ea typeface="Arial" pitchFamily="34" charset="-122"/>
                <a:cs typeface="Arial" pitchFamily="34" charset="-120"/>
              </a:rPr>
              <a:t>Losses recovered (90%)</a:t>
            </a:r>
            <a:endParaRPr lang="en-US" sz="930" dirty="0"/>
          </a:p>
        </p:txBody>
      </p:sp>
      <p:sp>
        <p:nvSpPr>
          <p:cNvPr id="14" name="Text 12"/>
          <p:cNvSpPr txBox="1"/>
          <p:nvPr/>
        </p:nvSpPr>
        <p:spPr>
          <a:xfrm>
            <a:off x="3310128" y="3639312"/>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R53.1M</a:t>
            </a:r>
            <a:endParaRPr lang="en-US" sz="930" dirty="0"/>
          </a:p>
        </p:txBody>
      </p:sp>
      <p:sp>
        <p:nvSpPr>
          <p:cNvPr id="15" name="Text 13"/>
          <p:cNvSpPr txBox="1"/>
          <p:nvPr/>
        </p:nvSpPr>
        <p:spPr>
          <a:xfrm>
            <a:off x="4544568" y="3639312"/>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R169.1M</a:t>
            </a:r>
            <a:endParaRPr lang="en-US" sz="930" dirty="0"/>
          </a:p>
        </p:txBody>
      </p:sp>
      <p:sp>
        <p:nvSpPr>
          <p:cNvPr id="16" name="Text 14"/>
          <p:cNvSpPr txBox="1"/>
          <p:nvPr/>
        </p:nvSpPr>
        <p:spPr>
          <a:xfrm>
            <a:off x="5779008" y="3639312"/>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R299.4M</a:t>
            </a:r>
            <a:endParaRPr lang="en-US" sz="930" dirty="0"/>
          </a:p>
        </p:txBody>
      </p:sp>
      <p:sp>
        <p:nvSpPr>
          <p:cNvPr id="17" name="Shape 15"/>
          <p:cNvSpPr/>
          <p:nvPr/>
        </p:nvSpPr>
        <p:spPr>
          <a:xfrm>
            <a:off x="548640" y="4059936"/>
            <a:ext cx="6355080" cy="0"/>
          </a:xfrm>
          <a:prstGeom prst="line">
            <a:avLst/>
          </a:prstGeom>
          <a:noFill/>
          <a:ln w="9525">
            <a:solidFill>
              <a:srgbClr val="D9E0EA"/>
            </a:solidFill>
            <a:prstDash val="solid"/>
          </a:ln>
        </p:spPr>
      </p:sp>
      <p:sp>
        <p:nvSpPr>
          <p:cNvPr id="18" name="Text 16"/>
          <p:cNvSpPr txBox="1"/>
          <p:nvPr/>
        </p:nvSpPr>
        <p:spPr>
          <a:xfrm>
            <a:off x="658368" y="4059936"/>
            <a:ext cx="2468880" cy="420624"/>
          </a:xfrm>
          <a:prstGeom prst="rect">
            <a:avLst/>
          </a:prstGeom>
          <a:noFill/>
          <a:ln/>
        </p:spPr>
        <p:txBody>
          <a:bodyPr wrap="square" lIns="0" tIns="0" rIns="0" bIns="0" rtlCol="0" anchor="ctr"/>
          <a:lstStyle/>
          <a:p>
            <a:pPr algn="l" indent="0" marL="0">
              <a:buNone/>
            </a:pPr>
            <a:r>
              <a:rPr lang="en-US" sz="930" dirty="0">
                <a:solidFill>
                  <a:srgbClr val="13294B"/>
                </a:solidFill>
                <a:latin typeface="Arial" pitchFamily="34" charset="0"/>
                <a:ea typeface="Arial" pitchFamily="34" charset="-122"/>
                <a:cs typeface="Arial" pitchFamily="34" charset="-120"/>
              </a:rPr>
              <a:t>Digitag Protect revenue (10%)</a:t>
            </a:r>
            <a:endParaRPr lang="en-US" sz="930" dirty="0"/>
          </a:p>
        </p:txBody>
      </p:sp>
      <p:sp>
        <p:nvSpPr>
          <p:cNvPr id="19" name="Text 17"/>
          <p:cNvSpPr txBox="1"/>
          <p:nvPr/>
        </p:nvSpPr>
        <p:spPr>
          <a:xfrm>
            <a:off x="3310128" y="4059936"/>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R313.9M</a:t>
            </a:r>
            <a:endParaRPr lang="en-US" sz="930" dirty="0"/>
          </a:p>
        </p:txBody>
      </p:sp>
      <p:sp>
        <p:nvSpPr>
          <p:cNvPr id="20" name="Text 18"/>
          <p:cNvSpPr txBox="1"/>
          <p:nvPr/>
        </p:nvSpPr>
        <p:spPr>
          <a:xfrm>
            <a:off x="4544568" y="4059936"/>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R999.5M</a:t>
            </a:r>
            <a:endParaRPr lang="en-US" sz="930" dirty="0"/>
          </a:p>
        </p:txBody>
      </p:sp>
      <p:sp>
        <p:nvSpPr>
          <p:cNvPr id="21" name="Text 19"/>
          <p:cNvSpPr txBox="1"/>
          <p:nvPr/>
        </p:nvSpPr>
        <p:spPr>
          <a:xfrm>
            <a:off x="5779008" y="4059936"/>
            <a:ext cx="1051560" cy="420624"/>
          </a:xfrm>
          <a:prstGeom prst="rect">
            <a:avLst/>
          </a:prstGeom>
          <a:noFill/>
          <a:ln/>
        </p:spPr>
        <p:txBody>
          <a:bodyPr wrap="square" lIns="0" tIns="0" rIns="0" bIns="0" rtlCol="0" anchor="ctr"/>
          <a:lstStyle/>
          <a:p>
            <a:pPr algn="r" indent="0" marL="0">
              <a:buNone/>
            </a:pPr>
            <a:r>
              <a:rPr lang="en-US" sz="930" dirty="0">
                <a:solidFill>
                  <a:srgbClr val="5E6B7E"/>
                </a:solidFill>
                <a:latin typeface="Arial" pitchFamily="34" charset="0"/>
                <a:ea typeface="Arial" pitchFamily="34" charset="-122"/>
                <a:cs typeface="Arial" pitchFamily="34" charset="-120"/>
              </a:rPr>
              <a:t>R1.77B</a:t>
            </a:r>
            <a:endParaRPr lang="en-US" sz="930" dirty="0"/>
          </a:p>
        </p:txBody>
      </p:sp>
      <p:sp>
        <p:nvSpPr>
          <p:cNvPr id="22" name="Shape 20"/>
          <p:cNvSpPr/>
          <p:nvPr/>
        </p:nvSpPr>
        <p:spPr>
          <a:xfrm>
            <a:off x="548640" y="4480560"/>
            <a:ext cx="6355080" cy="0"/>
          </a:xfrm>
          <a:prstGeom prst="line">
            <a:avLst/>
          </a:prstGeom>
          <a:noFill/>
          <a:ln w="9525">
            <a:solidFill>
              <a:srgbClr val="D9E0EA"/>
            </a:solidFill>
            <a:prstDash val="solid"/>
          </a:ln>
        </p:spPr>
      </p:sp>
      <p:sp>
        <p:nvSpPr>
          <p:cNvPr id="23" name="Shape 21"/>
          <p:cNvSpPr/>
          <p:nvPr/>
        </p:nvSpPr>
        <p:spPr>
          <a:xfrm>
            <a:off x="548640" y="4480560"/>
            <a:ext cx="6355080" cy="420624"/>
          </a:xfrm>
          <a:prstGeom prst="rect">
            <a:avLst/>
          </a:prstGeom>
          <a:solidFill>
            <a:srgbClr val="F17400"/>
          </a:solidFill>
          <a:ln/>
        </p:spPr>
      </p:sp>
      <p:sp>
        <p:nvSpPr>
          <p:cNvPr id="24" name="Text 22"/>
          <p:cNvSpPr txBox="1"/>
          <p:nvPr/>
        </p:nvSpPr>
        <p:spPr>
          <a:xfrm>
            <a:off x="658368" y="4480560"/>
            <a:ext cx="2468880" cy="420624"/>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Combined</a:t>
            </a:r>
            <a:endParaRPr lang="en-US" sz="950" dirty="0"/>
          </a:p>
        </p:txBody>
      </p:sp>
      <p:sp>
        <p:nvSpPr>
          <p:cNvPr id="25" name="Text 23"/>
          <p:cNvSpPr txBox="1"/>
          <p:nvPr/>
        </p:nvSpPr>
        <p:spPr>
          <a:xfrm>
            <a:off x="3310128" y="4480560"/>
            <a:ext cx="1051560" cy="420624"/>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R367.1M</a:t>
            </a:r>
            <a:endParaRPr lang="en-US" sz="950" dirty="0"/>
          </a:p>
        </p:txBody>
      </p:sp>
      <p:sp>
        <p:nvSpPr>
          <p:cNvPr id="26" name="Text 24"/>
          <p:cNvSpPr txBox="1"/>
          <p:nvPr/>
        </p:nvSpPr>
        <p:spPr>
          <a:xfrm>
            <a:off x="4544568" y="4480560"/>
            <a:ext cx="1051560" cy="420624"/>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R1.17B</a:t>
            </a:r>
            <a:endParaRPr lang="en-US" sz="950" dirty="0"/>
          </a:p>
        </p:txBody>
      </p:sp>
      <p:sp>
        <p:nvSpPr>
          <p:cNvPr id="27" name="Text 25"/>
          <p:cNvSpPr txBox="1"/>
          <p:nvPr/>
        </p:nvSpPr>
        <p:spPr>
          <a:xfrm>
            <a:off x="5779008" y="4480560"/>
            <a:ext cx="1051560" cy="420624"/>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R2.07B</a:t>
            </a:r>
            <a:endParaRPr lang="en-US" sz="950" dirty="0"/>
          </a:p>
        </p:txBody>
      </p:sp>
      <p:sp>
        <p:nvSpPr>
          <p:cNvPr id="28" name="Shape 26"/>
          <p:cNvSpPr/>
          <p:nvPr/>
        </p:nvSpPr>
        <p:spPr>
          <a:xfrm>
            <a:off x="7040880" y="1444752"/>
            <a:ext cx="4599432" cy="4160520"/>
          </a:xfrm>
          <a:prstGeom prst="rect">
            <a:avLst/>
          </a:prstGeom>
          <a:solidFill>
            <a:srgbClr val="0B1B34"/>
          </a:solidFill>
          <a:ln/>
        </p:spPr>
      </p:sp>
      <p:sp>
        <p:nvSpPr>
          <p:cNvPr id="29" name="Text 27"/>
          <p:cNvSpPr txBox="1"/>
          <p:nvPr/>
        </p:nvSpPr>
        <p:spPr>
          <a:xfrm>
            <a:off x="7269480" y="1609344"/>
            <a:ext cx="4206240" cy="237744"/>
          </a:xfrm>
          <a:prstGeom prst="rect">
            <a:avLst/>
          </a:prstGeom>
          <a:noFill/>
          <a:ln/>
        </p:spPr>
        <p:txBody>
          <a:bodyPr wrap="square" lIns="0" tIns="0" rIns="0" bIns="0" rtlCol="0" anchor="ctr"/>
          <a:lstStyle/>
          <a:p>
            <a:pPr indent="0" marL="0">
              <a:buNone/>
            </a:pPr>
            <a:r>
              <a:rPr lang="en-US" sz="950" b="1" spc="150" kern="0" dirty="0">
                <a:solidFill>
                  <a:srgbClr val="F17400"/>
                </a:solidFill>
                <a:latin typeface="Arial" pitchFamily="34" charset="0"/>
                <a:ea typeface="Arial" pitchFamily="34" charset="-122"/>
                <a:cs typeface="Arial" pitchFamily="34" charset="-120"/>
              </a:rPr>
              <a:t>CUMULATIVE VALUE — COMBINED SCENARIO</a:t>
            </a:r>
            <a:endParaRPr lang="en-US" sz="950" dirty="0"/>
          </a:p>
        </p:txBody>
      </p:sp>
      <p:sp>
        <p:nvSpPr>
          <p:cNvPr id="30" name="Shape 28"/>
          <p:cNvSpPr/>
          <p:nvPr/>
        </p:nvSpPr>
        <p:spPr>
          <a:xfrm>
            <a:off x="7360920" y="4572110"/>
            <a:ext cx="566928" cy="502810"/>
          </a:xfrm>
          <a:prstGeom prst="rect">
            <a:avLst/>
          </a:prstGeom>
          <a:solidFill>
            <a:srgbClr val="2C4A73"/>
          </a:solidFill>
          <a:ln/>
        </p:spPr>
      </p:sp>
      <p:sp>
        <p:nvSpPr>
          <p:cNvPr id="31" name="Text 29"/>
          <p:cNvSpPr txBox="1"/>
          <p:nvPr/>
        </p:nvSpPr>
        <p:spPr>
          <a:xfrm>
            <a:off x="7196328" y="4297790"/>
            <a:ext cx="896112" cy="237744"/>
          </a:xfrm>
          <a:prstGeom prst="rect">
            <a:avLst/>
          </a:prstGeom>
          <a:noFill/>
          <a:ln/>
        </p:spPr>
        <p:txBody>
          <a:bodyPr wrap="square" lIns="0" tIns="0" rIns="0" bIns="0" rtlCol="0" anchor="ctr"/>
          <a:lstStyle/>
          <a:p>
            <a:pPr algn="ctr" indent="0" marL="0">
              <a:buNone/>
            </a:pPr>
            <a:r>
              <a:rPr lang="en-US" sz="850" b="1" dirty="0">
                <a:solidFill>
                  <a:srgbClr val="A9B6CB"/>
                </a:solidFill>
                <a:latin typeface="Arial" pitchFamily="34" charset="0"/>
                <a:ea typeface="Arial" pitchFamily="34" charset="-122"/>
                <a:cs typeface="Arial" pitchFamily="34" charset="-120"/>
              </a:rPr>
              <a:t>R367M</a:t>
            </a:r>
            <a:endParaRPr lang="en-US" sz="850" dirty="0"/>
          </a:p>
        </p:txBody>
      </p:sp>
      <p:sp>
        <p:nvSpPr>
          <p:cNvPr id="32" name="Text 30"/>
          <p:cNvSpPr txBox="1"/>
          <p:nvPr/>
        </p:nvSpPr>
        <p:spPr>
          <a:xfrm>
            <a:off x="7360920" y="5129784"/>
            <a:ext cx="566928" cy="219456"/>
          </a:xfrm>
          <a:prstGeom prst="rect">
            <a:avLst/>
          </a:prstGeom>
          <a:noFill/>
          <a:ln/>
        </p:spPr>
        <p:txBody>
          <a:bodyPr wrap="square" lIns="0" tIns="0" rIns="0" bIns="0" rtlCol="0" anchor="ctr"/>
          <a:lstStyle/>
          <a:p>
            <a:pPr algn="ctr" indent="0" marL="0">
              <a:buNone/>
            </a:pPr>
            <a:r>
              <a:rPr lang="en-US" sz="900" dirty="0">
                <a:solidFill>
                  <a:srgbClr val="7C8BA5"/>
                </a:solidFill>
                <a:latin typeface="Arial" pitchFamily="34" charset="0"/>
                <a:ea typeface="Arial" pitchFamily="34" charset="-122"/>
                <a:cs typeface="Arial" pitchFamily="34" charset="-120"/>
              </a:rPr>
              <a:t>Y1</a:t>
            </a:r>
            <a:endParaRPr lang="en-US" sz="900" dirty="0"/>
          </a:p>
        </p:txBody>
      </p:sp>
      <p:sp>
        <p:nvSpPr>
          <p:cNvPr id="33" name="Shape 31"/>
          <p:cNvSpPr/>
          <p:nvPr/>
        </p:nvSpPr>
        <p:spPr>
          <a:xfrm>
            <a:off x="8213598" y="4039160"/>
            <a:ext cx="566928" cy="1035760"/>
          </a:xfrm>
          <a:prstGeom prst="rect">
            <a:avLst/>
          </a:prstGeom>
          <a:solidFill>
            <a:srgbClr val="2C4A73"/>
          </a:solidFill>
          <a:ln/>
        </p:spPr>
      </p:sp>
      <p:sp>
        <p:nvSpPr>
          <p:cNvPr id="34" name="Text 32"/>
          <p:cNvSpPr txBox="1"/>
          <p:nvPr/>
        </p:nvSpPr>
        <p:spPr>
          <a:xfrm>
            <a:off x="8049006" y="3764840"/>
            <a:ext cx="896112" cy="237744"/>
          </a:xfrm>
          <a:prstGeom prst="rect">
            <a:avLst/>
          </a:prstGeom>
          <a:noFill/>
          <a:ln/>
        </p:spPr>
        <p:txBody>
          <a:bodyPr wrap="square" lIns="0" tIns="0" rIns="0" bIns="0" rtlCol="0" anchor="ctr"/>
          <a:lstStyle/>
          <a:p>
            <a:pPr algn="ctr" indent="0" marL="0">
              <a:buNone/>
            </a:pPr>
            <a:r>
              <a:rPr lang="en-US" sz="850" b="1" dirty="0">
                <a:solidFill>
                  <a:srgbClr val="A9B6CB"/>
                </a:solidFill>
                <a:latin typeface="Arial" pitchFamily="34" charset="0"/>
                <a:ea typeface="Arial" pitchFamily="34" charset="-122"/>
                <a:cs typeface="Arial" pitchFamily="34" charset="-120"/>
              </a:rPr>
              <a:t>R756M</a:t>
            </a:r>
            <a:endParaRPr lang="en-US" sz="850" dirty="0"/>
          </a:p>
        </p:txBody>
      </p:sp>
      <p:sp>
        <p:nvSpPr>
          <p:cNvPr id="35" name="Text 33"/>
          <p:cNvSpPr txBox="1"/>
          <p:nvPr/>
        </p:nvSpPr>
        <p:spPr>
          <a:xfrm>
            <a:off x="8213598" y="5129784"/>
            <a:ext cx="566928" cy="219456"/>
          </a:xfrm>
          <a:prstGeom prst="rect">
            <a:avLst/>
          </a:prstGeom>
          <a:noFill/>
          <a:ln/>
        </p:spPr>
        <p:txBody>
          <a:bodyPr wrap="square" lIns="0" tIns="0" rIns="0" bIns="0" rtlCol="0" anchor="ctr"/>
          <a:lstStyle/>
          <a:p>
            <a:pPr algn="ctr" indent="0" marL="0">
              <a:buNone/>
            </a:pPr>
            <a:r>
              <a:rPr lang="en-US" sz="900" dirty="0">
                <a:solidFill>
                  <a:srgbClr val="7C8BA5"/>
                </a:solidFill>
                <a:latin typeface="Arial" pitchFamily="34" charset="0"/>
                <a:ea typeface="Arial" pitchFamily="34" charset="-122"/>
                <a:cs typeface="Arial" pitchFamily="34" charset="-120"/>
              </a:rPr>
              <a:t>Y2</a:t>
            </a:r>
            <a:endParaRPr lang="en-US" sz="900" dirty="0"/>
          </a:p>
        </p:txBody>
      </p:sp>
      <p:sp>
        <p:nvSpPr>
          <p:cNvPr id="36" name="Shape 34"/>
          <p:cNvSpPr/>
          <p:nvPr/>
        </p:nvSpPr>
        <p:spPr>
          <a:xfrm>
            <a:off x="9066276" y="3473328"/>
            <a:ext cx="566928" cy="1601592"/>
          </a:xfrm>
          <a:prstGeom prst="rect">
            <a:avLst/>
          </a:prstGeom>
          <a:solidFill>
            <a:srgbClr val="2C4A73"/>
          </a:solidFill>
          <a:ln/>
        </p:spPr>
      </p:sp>
      <p:sp>
        <p:nvSpPr>
          <p:cNvPr id="37" name="Text 35"/>
          <p:cNvSpPr txBox="1"/>
          <p:nvPr/>
        </p:nvSpPr>
        <p:spPr>
          <a:xfrm>
            <a:off x="8901684" y="3199008"/>
            <a:ext cx="896112" cy="237744"/>
          </a:xfrm>
          <a:prstGeom prst="rect">
            <a:avLst/>
          </a:prstGeom>
          <a:noFill/>
          <a:ln/>
        </p:spPr>
        <p:txBody>
          <a:bodyPr wrap="square" lIns="0" tIns="0" rIns="0" bIns="0" rtlCol="0" anchor="ctr"/>
          <a:lstStyle/>
          <a:p>
            <a:pPr algn="ctr" indent="0" marL="0">
              <a:buNone/>
            </a:pPr>
            <a:r>
              <a:rPr lang="en-US" sz="850" b="1" dirty="0">
                <a:solidFill>
                  <a:srgbClr val="A9B6CB"/>
                </a:solidFill>
                <a:latin typeface="Arial" pitchFamily="34" charset="0"/>
                <a:ea typeface="Arial" pitchFamily="34" charset="-122"/>
                <a:cs typeface="Arial" pitchFamily="34" charset="-120"/>
              </a:rPr>
              <a:t>R1.17B</a:t>
            </a:r>
            <a:endParaRPr lang="en-US" sz="850" dirty="0"/>
          </a:p>
        </p:txBody>
      </p:sp>
      <p:sp>
        <p:nvSpPr>
          <p:cNvPr id="38" name="Text 36"/>
          <p:cNvSpPr txBox="1"/>
          <p:nvPr/>
        </p:nvSpPr>
        <p:spPr>
          <a:xfrm>
            <a:off x="9066276" y="5129784"/>
            <a:ext cx="566928" cy="219456"/>
          </a:xfrm>
          <a:prstGeom prst="rect">
            <a:avLst/>
          </a:prstGeom>
          <a:noFill/>
          <a:ln/>
        </p:spPr>
        <p:txBody>
          <a:bodyPr wrap="square" lIns="0" tIns="0" rIns="0" bIns="0" rtlCol="0" anchor="ctr"/>
          <a:lstStyle/>
          <a:p>
            <a:pPr algn="ctr" indent="0" marL="0">
              <a:buNone/>
            </a:pPr>
            <a:r>
              <a:rPr lang="en-US" sz="900" dirty="0">
                <a:solidFill>
                  <a:srgbClr val="7C8BA5"/>
                </a:solidFill>
                <a:latin typeface="Arial" pitchFamily="34" charset="0"/>
                <a:ea typeface="Arial" pitchFamily="34" charset="-122"/>
                <a:cs typeface="Arial" pitchFamily="34" charset="-120"/>
              </a:rPr>
              <a:t>Y3</a:t>
            </a:r>
            <a:endParaRPr lang="en-US" sz="900" dirty="0"/>
          </a:p>
        </p:txBody>
      </p:sp>
      <p:sp>
        <p:nvSpPr>
          <p:cNvPr id="39" name="Shape 37"/>
          <p:cNvSpPr/>
          <p:nvPr/>
        </p:nvSpPr>
        <p:spPr>
          <a:xfrm>
            <a:off x="9918954" y="2874615"/>
            <a:ext cx="566928" cy="2200305"/>
          </a:xfrm>
          <a:prstGeom prst="rect">
            <a:avLst/>
          </a:prstGeom>
          <a:solidFill>
            <a:srgbClr val="2C4A73"/>
          </a:solidFill>
          <a:ln/>
        </p:spPr>
      </p:sp>
      <p:sp>
        <p:nvSpPr>
          <p:cNvPr id="40" name="Text 38"/>
          <p:cNvSpPr txBox="1"/>
          <p:nvPr/>
        </p:nvSpPr>
        <p:spPr>
          <a:xfrm>
            <a:off x="9754362" y="2600295"/>
            <a:ext cx="896112" cy="237744"/>
          </a:xfrm>
          <a:prstGeom prst="rect">
            <a:avLst/>
          </a:prstGeom>
          <a:noFill/>
          <a:ln/>
        </p:spPr>
        <p:txBody>
          <a:bodyPr wrap="square" lIns="0" tIns="0" rIns="0" bIns="0" rtlCol="0" anchor="ctr"/>
          <a:lstStyle/>
          <a:p>
            <a:pPr algn="ctr" indent="0" marL="0">
              <a:buNone/>
            </a:pPr>
            <a:r>
              <a:rPr lang="en-US" sz="850" b="1" dirty="0">
                <a:solidFill>
                  <a:srgbClr val="A9B6CB"/>
                </a:solidFill>
                <a:latin typeface="Arial" pitchFamily="34" charset="0"/>
                <a:ea typeface="Arial" pitchFamily="34" charset="-122"/>
                <a:cs typeface="Arial" pitchFamily="34" charset="-120"/>
              </a:rPr>
              <a:t>R1.61B</a:t>
            </a:r>
            <a:endParaRPr lang="en-US" sz="850" dirty="0"/>
          </a:p>
        </p:txBody>
      </p:sp>
      <p:sp>
        <p:nvSpPr>
          <p:cNvPr id="41" name="Text 39"/>
          <p:cNvSpPr txBox="1"/>
          <p:nvPr/>
        </p:nvSpPr>
        <p:spPr>
          <a:xfrm>
            <a:off x="9918954" y="5129784"/>
            <a:ext cx="566928" cy="219456"/>
          </a:xfrm>
          <a:prstGeom prst="rect">
            <a:avLst/>
          </a:prstGeom>
          <a:noFill/>
          <a:ln/>
        </p:spPr>
        <p:txBody>
          <a:bodyPr wrap="square" lIns="0" tIns="0" rIns="0" bIns="0" rtlCol="0" anchor="ctr"/>
          <a:lstStyle/>
          <a:p>
            <a:pPr algn="ctr" indent="0" marL="0">
              <a:buNone/>
            </a:pPr>
            <a:r>
              <a:rPr lang="en-US" sz="900" dirty="0">
                <a:solidFill>
                  <a:srgbClr val="7C8BA5"/>
                </a:solidFill>
                <a:latin typeface="Arial" pitchFamily="34" charset="0"/>
                <a:ea typeface="Arial" pitchFamily="34" charset="-122"/>
                <a:cs typeface="Arial" pitchFamily="34" charset="-120"/>
              </a:rPr>
              <a:t>Y4</a:t>
            </a:r>
            <a:endParaRPr lang="en-US" sz="900" dirty="0"/>
          </a:p>
        </p:txBody>
      </p:sp>
      <p:sp>
        <p:nvSpPr>
          <p:cNvPr id="42" name="Shape 40"/>
          <p:cNvSpPr/>
          <p:nvPr/>
        </p:nvSpPr>
        <p:spPr>
          <a:xfrm>
            <a:off x="10771632" y="2240280"/>
            <a:ext cx="566928" cy="2834640"/>
          </a:xfrm>
          <a:prstGeom prst="rect">
            <a:avLst/>
          </a:prstGeom>
          <a:solidFill>
            <a:srgbClr val="F17400"/>
          </a:solidFill>
          <a:ln/>
        </p:spPr>
      </p:sp>
      <p:sp>
        <p:nvSpPr>
          <p:cNvPr id="43" name="Text 41"/>
          <p:cNvSpPr txBox="1"/>
          <p:nvPr/>
        </p:nvSpPr>
        <p:spPr>
          <a:xfrm>
            <a:off x="10607040" y="1965960"/>
            <a:ext cx="896112" cy="237744"/>
          </a:xfrm>
          <a:prstGeom prst="rect">
            <a:avLst/>
          </a:prstGeom>
          <a:noFill/>
          <a:ln/>
        </p:spPr>
        <p:txBody>
          <a:bodyPr wrap="square" lIns="0" tIns="0" rIns="0" bIns="0" rtlCol="0" anchor="ctr"/>
          <a:lstStyle/>
          <a:p>
            <a:pPr algn="ctr" indent="0" marL="0">
              <a:buNone/>
            </a:pPr>
            <a:r>
              <a:rPr lang="en-US" sz="850" b="1" dirty="0">
                <a:solidFill>
                  <a:srgbClr val="F17400"/>
                </a:solidFill>
                <a:latin typeface="Arial" pitchFamily="34" charset="0"/>
                <a:ea typeface="Arial" pitchFamily="34" charset="-122"/>
                <a:cs typeface="Arial" pitchFamily="34" charset="-120"/>
              </a:rPr>
              <a:t>R2.07B</a:t>
            </a:r>
            <a:endParaRPr lang="en-US" sz="850" dirty="0"/>
          </a:p>
        </p:txBody>
      </p:sp>
      <p:sp>
        <p:nvSpPr>
          <p:cNvPr id="44" name="Text 42"/>
          <p:cNvSpPr txBox="1"/>
          <p:nvPr/>
        </p:nvSpPr>
        <p:spPr>
          <a:xfrm>
            <a:off x="10771632" y="5129784"/>
            <a:ext cx="566928" cy="219456"/>
          </a:xfrm>
          <a:prstGeom prst="rect">
            <a:avLst/>
          </a:prstGeom>
          <a:noFill/>
          <a:ln/>
        </p:spPr>
        <p:txBody>
          <a:bodyPr wrap="square" lIns="0" tIns="0" rIns="0" bIns="0" rtlCol="0" anchor="ctr"/>
          <a:lstStyle/>
          <a:p>
            <a:pPr algn="ctr" indent="0" marL="0">
              <a:buNone/>
            </a:pPr>
            <a:r>
              <a:rPr lang="en-US" sz="900" dirty="0">
                <a:solidFill>
                  <a:srgbClr val="7C8BA5"/>
                </a:solidFill>
                <a:latin typeface="Arial" pitchFamily="34" charset="0"/>
                <a:ea typeface="Arial" pitchFamily="34" charset="-122"/>
                <a:cs typeface="Arial" pitchFamily="34" charset="-120"/>
              </a:rPr>
              <a:t>Y5</a:t>
            </a:r>
            <a:endParaRPr lang="en-US" sz="900" dirty="0"/>
          </a:p>
        </p:txBody>
      </p:sp>
      <p:sp>
        <p:nvSpPr>
          <p:cNvPr id="45" name="Shape 43"/>
          <p:cNvSpPr/>
          <p:nvPr/>
        </p:nvSpPr>
        <p:spPr>
          <a:xfrm>
            <a:off x="548640" y="5806440"/>
            <a:ext cx="11094415" cy="530352"/>
          </a:xfrm>
          <a:prstGeom prst="rect">
            <a:avLst/>
          </a:prstGeom>
          <a:solidFill>
            <a:srgbClr val="0B1B34"/>
          </a:solidFill>
          <a:ln/>
        </p:spPr>
      </p:sp>
      <p:sp>
        <p:nvSpPr>
          <p:cNvPr id="46" name="Text 44"/>
          <p:cNvSpPr txBox="1"/>
          <p:nvPr/>
        </p:nvSpPr>
        <p:spPr>
          <a:xfrm>
            <a:off x="777240" y="5806440"/>
            <a:ext cx="10637215" cy="530352"/>
          </a:xfrm>
          <a:prstGeom prst="rect">
            <a:avLst/>
          </a:prstGeom>
          <a:noFill/>
          <a:ln/>
        </p:spPr>
        <p:txBody>
          <a:bodyPr wrap="square" lIns="0" tIns="0" rIns="0" bIns="0" rtlCol="0" anchor="ctr"/>
          <a:lstStyle/>
          <a:p>
            <a:pPr indent="0" marL="0">
              <a:lnSpc>
                <a:spcPts val="1200"/>
              </a:lnSpc>
              <a:buNone/>
            </a:pPr>
            <a:r>
              <a:rPr lang="en-US" sz="950" b="1" dirty="0">
                <a:solidFill>
                  <a:srgbClr val="F17400"/>
                </a:solidFill>
                <a:latin typeface="Arial" pitchFamily="34" charset="0"/>
                <a:ea typeface="Arial" pitchFamily="34" charset="-122"/>
                <a:cs typeface="Arial" pitchFamily="34" charset="-120"/>
              </a:rPr>
              <a:t>Deliberately not included: </a:t>
            </a:r>
            <a:pPr indent="0" marL="0">
              <a:lnSpc>
                <a:spcPts val="1200"/>
              </a:lnSpc>
              <a:buNone/>
            </a:pPr>
            <a:r>
              <a:rPr lang="en-US" sz="950" dirty="0">
                <a:solidFill>
                  <a:srgbClr val="A9B6CB"/>
                </a:solidFill>
                <a:latin typeface="Arial" pitchFamily="34" charset="0"/>
                <a:ea typeface="Arial" pitchFamily="34" charset="-122"/>
                <a:cs typeface="Arial" pitchFamily="34" charset="-120"/>
              </a:rPr>
              <a:t>D-Card retail (R8.7M/yr), D-Pod asset savings, insurance-terms upside and vending sales to non-FlySafair passengers — headroom above this number, never padding inside it.</a:t>
            </a:r>
            <a:endParaRPr lang="en-US" sz="950" dirty="0"/>
          </a:p>
        </p:txBody>
      </p:sp>
      <p:sp>
        <p:nvSpPr>
          <p:cNvPr id="47" name="Shape 45"/>
          <p:cNvSpPr/>
          <p:nvPr/>
        </p:nvSpPr>
        <p:spPr>
          <a:xfrm>
            <a:off x="0" y="6583680"/>
            <a:ext cx="12191695" cy="274320"/>
          </a:xfrm>
          <a:prstGeom prst="rect">
            <a:avLst/>
          </a:prstGeom>
          <a:solidFill>
            <a:srgbClr val="0B1B34"/>
          </a:solidFill>
          <a:ln/>
        </p:spPr>
      </p:sp>
      <p:sp>
        <p:nvSpPr>
          <p:cNvPr id="48" name="Text 46"/>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49" name="Text 47"/>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23 / 29</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3749040" cy="329184"/>
          </a:xfrm>
          <a:prstGeom prst="roundRect">
            <a:avLst>
              <a:gd name="adj" fmla="val 50000"/>
            </a:avLst>
          </a:prstGeom>
          <a:solidFill>
            <a:srgbClr val="F17400"/>
          </a:solidFill>
          <a:ln w="12700">
            <a:solidFill>
              <a:srgbClr val="F17400"/>
            </a:solidFill>
            <a:prstDash val="solid"/>
          </a:ln>
        </p:spPr>
      </p:sp>
      <p:sp>
        <p:nvSpPr>
          <p:cNvPr id="3" name="Text 1"/>
          <p:cNvSpPr txBox="1"/>
          <p:nvPr/>
        </p:nvSpPr>
        <p:spPr>
          <a:xfrm>
            <a:off x="548640" y="384048"/>
            <a:ext cx="374904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SECTION 06 · THE INTELLIGENCE LAYER</a:t>
            </a:r>
            <a:endParaRPr lang="en-US" sz="950" dirty="0"/>
          </a:p>
        </p:txBody>
      </p:sp>
      <p:sp>
        <p:nvSpPr>
          <p:cNvPr id="4" name="Text 2"/>
          <p:cNvSpPr txBox="1"/>
          <p:nvPr/>
        </p:nvSpPr>
        <p:spPr>
          <a:xfrm>
            <a:off x="548640" y="841248"/>
            <a:ext cx="9144000" cy="566928"/>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Introducing Nexas AI</a:t>
            </a:r>
            <a:endParaRPr lang="en-US" sz="3400" dirty="0"/>
          </a:p>
        </p:txBody>
      </p:sp>
      <p:sp>
        <p:nvSpPr>
          <p:cNvPr id="5" name="Text 3"/>
          <p:cNvSpPr txBox="1"/>
          <p:nvPr/>
        </p:nvSpPr>
        <p:spPr>
          <a:xfrm>
            <a:off x="548640" y="1444752"/>
            <a:ext cx="10607040" cy="310896"/>
          </a:xfrm>
          <a:prstGeom prst="rect">
            <a:avLst/>
          </a:prstGeom>
          <a:noFill/>
          <a:ln/>
        </p:spPr>
        <p:txBody>
          <a:bodyPr wrap="square" lIns="0" tIns="0" rIns="0" bIns="0" rtlCol="0" anchor="ctr"/>
          <a:lstStyle/>
          <a:p>
            <a:pPr indent="0" marL="0">
              <a:buNone/>
            </a:pPr>
            <a:r>
              <a:rPr lang="en-US" sz="1200" i="1" dirty="0">
                <a:solidFill>
                  <a:srgbClr val="A9B6CB"/>
                </a:solidFill>
                <a:latin typeface="Arial" pitchFamily="34" charset="0"/>
                <a:ea typeface="Arial" pitchFamily="34" charset="-122"/>
                <a:cs typeface="Arial" pitchFamily="34" charset="-120"/>
              </a:rPr>
              <a:t>“One login. Seventy-seven minds. Zero pretence.” — the AI-agent business command center by ClearVision AI, put to work on FlySafair's own data.</a:t>
            </a:r>
            <a:endParaRPr lang="en-US" sz="1200" dirty="0"/>
          </a:p>
        </p:txBody>
      </p:sp>
      <p:sp>
        <p:nvSpPr>
          <p:cNvPr id="6" name="Shape 4"/>
          <p:cNvSpPr/>
          <p:nvPr/>
        </p:nvSpPr>
        <p:spPr>
          <a:xfrm>
            <a:off x="548640" y="1920240"/>
            <a:ext cx="2679192" cy="868680"/>
          </a:xfrm>
          <a:prstGeom prst="rect">
            <a:avLst/>
          </a:prstGeom>
          <a:solidFill>
            <a:srgbClr val="113255"/>
          </a:solidFill>
          <a:ln w="12700">
            <a:solidFill>
              <a:srgbClr val="27466E"/>
            </a:solidFill>
            <a:prstDash val="solid"/>
          </a:ln>
        </p:spPr>
      </p:sp>
      <p:sp>
        <p:nvSpPr>
          <p:cNvPr id="7" name="Text 5"/>
          <p:cNvSpPr txBox="1"/>
          <p:nvPr/>
        </p:nvSpPr>
        <p:spPr>
          <a:xfrm>
            <a:off x="68580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77 agents</a:t>
            </a:r>
            <a:endParaRPr lang="en-US" sz="1700" dirty="0"/>
          </a:p>
        </p:txBody>
      </p:sp>
      <p:sp>
        <p:nvSpPr>
          <p:cNvPr id="8" name="Text 6"/>
          <p:cNvSpPr txBox="1"/>
          <p:nvPr/>
        </p:nvSpPr>
        <p:spPr>
          <a:xfrm>
            <a:off x="68580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named specialist AI agents across 16 divisions — a full virtual staff complement</a:t>
            </a:r>
            <a:endParaRPr lang="en-US" sz="800" dirty="0"/>
          </a:p>
        </p:txBody>
      </p:sp>
      <p:sp>
        <p:nvSpPr>
          <p:cNvPr id="9" name="Shape 7"/>
          <p:cNvSpPr/>
          <p:nvPr/>
        </p:nvSpPr>
        <p:spPr>
          <a:xfrm>
            <a:off x="3390595" y="1920240"/>
            <a:ext cx="2679192" cy="868680"/>
          </a:xfrm>
          <a:prstGeom prst="rect">
            <a:avLst/>
          </a:prstGeom>
          <a:solidFill>
            <a:srgbClr val="113255"/>
          </a:solidFill>
          <a:ln w="12700">
            <a:solidFill>
              <a:srgbClr val="27466E"/>
            </a:solidFill>
            <a:prstDash val="solid"/>
          </a:ln>
        </p:spPr>
      </p:sp>
      <p:sp>
        <p:nvSpPr>
          <p:cNvPr id="10" name="Text 8"/>
          <p:cNvSpPr txBox="1"/>
          <p:nvPr/>
        </p:nvSpPr>
        <p:spPr>
          <a:xfrm>
            <a:off x="3527755"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NEXA</a:t>
            </a:r>
            <a:endParaRPr lang="en-US" sz="1700" dirty="0"/>
          </a:p>
        </p:txBody>
      </p:sp>
      <p:sp>
        <p:nvSpPr>
          <p:cNvPr id="11" name="Text 9"/>
          <p:cNvSpPr txBox="1"/>
          <p:nvPr/>
        </p:nvSpPr>
        <p:spPr>
          <a:xfrm>
            <a:off x="3527755"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the head butler and command core — one login, one interface, every domain</a:t>
            </a:r>
            <a:endParaRPr lang="en-US" sz="800" dirty="0"/>
          </a:p>
        </p:txBody>
      </p:sp>
      <p:sp>
        <p:nvSpPr>
          <p:cNvPr id="12" name="Shape 10"/>
          <p:cNvSpPr/>
          <p:nvPr/>
        </p:nvSpPr>
        <p:spPr>
          <a:xfrm>
            <a:off x="6232550" y="1920240"/>
            <a:ext cx="2679192" cy="868680"/>
          </a:xfrm>
          <a:prstGeom prst="rect">
            <a:avLst/>
          </a:prstGeom>
          <a:solidFill>
            <a:srgbClr val="113255"/>
          </a:solidFill>
          <a:ln w="12700">
            <a:solidFill>
              <a:srgbClr val="27466E"/>
            </a:solidFill>
            <a:prstDash val="solid"/>
          </a:ln>
        </p:spPr>
      </p:sp>
      <p:sp>
        <p:nvSpPr>
          <p:cNvPr id="13" name="Text 11"/>
          <p:cNvSpPr txBox="1"/>
          <p:nvPr/>
        </p:nvSpPr>
        <p:spPr>
          <a:xfrm>
            <a:off x="6369710"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13 modules</a:t>
            </a:r>
            <a:endParaRPr lang="en-US" sz="1700" dirty="0"/>
          </a:p>
        </p:txBody>
      </p:sp>
      <p:sp>
        <p:nvSpPr>
          <p:cNvPr id="14" name="Text 12"/>
          <p:cNvSpPr txBox="1"/>
          <p:nvPr/>
        </p:nvSpPr>
        <p:spPr>
          <a:xfrm>
            <a:off x="6369710"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War Room, Mission Control, CRM, Document Studio, Quotes, Analytics and more</a:t>
            </a:r>
            <a:endParaRPr lang="en-US" sz="800" dirty="0"/>
          </a:p>
        </p:txBody>
      </p:sp>
      <p:sp>
        <p:nvSpPr>
          <p:cNvPr id="15" name="Shape 13"/>
          <p:cNvSpPr/>
          <p:nvPr/>
        </p:nvSpPr>
        <p:spPr>
          <a:xfrm>
            <a:off x="9074506" y="1920240"/>
            <a:ext cx="2679192" cy="868680"/>
          </a:xfrm>
          <a:prstGeom prst="rect">
            <a:avLst/>
          </a:prstGeom>
          <a:solidFill>
            <a:srgbClr val="113255"/>
          </a:solidFill>
          <a:ln w="12700">
            <a:solidFill>
              <a:srgbClr val="27466E"/>
            </a:solidFill>
            <a:prstDash val="solid"/>
          </a:ln>
        </p:spPr>
      </p:sp>
      <p:sp>
        <p:nvSpPr>
          <p:cNvPr id="16" name="Text 14"/>
          <p:cNvSpPr txBox="1"/>
          <p:nvPr/>
        </p:nvSpPr>
        <p:spPr>
          <a:xfrm>
            <a:off x="9211666" y="2011680"/>
            <a:ext cx="2404872" cy="365760"/>
          </a:xfrm>
          <a:prstGeom prst="rect">
            <a:avLst/>
          </a:prstGeom>
          <a:noFill/>
          <a:ln/>
        </p:spPr>
        <p:txBody>
          <a:bodyPr wrap="square" lIns="0" tIns="0" rIns="0" bIns="0" rtlCol="0" anchor="ctr"/>
          <a:lstStyle/>
          <a:p>
            <a:pPr indent="0" marL="0">
              <a:buNone/>
            </a:pPr>
            <a:r>
              <a:rPr lang="en-US" sz="1700" b="1" dirty="0">
                <a:solidFill>
                  <a:srgbClr val="F17400"/>
                </a:solidFill>
                <a:latin typeface="Arial" pitchFamily="34" charset="0"/>
                <a:ea typeface="Arial" pitchFamily="34" charset="-122"/>
                <a:cs typeface="Arial" pitchFamily="34" charset="-120"/>
              </a:rPr>
              <a:t>Proudly SA</a:t>
            </a:r>
            <a:endParaRPr lang="en-US" sz="1700" dirty="0"/>
          </a:p>
        </p:txBody>
      </p:sp>
      <p:sp>
        <p:nvSpPr>
          <p:cNvPr id="17" name="Text 15"/>
          <p:cNvSpPr txBox="1"/>
          <p:nvPr/>
        </p:nvSpPr>
        <p:spPr>
          <a:xfrm>
            <a:off x="9211666" y="2377440"/>
            <a:ext cx="2404872" cy="384048"/>
          </a:xfrm>
          <a:prstGeom prst="rect">
            <a:avLst/>
          </a:prstGeom>
          <a:noFill/>
          <a:ln/>
        </p:spPr>
        <p:txBody>
          <a:bodyPr wrap="square" lIns="0" tIns="0" rIns="0" bIns="0" rtlCol="0" anchor="ctr"/>
          <a:lstStyle/>
          <a:p>
            <a:pPr indent="0" marL="0">
              <a:lnSpc>
                <a:spcPts val="1000"/>
              </a:lnSpc>
              <a:buNone/>
            </a:pPr>
            <a:r>
              <a:rPr lang="en-US" sz="800" dirty="0">
                <a:solidFill>
                  <a:srgbClr val="A9B6CB"/>
                </a:solidFill>
                <a:latin typeface="Arial" pitchFamily="34" charset="0"/>
                <a:ea typeface="Arial" pitchFamily="34" charset="-122"/>
                <a:cs typeface="Arial" pitchFamily="34" charset="-120"/>
              </a:rPr>
              <a:t>POPIA, SARS, CCMA and OHS fluent — priced in rand, planned around load-shedding</a:t>
            </a:r>
            <a:endParaRPr lang="en-US" sz="800" dirty="0"/>
          </a:p>
        </p:txBody>
      </p:sp>
      <p:sp>
        <p:nvSpPr>
          <p:cNvPr id="18" name="Text 16"/>
          <p:cNvSpPr txBox="1"/>
          <p:nvPr/>
        </p:nvSpPr>
        <p:spPr>
          <a:xfrm>
            <a:off x="548640" y="3063240"/>
            <a:ext cx="594360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HOW FLYSAFAIR WOULD USE IT</a:t>
            </a:r>
            <a:endParaRPr lang="en-US" sz="1000" dirty="0"/>
          </a:p>
        </p:txBody>
      </p:sp>
      <p:sp>
        <p:nvSpPr>
          <p:cNvPr id="19" name="Text 17"/>
          <p:cNvSpPr txBox="1"/>
          <p:nvPr/>
        </p:nvSpPr>
        <p:spPr>
          <a:xfrm>
            <a:off x="548640" y="3401568"/>
            <a:ext cx="6035040" cy="2377440"/>
          </a:xfrm>
          <a:prstGeom prst="rect">
            <a:avLst/>
          </a:prstGeom>
          <a:noFill/>
          <a:ln/>
        </p:spPr>
        <p:txBody>
          <a:bodyPr wrap="square" lIns="0" tIns="0" rIns="0" bIns="0" rtlCol="0" anchor="t"/>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Ask NEXA anything — “what did baggage cost us in July?” — and get the answer with the evidence attached, straight off the Digitag feed</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Brief Amber, the chief orchestrator, once — she turns it into a mission with owners, steps and a finish line across the right agents</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Watch live operations in the War Room; track agents, missions and performance from the command dashboard</a:t>
            </a:r>
            <a:endParaRPr lang="en-US" sz="1000" dirty="0"/>
          </a:p>
          <a:p>
            <a:pPr indent="0" marL="0">
              <a:lnSpc>
                <a:spcPts val="1300"/>
              </a:lnSpc>
              <a:buNone/>
            </a:pPr>
            <a:r>
              <a:rPr lang="en-US" sz="1000" b="1" dirty="0">
                <a:solidFill>
                  <a:srgbClr val="F17400"/>
                </a:solidFill>
                <a:latin typeface="Arial" pitchFamily="34" charset="0"/>
                <a:ea typeface="Arial" pitchFamily="34" charset="-122"/>
                <a:cs typeface="Arial" pitchFamily="34" charset="-120"/>
              </a:rPr>
              <a:t>✓  </a:t>
            </a:r>
            <a:pPr indent="0" marL="0">
              <a:lnSpc>
                <a:spcPts val="1300"/>
              </a:lnSpc>
              <a:spcAft>
                <a:spcPts val="800"/>
              </a:spcAft>
              <a:buNone/>
            </a:pPr>
            <a:r>
              <a:rPr lang="en-US" sz="1000" dirty="0">
                <a:solidFill>
                  <a:srgbClr val="A9B6CB"/>
                </a:solidFill>
                <a:latin typeface="Arial" pitchFamily="34" charset="0"/>
                <a:ea typeface="Arial" pitchFamily="34" charset="-122"/>
                <a:cs typeface="Arial" pitchFamily="34" charset="-120"/>
              </a:rPr>
              <a:t>Memory learns FlySafair's context between sessions; Plugins connect the Digitag device feed, DCS and booking flow</a:t>
            </a:r>
            <a:endParaRPr lang="en-US" sz="1000" dirty="0"/>
          </a:p>
        </p:txBody>
      </p:sp>
      <p:sp>
        <p:nvSpPr>
          <p:cNvPr id="20" name="Shape 18"/>
          <p:cNvSpPr/>
          <p:nvPr/>
        </p:nvSpPr>
        <p:spPr>
          <a:xfrm>
            <a:off x="6903720" y="3063240"/>
            <a:ext cx="4736592" cy="2907792"/>
          </a:xfrm>
          <a:prstGeom prst="rect">
            <a:avLst/>
          </a:prstGeom>
          <a:solidFill>
            <a:srgbClr val="113255"/>
          </a:solidFill>
          <a:ln w="12700">
            <a:solidFill>
              <a:srgbClr val="27466E"/>
            </a:solidFill>
            <a:prstDash val="solid"/>
          </a:ln>
        </p:spPr>
      </p:sp>
      <p:sp>
        <p:nvSpPr>
          <p:cNvPr id="21" name="Text 19"/>
          <p:cNvSpPr txBox="1"/>
          <p:nvPr/>
        </p:nvSpPr>
        <p:spPr>
          <a:xfrm>
            <a:off x="7132320" y="324612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WHAT IT CHANGES</a:t>
            </a:r>
            <a:endParaRPr lang="en-US" sz="1000" dirty="0"/>
          </a:p>
        </p:txBody>
      </p:sp>
      <p:sp>
        <p:nvSpPr>
          <p:cNvPr id="22" name="Text 20"/>
          <p:cNvSpPr txBox="1"/>
          <p:nvPr/>
        </p:nvSpPr>
        <p:spPr>
          <a:xfrm>
            <a:off x="7132320" y="3584448"/>
            <a:ext cx="4297680" cy="310896"/>
          </a:xfrm>
          <a:prstGeom prst="rect">
            <a:avLst/>
          </a:prstGeom>
          <a:noFill/>
          <a:ln/>
        </p:spPr>
        <p:txBody>
          <a:bodyPr wrap="square" lIns="0" tIns="0" rIns="0" bIns="0" rtlCol="0" anchor="ctr"/>
          <a:lstStyle/>
          <a:p>
            <a:pPr indent="0" marL="0">
              <a:buNone/>
            </a:pPr>
            <a:r>
              <a:rPr lang="en-US" sz="1600" b="1" dirty="0">
                <a:solidFill>
                  <a:srgbClr val="F17400"/>
                </a:solidFill>
                <a:latin typeface="Arial" pitchFamily="34" charset="0"/>
                <a:ea typeface="Arial" pitchFamily="34" charset="-122"/>
                <a:cs typeface="Arial" pitchFamily="34" charset="-120"/>
              </a:rPr>
              <a:t>77 → 1 login</a:t>
            </a:r>
            <a:endParaRPr lang="en-US" sz="1600" dirty="0"/>
          </a:p>
        </p:txBody>
      </p:sp>
      <p:sp>
        <p:nvSpPr>
          <p:cNvPr id="23" name="Text 21"/>
          <p:cNvSpPr txBox="1"/>
          <p:nvPr/>
        </p:nvSpPr>
        <p:spPr>
          <a:xfrm>
            <a:off x="7132320" y="3886200"/>
            <a:ext cx="4297680" cy="384048"/>
          </a:xfrm>
          <a:prstGeom prst="rect">
            <a:avLst/>
          </a:prstGeom>
          <a:noFill/>
          <a:ln/>
        </p:spPr>
        <p:txBody>
          <a:bodyPr wrap="square" lIns="0" tIns="0" rIns="0" bIns="0" rtlCol="0" anchor="ctr"/>
          <a:lstStyle/>
          <a:p>
            <a:pPr indent="0" marL="0">
              <a:lnSpc>
                <a:spcPts val="1050"/>
              </a:lnSpc>
              <a:buNone/>
            </a:pPr>
            <a:r>
              <a:rPr lang="en-US" sz="880" dirty="0">
                <a:solidFill>
                  <a:srgbClr val="A9B6CB"/>
                </a:solidFill>
                <a:latin typeface="Arial" pitchFamily="34" charset="0"/>
                <a:ea typeface="Arial" pitchFamily="34" charset="-122"/>
                <a:cs typeface="Arial" pitchFamily="34" charset="-120"/>
              </a:rPr>
              <a:t>a full staff complement of specialist expertise behind a single secure command center</a:t>
            </a:r>
            <a:endParaRPr lang="en-US" sz="880" dirty="0"/>
          </a:p>
        </p:txBody>
      </p:sp>
      <p:sp>
        <p:nvSpPr>
          <p:cNvPr id="24" name="Text 22"/>
          <p:cNvSpPr txBox="1"/>
          <p:nvPr/>
        </p:nvSpPr>
        <p:spPr>
          <a:xfrm>
            <a:off x="7132320" y="4379976"/>
            <a:ext cx="4297680" cy="310896"/>
          </a:xfrm>
          <a:prstGeom prst="rect">
            <a:avLst/>
          </a:prstGeom>
          <a:noFill/>
          <a:ln/>
        </p:spPr>
        <p:txBody>
          <a:bodyPr wrap="square" lIns="0" tIns="0" rIns="0" bIns="0" rtlCol="0" anchor="ctr"/>
          <a:lstStyle/>
          <a:p>
            <a:pPr indent="0" marL="0">
              <a:buNone/>
            </a:pPr>
            <a:r>
              <a:rPr lang="en-US" sz="1600" b="1" dirty="0">
                <a:solidFill>
                  <a:srgbClr val="F17400"/>
                </a:solidFill>
                <a:latin typeface="Arial" pitchFamily="34" charset="0"/>
                <a:ea typeface="Arial" pitchFamily="34" charset="-122"/>
                <a:cs typeface="Arial" pitchFamily="34" charset="-120"/>
              </a:rPr>
              <a:t>1 brief → 1 mission</a:t>
            </a:r>
            <a:endParaRPr lang="en-US" sz="1600" dirty="0"/>
          </a:p>
        </p:txBody>
      </p:sp>
      <p:sp>
        <p:nvSpPr>
          <p:cNvPr id="25" name="Text 23"/>
          <p:cNvSpPr txBox="1"/>
          <p:nvPr/>
        </p:nvSpPr>
        <p:spPr>
          <a:xfrm>
            <a:off x="7132320" y="4681728"/>
            <a:ext cx="4297680" cy="384048"/>
          </a:xfrm>
          <a:prstGeom prst="rect">
            <a:avLst/>
          </a:prstGeom>
          <a:noFill/>
          <a:ln/>
        </p:spPr>
        <p:txBody>
          <a:bodyPr wrap="square" lIns="0" tIns="0" rIns="0" bIns="0" rtlCol="0" anchor="ctr"/>
          <a:lstStyle/>
          <a:p>
            <a:pPr indent="0" marL="0">
              <a:lnSpc>
                <a:spcPts val="1050"/>
              </a:lnSpc>
              <a:buNone/>
            </a:pPr>
            <a:r>
              <a:rPr lang="en-US" sz="880" dirty="0">
                <a:solidFill>
                  <a:srgbClr val="A9B6CB"/>
                </a:solidFill>
                <a:latin typeface="Arial" pitchFamily="34" charset="0"/>
                <a:ea typeface="Arial" pitchFamily="34" charset="-122"/>
                <a:cs typeface="Arial" pitchFamily="34" charset="-120"/>
              </a:rPr>
              <a:t>multi-agent work planned, routed, tracked and synthesised into one answer</a:t>
            </a:r>
            <a:endParaRPr lang="en-US" sz="880" dirty="0"/>
          </a:p>
        </p:txBody>
      </p:sp>
      <p:sp>
        <p:nvSpPr>
          <p:cNvPr id="26" name="Text 24"/>
          <p:cNvSpPr txBox="1"/>
          <p:nvPr/>
        </p:nvSpPr>
        <p:spPr>
          <a:xfrm>
            <a:off x="7132320" y="5175504"/>
            <a:ext cx="4297680" cy="310896"/>
          </a:xfrm>
          <a:prstGeom prst="rect">
            <a:avLst/>
          </a:prstGeom>
          <a:noFill/>
          <a:ln/>
        </p:spPr>
        <p:txBody>
          <a:bodyPr wrap="square" lIns="0" tIns="0" rIns="0" bIns="0" rtlCol="0" anchor="ctr"/>
          <a:lstStyle/>
          <a:p>
            <a:pPr indent="0" marL="0">
              <a:buNone/>
            </a:pPr>
            <a:r>
              <a:rPr lang="en-US" sz="1600" b="1" dirty="0">
                <a:solidFill>
                  <a:srgbClr val="F17400"/>
                </a:solidFill>
                <a:latin typeface="Arial" pitchFamily="34" charset="0"/>
                <a:ea typeface="Arial" pitchFamily="34" charset="-122"/>
                <a:cs typeface="Arial" pitchFamily="34" charset="-120"/>
              </a:rPr>
              <a:t>R0 extra headcount</a:t>
            </a:r>
            <a:endParaRPr lang="en-US" sz="1600" dirty="0"/>
          </a:p>
        </p:txBody>
      </p:sp>
      <p:sp>
        <p:nvSpPr>
          <p:cNvPr id="27" name="Text 25"/>
          <p:cNvSpPr txBox="1"/>
          <p:nvPr/>
        </p:nvSpPr>
        <p:spPr>
          <a:xfrm>
            <a:off x="7132320" y="5477256"/>
            <a:ext cx="4297680" cy="384048"/>
          </a:xfrm>
          <a:prstGeom prst="rect">
            <a:avLst/>
          </a:prstGeom>
          <a:noFill/>
          <a:ln/>
        </p:spPr>
        <p:txBody>
          <a:bodyPr wrap="square" lIns="0" tIns="0" rIns="0" bIns="0" rtlCol="0" anchor="ctr"/>
          <a:lstStyle/>
          <a:p>
            <a:pPr indent="0" marL="0">
              <a:lnSpc>
                <a:spcPts val="1050"/>
              </a:lnSpc>
              <a:buNone/>
            </a:pPr>
            <a:r>
              <a:rPr lang="en-US" sz="880" dirty="0">
                <a:solidFill>
                  <a:srgbClr val="A9B6CB"/>
                </a:solidFill>
                <a:latin typeface="Arial" pitchFamily="34" charset="0"/>
                <a:ea typeface="Arial" pitchFamily="34" charset="-122"/>
                <a:cs typeface="Arial" pitchFamily="34" charset="-120"/>
              </a:rPr>
              <a:t>every division gains capability without a single new salary line</a:t>
            </a:r>
            <a:endParaRPr lang="en-US" sz="880" dirty="0"/>
          </a:p>
        </p:txBody>
      </p:sp>
      <p:sp>
        <p:nvSpPr>
          <p:cNvPr id="28" name="Text 26"/>
          <p:cNvSpPr txBox="1"/>
          <p:nvPr/>
        </p:nvSpPr>
        <p:spPr>
          <a:xfrm>
            <a:off x="548640" y="6108192"/>
            <a:ext cx="11064240" cy="320040"/>
          </a:xfrm>
          <a:prstGeom prst="rect">
            <a:avLst/>
          </a:prstGeom>
          <a:noFill/>
          <a:ln/>
        </p:spPr>
        <p:txBody>
          <a:bodyPr wrap="square" lIns="0" tIns="0" rIns="0" bIns="0" rtlCol="0" anchor="ctr"/>
          <a:lstStyle/>
          <a:p>
            <a:pPr indent="0" marL="0">
              <a:buNone/>
            </a:pPr>
            <a:r>
              <a:rPr lang="en-US" sz="900" i="1" dirty="0">
                <a:solidFill>
                  <a:srgbClr val="7C8BA5"/>
                </a:solidFill>
                <a:latin typeface="Arial" pitchFamily="34" charset="0"/>
                <a:ea typeface="Arial" pitchFamily="34" charset="-122"/>
                <a:cs typeface="Arial" pitchFamily="34" charset="-120"/>
              </a:rPr>
              <a:t>Nexas AI is a ClearVision AI platform. Licences ride on the commercial programme — included in both Option 1 and Option 2, not a separate IT line item.</a:t>
            </a:r>
            <a:endParaRPr lang="en-US" sz="900" dirty="0"/>
          </a:p>
        </p:txBody>
      </p:sp>
      <p:sp>
        <p:nvSpPr>
          <p:cNvPr id="29" name="Shape 27"/>
          <p:cNvSpPr/>
          <p:nvPr/>
        </p:nvSpPr>
        <p:spPr>
          <a:xfrm>
            <a:off x="0" y="6583680"/>
            <a:ext cx="12191695" cy="274320"/>
          </a:xfrm>
          <a:prstGeom prst="rect">
            <a:avLst/>
          </a:prstGeom>
          <a:solidFill>
            <a:srgbClr val="0E2648"/>
          </a:solidFill>
          <a:ln/>
        </p:spPr>
      </p:sp>
      <p:sp>
        <p:nvSpPr>
          <p:cNvPr id="30" name="Text 28"/>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1" name="Text 29"/>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24 / 29</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06 · THE INTELLIGENCE LAYER</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One AI workforce, every division of FlySafair</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77 named specialist agents across 16 divisions — below, the crew each FlySafair division puts to work from day one.</a:t>
            </a:r>
            <a:endParaRPr lang="en-US" sz="1150" dirty="0"/>
          </a:p>
        </p:txBody>
      </p:sp>
      <p:sp>
        <p:nvSpPr>
          <p:cNvPr id="5" name="Shape 3"/>
          <p:cNvSpPr/>
          <p:nvPr/>
        </p:nvSpPr>
        <p:spPr>
          <a:xfrm>
            <a:off x="548640" y="1481328"/>
            <a:ext cx="2679192" cy="2048256"/>
          </a:xfrm>
          <a:prstGeom prst="rect">
            <a:avLst/>
          </a:prstGeom>
          <a:solidFill>
            <a:srgbClr val="F4F7FB"/>
          </a:solidFill>
          <a:ln w="12700">
            <a:solidFill>
              <a:srgbClr val="D9E0EA"/>
            </a:solidFill>
            <a:prstDash val="solid"/>
          </a:ln>
        </p:spPr>
      </p:sp>
      <p:sp>
        <p:nvSpPr>
          <p:cNvPr id="6" name="Shape 4"/>
          <p:cNvSpPr/>
          <p:nvPr/>
        </p:nvSpPr>
        <p:spPr>
          <a:xfrm>
            <a:off x="548640" y="1481328"/>
            <a:ext cx="2679192" cy="457200"/>
          </a:xfrm>
          <a:prstGeom prst="rect">
            <a:avLst/>
          </a:prstGeom>
          <a:solidFill>
            <a:srgbClr val="0B1B34"/>
          </a:solidFill>
          <a:ln/>
        </p:spPr>
      </p:sp>
      <p:sp>
        <p:nvSpPr>
          <p:cNvPr id="7" name="Text 5"/>
          <p:cNvSpPr txBox="1"/>
          <p:nvPr/>
        </p:nvSpPr>
        <p:spPr>
          <a:xfrm>
            <a:off x="685800" y="1481328"/>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Ground Ops &amp; Baggage</a:t>
            </a:r>
            <a:endParaRPr lang="en-US" sz="1050" dirty="0"/>
          </a:p>
        </p:txBody>
      </p:sp>
      <p:sp>
        <p:nvSpPr>
          <p:cNvPr id="8" name="Text 6"/>
          <p:cNvSpPr txBox="1"/>
          <p:nvPr/>
        </p:nvSpPr>
        <p:spPr>
          <a:xfrm>
            <a:off x="685800" y="2048256"/>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Rita (operations analyst), Stella (QA) and Ronan (warehouse) map processes, find bottlenecks and write the SOPs — with live Digitag positions as the evidence.</a:t>
            </a:r>
            <a:endParaRPr lang="en-US" sz="880" dirty="0"/>
          </a:p>
        </p:txBody>
      </p:sp>
      <p:sp>
        <p:nvSpPr>
          <p:cNvPr id="9" name="Shape 7"/>
          <p:cNvSpPr/>
          <p:nvPr/>
        </p:nvSpPr>
        <p:spPr>
          <a:xfrm>
            <a:off x="3390595" y="1481328"/>
            <a:ext cx="2679192" cy="2048256"/>
          </a:xfrm>
          <a:prstGeom prst="rect">
            <a:avLst/>
          </a:prstGeom>
          <a:solidFill>
            <a:srgbClr val="FFFFFF"/>
          </a:solidFill>
          <a:ln w="12700">
            <a:solidFill>
              <a:srgbClr val="D9E0EA"/>
            </a:solidFill>
            <a:prstDash val="solid"/>
          </a:ln>
        </p:spPr>
      </p:sp>
      <p:sp>
        <p:nvSpPr>
          <p:cNvPr id="10" name="Shape 8"/>
          <p:cNvSpPr/>
          <p:nvPr/>
        </p:nvSpPr>
        <p:spPr>
          <a:xfrm>
            <a:off x="3390595" y="1481328"/>
            <a:ext cx="2679192" cy="457200"/>
          </a:xfrm>
          <a:prstGeom prst="rect">
            <a:avLst/>
          </a:prstGeom>
          <a:solidFill>
            <a:srgbClr val="0B1B34"/>
          </a:solidFill>
          <a:ln/>
        </p:spPr>
      </p:sp>
      <p:sp>
        <p:nvSpPr>
          <p:cNvPr id="11" name="Text 9"/>
          <p:cNvSpPr txBox="1"/>
          <p:nvPr/>
        </p:nvSpPr>
        <p:spPr>
          <a:xfrm>
            <a:off x="3527755" y="1481328"/>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Customer Care</a:t>
            </a:r>
            <a:endParaRPr lang="en-US" sz="1050" dirty="0"/>
          </a:p>
        </p:txBody>
      </p:sp>
      <p:sp>
        <p:nvSpPr>
          <p:cNvPr id="12" name="Text 10"/>
          <p:cNvSpPr txBox="1"/>
          <p:nvPr/>
        </p:nvSpPr>
        <p:spPr>
          <a:xfrm>
            <a:off x="3527755" y="2048256"/>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Wendy fronts every enquiry, Ryan designs support systems that turn complaints into loyalty, Melissa drives retention — “where is my bag?” answered before anyone phones.</a:t>
            </a:r>
            <a:endParaRPr lang="en-US" sz="880" dirty="0"/>
          </a:p>
        </p:txBody>
      </p:sp>
      <p:sp>
        <p:nvSpPr>
          <p:cNvPr id="13" name="Shape 11"/>
          <p:cNvSpPr/>
          <p:nvPr/>
        </p:nvSpPr>
        <p:spPr>
          <a:xfrm>
            <a:off x="6232550" y="1481328"/>
            <a:ext cx="2679192" cy="2048256"/>
          </a:xfrm>
          <a:prstGeom prst="rect">
            <a:avLst/>
          </a:prstGeom>
          <a:solidFill>
            <a:srgbClr val="FFFFFF"/>
          </a:solidFill>
          <a:ln w="12700">
            <a:solidFill>
              <a:srgbClr val="D9E0EA"/>
            </a:solidFill>
            <a:prstDash val="solid"/>
          </a:ln>
        </p:spPr>
      </p:sp>
      <p:sp>
        <p:nvSpPr>
          <p:cNvPr id="14" name="Shape 12"/>
          <p:cNvSpPr/>
          <p:nvPr/>
        </p:nvSpPr>
        <p:spPr>
          <a:xfrm>
            <a:off x="6232550" y="1481328"/>
            <a:ext cx="2679192" cy="457200"/>
          </a:xfrm>
          <a:prstGeom prst="rect">
            <a:avLst/>
          </a:prstGeom>
          <a:solidFill>
            <a:srgbClr val="0B1B34"/>
          </a:solidFill>
          <a:ln/>
        </p:spPr>
      </p:sp>
      <p:sp>
        <p:nvSpPr>
          <p:cNvPr id="15" name="Text 13"/>
          <p:cNvSpPr txBox="1"/>
          <p:nvPr/>
        </p:nvSpPr>
        <p:spPr>
          <a:xfrm>
            <a:off x="6369710" y="1481328"/>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Commercial &amp; Revenue</a:t>
            </a:r>
            <a:endParaRPr lang="en-US" sz="1050" dirty="0"/>
          </a:p>
        </p:txBody>
      </p:sp>
      <p:sp>
        <p:nvSpPr>
          <p:cNvPr id="16" name="Text 14"/>
          <p:cNvSpPr txBox="1"/>
          <p:nvPr/>
        </p:nvSpPr>
        <p:spPr>
          <a:xfrm>
            <a:off x="6369710" y="2048256"/>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Charles, Samantha and Hannah build the Digitag Protect pipeline; Evan, Rachel and Eleanor run full-funnel marketing, SEO and PR for the launch.</a:t>
            </a:r>
            <a:endParaRPr lang="en-US" sz="880" dirty="0"/>
          </a:p>
        </p:txBody>
      </p:sp>
      <p:sp>
        <p:nvSpPr>
          <p:cNvPr id="17" name="Shape 15"/>
          <p:cNvSpPr/>
          <p:nvPr/>
        </p:nvSpPr>
        <p:spPr>
          <a:xfrm>
            <a:off x="9074506" y="1481328"/>
            <a:ext cx="2679192" cy="2048256"/>
          </a:xfrm>
          <a:prstGeom prst="rect">
            <a:avLst/>
          </a:prstGeom>
          <a:solidFill>
            <a:srgbClr val="FFFFFF"/>
          </a:solidFill>
          <a:ln w="12700">
            <a:solidFill>
              <a:srgbClr val="D9E0EA"/>
            </a:solidFill>
            <a:prstDash val="solid"/>
          </a:ln>
        </p:spPr>
      </p:sp>
      <p:sp>
        <p:nvSpPr>
          <p:cNvPr id="18" name="Shape 16"/>
          <p:cNvSpPr/>
          <p:nvPr/>
        </p:nvSpPr>
        <p:spPr>
          <a:xfrm>
            <a:off x="9074506" y="1481328"/>
            <a:ext cx="2679192" cy="457200"/>
          </a:xfrm>
          <a:prstGeom prst="rect">
            <a:avLst/>
          </a:prstGeom>
          <a:solidFill>
            <a:srgbClr val="0B1B34"/>
          </a:solidFill>
          <a:ln/>
        </p:spPr>
      </p:sp>
      <p:sp>
        <p:nvSpPr>
          <p:cNvPr id="19" name="Text 17"/>
          <p:cNvSpPr txBox="1"/>
          <p:nvPr/>
        </p:nvSpPr>
        <p:spPr>
          <a:xfrm>
            <a:off x="9211666" y="1481328"/>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Flight Ops &amp; Projects</a:t>
            </a:r>
            <a:endParaRPr lang="en-US" sz="1050" dirty="0"/>
          </a:p>
        </p:txBody>
      </p:sp>
      <p:sp>
        <p:nvSpPr>
          <p:cNvPr id="20" name="Text 18"/>
          <p:cNvSpPr txBox="1"/>
          <p:nvPr/>
        </p:nvSpPr>
        <p:spPr>
          <a:xfrm>
            <a:off x="9211666" y="2048256"/>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Tyler runs each rollout phase on scope, schedule and budget; Erica coordinates across teams; Paula schedules around time zones and load-shedding.</a:t>
            </a:r>
            <a:endParaRPr lang="en-US" sz="880" dirty="0"/>
          </a:p>
        </p:txBody>
      </p:sp>
      <p:sp>
        <p:nvSpPr>
          <p:cNvPr id="21" name="Shape 19"/>
          <p:cNvSpPr/>
          <p:nvPr/>
        </p:nvSpPr>
        <p:spPr>
          <a:xfrm>
            <a:off x="548640" y="3694176"/>
            <a:ext cx="2679192" cy="2048256"/>
          </a:xfrm>
          <a:prstGeom prst="rect">
            <a:avLst/>
          </a:prstGeom>
          <a:solidFill>
            <a:srgbClr val="F4F7FB"/>
          </a:solidFill>
          <a:ln w="12700">
            <a:solidFill>
              <a:srgbClr val="D9E0EA"/>
            </a:solidFill>
            <a:prstDash val="solid"/>
          </a:ln>
        </p:spPr>
      </p:sp>
      <p:sp>
        <p:nvSpPr>
          <p:cNvPr id="22" name="Shape 20"/>
          <p:cNvSpPr/>
          <p:nvPr/>
        </p:nvSpPr>
        <p:spPr>
          <a:xfrm>
            <a:off x="548640" y="3694176"/>
            <a:ext cx="2679192" cy="457200"/>
          </a:xfrm>
          <a:prstGeom prst="rect">
            <a:avLst/>
          </a:prstGeom>
          <a:solidFill>
            <a:srgbClr val="0B1B34"/>
          </a:solidFill>
          <a:ln/>
        </p:spPr>
      </p:sp>
      <p:sp>
        <p:nvSpPr>
          <p:cNvPr id="23" name="Text 21"/>
          <p:cNvSpPr txBox="1"/>
          <p:nvPr/>
        </p:nvSpPr>
        <p:spPr>
          <a:xfrm>
            <a:off x="685800" y="3694176"/>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Safety, Security &amp; Fraud</a:t>
            </a:r>
            <a:endParaRPr lang="en-US" sz="1050" dirty="0"/>
          </a:p>
        </p:txBody>
      </p:sp>
      <p:sp>
        <p:nvSpPr>
          <p:cNvPr id="24" name="Text 22"/>
          <p:cNvSpPr txBox="1"/>
          <p:nvPr/>
        </p:nvSpPr>
        <p:spPr>
          <a:xfrm>
            <a:off x="685800" y="4261104"/>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Sentinel-X monitors anomalies and triages alerts; Simon hardens the platform; Frank spots fraud before money moves; Marlene keeps OHS Act compliance tight.</a:t>
            </a:r>
            <a:endParaRPr lang="en-US" sz="880" dirty="0"/>
          </a:p>
        </p:txBody>
      </p:sp>
      <p:sp>
        <p:nvSpPr>
          <p:cNvPr id="25" name="Shape 23"/>
          <p:cNvSpPr/>
          <p:nvPr/>
        </p:nvSpPr>
        <p:spPr>
          <a:xfrm>
            <a:off x="3390595" y="3694176"/>
            <a:ext cx="2679192" cy="2048256"/>
          </a:xfrm>
          <a:prstGeom prst="rect">
            <a:avLst/>
          </a:prstGeom>
          <a:solidFill>
            <a:srgbClr val="FFFFFF"/>
          </a:solidFill>
          <a:ln w="12700">
            <a:solidFill>
              <a:srgbClr val="D9E0EA"/>
            </a:solidFill>
            <a:prstDash val="solid"/>
          </a:ln>
        </p:spPr>
      </p:sp>
      <p:sp>
        <p:nvSpPr>
          <p:cNvPr id="26" name="Shape 24"/>
          <p:cNvSpPr/>
          <p:nvPr/>
        </p:nvSpPr>
        <p:spPr>
          <a:xfrm>
            <a:off x="3390595" y="3694176"/>
            <a:ext cx="2679192" cy="457200"/>
          </a:xfrm>
          <a:prstGeom prst="rect">
            <a:avLst/>
          </a:prstGeom>
          <a:solidFill>
            <a:srgbClr val="0B1B34"/>
          </a:solidFill>
          <a:ln/>
        </p:spPr>
      </p:sp>
      <p:sp>
        <p:nvSpPr>
          <p:cNvPr id="27" name="Text 25"/>
          <p:cNvSpPr txBox="1"/>
          <p:nvPr/>
        </p:nvSpPr>
        <p:spPr>
          <a:xfrm>
            <a:off x="3527755" y="3694176"/>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Engineering &amp; Maintenance</a:t>
            </a:r>
            <a:endParaRPr lang="en-US" sz="1050" dirty="0"/>
          </a:p>
        </p:txBody>
      </p:sp>
      <p:sp>
        <p:nvSpPr>
          <p:cNvPr id="28" name="Text 26"/>
          <p:cNvSpPr txBox="1"/>
          <p:nvPr/>
        </p:nvSpPr>
        <p:spPr>
          <a:xfrm>
            <a:off x="3527755" y="4261104"/>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Christopher coordinates crews and work orders; Tanya root-causes failures; Marius diagnoses vehicles; Natalie keeps infrastructure alive through load-shedding.</a:t>
            </a:r>
            <a:endParaRPr lang="en-US" sz="880" dirty="0"/>
          </a:p>
        </p:txBody>
      </p:sp>
      <p:sp>
        <p:nvSpPr>
          <p:cNvPr id="29" name="Shape 27"/>
          <p:cNvSpPr/>
          <p:nvPr/>
        </p:nvSpPr>
        <p:spPr>
          <a:xfrm>
            <a:off x="6232550" y="3694176"/>
            <a:ext cx="2679192" cy="2048256"/>
          </a:xfrm>
          <a:prstGeom prst="rect">
            <a:avLst/>
          </a:prstGeom>
          <a:solidFill>
            <a:srgbClr val="FFFFFF"/>
          </a:solidFill>
          <a:ln w="12700">
            <a:solidFill>
              <a:srgbClr val="D9E0EA"/>
            </a:solidFill>
            <a:prstDash val="solid"/>
          </a:ln>
        </p:spPr>
      </p:sp>
      <p:sp>
        <p:nvSpPr>
          <p:cNvPr id="30" name="Shape 28"/>
          <p:cNvSpPr/>
          <p:nvPr/>
        </p:nvSpPr>
        <p:spPr>
          <a:xfrm>
            <a:off x="6232550" y="3694176"/>
            <a:ext cx="2679192" cy="457200"/>
          </a:xfrm>
          <a:prstGeom prst="rect">
            <a:avLst/>
          </a:prstGeom>
          <a:solidFill>
            <a:srgbClr val="0B1B34"/>
          </a:solidFill>
          <a:ln/>
        </p:spPr>
      </p:sp>
      <p:sp>
        <p:nvSpPr>
          <p:cNvPr id="31" name="Text 29"/>
          <p:cNvSpPr txBox="1"/>
          <p:nvPr/>
        </p:nvSpPr>
        <p:spPr>
          <a:xfrm>
            <a:off x="6369710" y="3694176"/>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Finance, Legal &amp; Tax</a:t>
            </a:r>
            <a:endParaRPr lang="en-US" sz="1050" dirty="0"/>
          </a:p>
        </p:txBody>
      </p:sp>
      <p:sp>
        <p:nvSpPr>
          <p:cNvPr id="32" name="Text 30"/>
          <p:cNvSpPr txBox="1"/>
          <p:nvPr/>
        </p:nvSpPr>
        <p:spPr>
          <a:xfrm>
            <a:off x="6369710" y="4261104"/>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Liza owns cash flow and forecasting; Colin gets invoices paid; Sipho keeps it SARS-compliant; Cornelius and Peter handle contracts and labour law; POPIA built in.</a:t>
            </a:r>
            <a:endParaRPr lang="en-US" sz="880" dirty="0"/>
          </a:p>
        </p:txBody>
      </p:sp>
      <p:sp>
        <p:nvSpPr>
          <p:cNvPr id="33" name="Shape 31"/>
          <p:cNvSpPr/>
          <p:nvPr/>
        </p:nvSpPr>
        <p:spPr>
          <a:xfrm>
            <a:off x="9074506" y="3694176"/>
            <a:ext cx="2679192" cy="2048256"/>
          </a:xfrm>
          <a:prstGeom prst="rect">
            <a:avLst/>
          </a:prstGeom>
          <a:solidFill>
            <a:srgbClr val="FFFFFF"/>
          </a:solidFill>
          <a:ln w="12700">
            <a:solidFill>
              <a:srgbClr val="D9E0EA"/>
            </a:solidFill>
            <a:prstDash val="solid"/>
          </a:ln>
        </p:spPr>
      </p:sp>
      <p:sp>
        <p:nvSpPr>
          <p:cNvPr id="34" name="Shape 32"/>
          <p:cNvSpPr/>
          <p:nvPr/>
        </p:nvSpPr>
        <p:spPr>
          <a:xfrm>
            <a:off x="9074506" y="3694176"/>
            <a:ext cx="2679192" cy="457200"/>
          </a:xfrm>
          <a:prstGeom prst="rect">
            <a:avLst/>
          </a:prstGeom>
          <a:solidFill>
            <a:srgbClr val="0B1B34"/>
          </a:solidFill>
          <a:ln/>
        </p:spPr>
      </p:sp>
      <p:sp>
        <p:nvSpPr>
          <p:cNvPr id="35" name="Text 33"/>
          <p:cNvSpPr txBox="1"/>
          <p:nvPr/>
        </p:nvSpPr>
        <p:spPr>
          <a:xfrm>
            <a:off x="9211666" y="3694176"/>
            <a:ext cx="2423160" cy="45720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HR, Training &amp; Executive</a:t>
            </a:r>
            <a:endParaRPr lang="en-US" sz="1050" dirty="0"/>
          </a:p>
        </p:txBody>
      </p:sp>
      <p:sp>
        <p:nvSpPr>
          <p:cNvPr id="36" name="Text 34"/>
          <p:cNvSpPr txBox="1"/>
          <p:nvPr/>
        </p:nvSpPr>
        <p:spPr>
          <a:xfrm>
            <a:off x="9211666" y="4261104"/>
            <a:ext cx="2423160" cy="1371600"/>
          </a:xfrm>
          <a:prstGeom prst="rect">
            <a:avLst/>
          </a:prstGeom>
          <a:noFill/>
          <a:ln/>
        </p:spPr>
        <p:txBody>
          <a:bodyPr wrap="square" lIns="0" tIns="0" rIns="0" bIns="0" rtlCol="0" anchor="ctr"/>
          <a:lstStyle/>
          <a:p>
            <a:pPr indent="0" marL="0">
              <a:lnSpc>
                <a:spcPts val="1150"/>
              </a:lnSpc>
              <a:buNone/>
            </a:pPr>
            <a:r>
              <a:rPr lang="en-US" sz="880" dirty="0">
                <a:solidFill>
                  <a:srgbClr val="5E6B7E"/>
                </a:solidFill>
                <a:latin typeface="Arial" pitchFamily="34" charset="0"/>
                <a:ea typeface="Arial" pitchFamily="34" charset="-122"/>
                <a:cs typeface="Arial" pitchFamily="34" charset="-120"/>
              </a:rPr>
              <a:t>Karen runs people strategy; Cory builds training via Classroom; Vincent and Oscar give the board strategy and evidence-first research — with sources attached.</a:t>
            </a:r>
            <a:endParaRPr lang="en-US" sz="880" dirty="0"/>
          </a:p>
        </p:txBody>
      </p:sp>
      <p:sp>
        <p:nvSpPr>
          <p:cNvPr id="37" name="Text 35"/>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50" i="1" dirty="0">
                <a:solidFill>
                  <a:srgbClr val="8A96A8"/>
                </a:solidFill>
                <a:latin typeface="Arial" pitchFamily="34" charset="0"/>
                <a:ea typeface="Arial" pitchFamily="34" charset="-122"/>
                <a:cs typeface="Arial" pitchFamily="34" charset="-120"/>
              </a:rPr>
              <a:t>Nobody needs to remember who does what: ask NEXA, and the head butler routes the work to the right specialist — or brief Amber and she runs it as a multi-agent mission.</a:t>
            </a:r>
            <a:endParaRPr lang="en-US" sz="950" dirty="0"/>
          </a:p>
        </p:txBody>
      </p:sp>
      <p:sp>
        <p:nvSpPr>
          <p:cNvPr id="38" name="Shape 36"/>
          <p:cNvSpPr/>
          <p:nvPr/>
        </p:nvSpPr>
        <p:spPr>
          <a:xfrm>
            <a:off x="0" y="6583680"/>
            <a:ext cx="12191695" cy="274320"/>
          </a:xfrm>
          <a:prstGeom prst="rect">
            <a:avLst/>
          </a:prstGeom>
          <a:solidFill>
            <a:srgbClr val="0B1B34"/>
          </a:solidFill>
          <a:ln/>
        </p:spPr>
      </p:sp>
      <p:sp>
        <p:nvSpPr>
          <p:cNvPr id="39" name="Text 37"/>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40" name="Text 38"/>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25 / 29</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06 · THE INTELLIGENCE LAYER</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Nexas AI — capabilities and what they're worth</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Built to be used by people who run an airline, not by data scientists — in plain language, priced in rand.</a:t>
            </a:r>
            <a:endParaRPr lang="en-US" sz="1150" dirty="0"/>
          </a:p>
        </p:txBody>
      </p:sp>
      <p:sp>
        <p:nvSpPr>
          <p:cNvPr id="5" name="Text 3"/>
          <p:cNvSpPr txBox="1"/>
          <p:nvPr/>
        </p:nvSpPr>
        <p:spPr>
          <a:xfrm>
            <a:off x="548640" y="1444752"/>
            <a:ext cx="3657600" cy="237744"/>
          </a:xfrm>
          <a:prstGeom prst="rect">
            <a:avLst/>
          </a:prstGeom>
          <a:noFill/>
          <a:ln/>
        </p:spPr>
        <p:txBody>
          <a:bodyPr wrap="square" lIns="0" tIns="0" rIns="0" bIns="0" rtlCol="0" anchor="ctr"/>
          <a:lstStyle/>
          <a:p>
            <a:pPr indent="0" marL="0">
              <a:buNone/>
            </a:pPr>
            <a:r>
              <a:rPr lang="en-US" sz="1000" b="1" spc="150" kern="0" dirty="0">
                <a:solidFill>
                  <a:srgbClr val="13294B"/>
                </a:solidFill>
                <a:latin typeface="Arial" pitchFamily="34" charset="0"/>
                <a:ea typeface="Arial" pitchFamily="34" charset="-122"/>
                <a:cs typeface="Arial" pitchFamily="34" charset="-120"/>
              </a:rPr>
              <a:t>CAPABILITIES</a:t>
            </a:r>
            <a:endParaRPr lang="en-US" sz="1000" dirty="0"/>
          </a:p>
        </p:txBody>
      </p:sp>
      <p:sp>
        <p:nvSpPr>
          <p:cNvPr id="6" name="Text 4"/>
          <p:cNvSpPr txBox="1"/>
          <p:nvPr/>
        </p:nvSpPr>
        <p:spPr>
          <a:xfrm>
            <a:off x="548640" y="1737360"/>
            <a:ext cx="5394960" cy="3931920"/>
          </a:xfrm>
          <a:prstGeom prst="rect">
            <a:avLst/>
          </a:prstGeom>
          <a:noFill/>
          <a:ln/>
        </p:spPr>
        <p:txBody>
          <a:bodyPr wrap="square" lIns="0" tIns="0" rIns="0" bIns="0" rtlCol="0" anchor="t"/>
          <a:lstStyle/>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NEXA command core — business Q&amp;A across every domain, with memory and context that persists between sessions</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Multi-agent missions — brief Amber once; she plans, routes, tracks and synthesises the result</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War Room and command dashboard — live view of active agents, missions and operations</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Document Studio and Quotes — claims packs, SOPs, reports and proposals generated where the agents work</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Built-in CRM and analytics — the Digitag Protect ancillary line measured live, against this very model</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Classroom — AI-powered training modules for ground staff, contact centre and sales teams</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Plugins — connect the Digitag device feed, DCS, booking flow and existing tools</a:t>
            </a:r>
            <a:endParaRPr lang="en-US" sz="1000" dirty="0"/>
          </a:p>
          <a:p>
            <a:pPr indent="0" marL="0">
              <a:lnSpc>
                <a:spcPts val="1250"/>
              </a:lnSpc>
              <a:buNone/>
            </a:pPr>
            <a:r>
              <a:rPr lang="en-US" sz="1000" b="1" dirty="0">
                <a:solidFill>
                  <a:srgbClr val="F17400"/>
                </a:solidFill>
                <a:latin typeface="Arial" pitchFamily="34" charset="0"/>
                <a:ea typeface="Arial" pitchFamily="34" charset="-122"/>
                <a:cs typeface="Arial" pitchFamily="34" charset="-120"/>
              </a:rPr>
              <a:t>✓  </a:t>
            </a:r>
            <a:pPr indent="0" marL="0">
              <a:lnSpc>
                <a:spcPts val="1250"/>
              </a:lnSpc>
              <a:spcAft>
                <a:spcPts val="800"/>
              </a:spcAft>
              <a:buNone/>
            </a:pPr>
            <a:r>
              <a:rPr lang="en-US" sz="1000" dirty="0">
                <a:solidFill>
                  <a:srgbClr val="5E6B7E"/>
                </a:solidFill>
                <a:latin typeface="Arial" pitchFamily="34" charset="0"/>
                <a:ea typeface="Arial" pitchFamily="34" charset="-122"/>
                <a:cs typeface="Arial" pitchFamily="34" charset="-120"/>
              </a:rPr>
              <a:t>South African to the core — POPIA, SARS, CCMA, OHS Act and load-shedding-aware, with secure per-business sign-in</a:t>
            </a:r>
            <a:endParaRPr lang="en-US" sz="1000" dirty="0"/>
          </a:p>
        </p:txBody>
      </p:sp>
      <p:sp>
        <p:nvSpPr>
          <p:cNvPr id="7" name="Shape 5"/>
          <p:cNvSpPr/>
          <p:nvPr/>
        </p:nvSpPr>
        <p:spPr>
          <a:xfrm>
            <a:off x="6309360" y="1444752"/>
            <a:ext cx="5330952" cy="4160520"/>
          </a:xfrm>
          <a:prstGeom prst="rect">
            <a:avLst/>
          </a:prstGeom>
          <a:solidFill>
            <a:srgbClr val="0B1B34"/>
          </a:solidFill>
          <a:ln/>
        </p:spPr>
      </p:sp>
      <p:sp>
        <p:nvSpPr>
          <p:cNvPr id="8" name="Text 6"/>
          <p:cNvSpPr txBox="1"/>
          <p:nvPr/>
        </p:nvSpPr>
        <p:spPr>
          <a:xfrm>
            <a:off x="6537960" y="1627632"/>
            <a:ext cx="484632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BENEFITS, MEASURED</a:t>
            </a:r>
            <a:endParaRPr lang="en-US" sz="1000" dirty="0"/>
          </a:p>
        </p:txBody>
      </p:sp>
      <p:sp>
        <p:nvSpPr>
          <p:cNvPr id="9" name="Text 7"/>
          <p:cNvSpPr txBox="1"/>
          <p:nvPr/>
        </p:nvSpPr>
        <p:spPr>
          <a:xfrm>
            <a:off x="6537960" y="2011680"/>
            <a:ext cx="2103120" cy="548640"/>
          </a:xfrm>
          <a:prstGeom prst="rect">
            <a:avLst/>
          </a:prstGeom>
          <a:noFill/>
          <a:ln/>
        </p:spPr>
        <p:txBody>
          <a:bodyPr wrap="square" lIns="0" tIns="0" rIns="0" bIns="0" rtlCol="0" anchor="ctr"/>
          <a:lstStyle/>
          <a:p>
            <a:pPr indent="0" marL="0">
              <a:lnSpc>
                <a:spcPts val="1200"/>
              </a:lnSpc>
              <a:buNone/>
            </a:pPr>
            <a:r>
              <a:rPr lang="en-US" sz="1050" b="1" dirty="0">
                <a:solidFill>
                  <a:srgbClr val="FFFFFF"/>
                </a:solidFill>
                <a:latin typeface="Arial" pitchFamily="34" charset="0"/>
                <a:ea typeface="Arial" pitchFamily="34" charset="-122"/>
                <a:cs typeface="Arial" pitchFamily="34" charset="-120"/>
              </a:rPr>
              <a:t>Headcount leverage</a:t>
            </a:r>
            <a:endParaRPr lang="en-US" sz="1050" dirty="0"/>
          </a:p>
        </p:txBody>
      </p:sp>
      <p:sp>
        <p:nvSpPr>
          <p:cNvPr id="10" name="Text 8"/>
          <p:cNvSpPr txBox="1"/>
          <p:nvPr/>
        </p:nvSpPr>
        <p:spPr>
          <a:xfrm>
            <a:off x="8732520" y="2011680"/>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A9B6CB"/>
                </a:solidFill>
                <a:latin typeface="Arial" pitchFamily="34" charset="0"/>
                <a:ea typeface="Arial" pitchFamily="34" charset="-122"/>
                <a:cs typeface="Arial" pitchFamily="34" charset="-120"/>
              </a:rPr>
              <a:t>a full staff complement of expertise without the payroll — 77 specialists on day one</a:t>
            </a:r>
            <a:endParaRPr lang="en-US" sz="900" dirty="0"/>
          </a:p>
        </p:txBody>
      </p:sp>
      <p:sp>
        <p:nvSpPr>
          <p:cNvPr id="11" name="Shape 9"/>
          <p:cNvSpPr/>
          <p:nvPr/>
        </p:nvSpPr>
        <p:spPr>
          <a:xfrm>
            <a:off x="6537960" y="2615184"/>
            <a:ext cx="4846320" cy="0"/>
          </a:xfrm>
          <a:prstGeom prst="line">
            <a:avLst/>
          </a:prstGeom>
          <a:noFill/>
          <a:ln w="9525">
            <a:solidFill>
              <a:srgbClr val="23395C"/>
            </a:solidFill>
            <a:prstDash val="solid"/>
          </a:ln>
        </p:spPr>
      </p:sp>
      <p:sp>
        <p:nvSpPr>
          <p:cNvPr id="12" name="Text 10"/>
          <p:cNvSpPr txBox="1"/>
          <p:nvPr/>
        </p:nvSpPr>
        <p:spPr>
          <a:xfrm>
            <a:off x="6537960" y="2706624"/>
            <a:ext cx="2103120" cy="548640"/>
          </a:xfrm>
          <a:prstGeom prst="rect">
            <a:avLst/>
          </a:prstGeom>
          <a:noFill/>
          <a:ln/>
        </p:spPr>
        <p:txBody>
          <a:bodyPr wrap="square" lIns="0" tIns="0" rIns="0" bIns="0" rtlCol="0" anchor="ctr"/>
          <a:lstStyle/>
          <a:p>
            <a:pPr indent="0" marL="0">
              <a:lnSpc>
                <a:spcPts val="1200"/>
              </a:lnSpc>
              <a:buNone/>
            </a:pPr>
            <a:r>
              <a:rPr lang="en-US" sz="1050" b="1" dirty="0">
                <a:solidFill>
                  <a:srgbClr val="FFFFFF"/>
                </a:solidFill>
                <a:latin typeface="Arial" pitchFamily="34" charset="0"/>
                <a:ea typeface="Arial" pitchFamily="34" charset="-122"/>
                <a:cs typeface="Arial" pitchFamily="34" charset="-120"/>
              </a:rPr>
              <a:t>Contact-centre load</a:t>
            </a:r>
            <a:endParaRPr lang="en-US" sz="1050" dirty="0"/>
          </a:p>
        </p:txBody>
      </p:sp>
      <p:sp>
        <p:nvSpPr>
          <p:cNvPr id="13" name="Text 11"/>
          <p:cNvSpPr txBox="1"/>
          <p:nvPr/>
        </p:nvSpPr>
        <p:spPr>
          <a:xfrm>
            <a:off x="8732520" y="2706624"/>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A9B6CB"/>
                </a:solidFill>
                <a:latin typeface="Arial" pitchFamily="34" charset="0"/>
                <a:ea typeface="Arial" pitchFamily="34" charset="-122"/>
                <a:cs typeface="Arial" pitchFamily="34" charset="-120"/>
              </a:rPr>
              <a:t>“where is my bag?” answered from the live feed before the call is dialled</a:t>
            </a:r>
            <a:endParaRPr lang="en-US" sz="900" dirty="0"/>
          </a:p>
        </p:txBody>
      </p:sp>
      <p:sp>
        <p:nvSpPr>
          <p:cNvPr id="14" name="Shape 12"/>
          <p:cNvSpPr/>
          <p:nvPr/>
        </p:nvSpPr>
        <p:spPr>
          <a:xfrm>
            <a:off x="6537960" y="3310128"/>
            <a:ext cx="4846320" cy="0"/>
          </a:xfrm>
          <a:prstGeom prst="line">
            <a:avLst/>
          </a:prstGeom>
          <a:noFill/>
          <a:ln w="9525">
            <a:solidFill>
              <a:srgbClr val="23395C"/>
            </a:solidFill>
            <a:prstDash val="solid"/>
          </a:ln>
        </p:spPr>
      </p:sp>
      <p:sp>
        <p:nvSpPr>
          <p:cNvPr id="15" name="Text 13"/>
          <p:cNvSpPr txBox="1"/>
          <p:nvPr/>
        </p:nvSpPr>
        <p:spPr>
          <a:xfrm>
            <a:off x="6537960" y="3401568"/>
            <a:ext cx="2103120" cy="548640"/>
          </a:xfrm>
          <a:prstGeom prst="rect">
            <a:avLst/>
          </a:prstGeom>
          <a:noFill/>
          <a:ln/>
        </p:spPr>
        <p:txBody>
          <a:bodyPr wrap="square" lIns="0" tIns="0" rIns="0" bIns="0" rtlCol="0" anchor="ctr"/>
          <a:lstStyle/>
          <a:p>
            <a:pPr indent="0" marL="0">
              <a:lnSpc>
                <a:spcPts val="1200"/>
              </a:lnSpc>
              <a:buNone/>
            </a:pPr>
            <a:r>
              <a:rPr lang="en-US" sz="1050" b="1" dirty="0">
                <a:solidFill>
                  <a:srgbClr val="FFFFFF"/>
                </a:solidFill>
                <a:latin typeface="Arial" pitchFamily="34" charset="0"/>
                <a:ea typeface="Arial" pitchFamily="34" charset="-122"/>
                <a:cs typeface="Arial" pitchFamily="34" charset="-120"/>
              </a:rPr>
              <a:t>Claims cost</a:t>
            </a:r>
            <a:endParaRPr lang="en-US" sz="1050" dirty="0"/>
          </a:p>
        </p:txBody>
      </p:sp>
      <p:sp>
        <p:nvSpPr>
          <p:cNvPr id="16" name="Text 14"/>
          <p:cNvSpPr txBox="1"/>
          <p:nvPr/>
        </p:nvSpPr>
        <p:spPr>
          <a:xfrm>
            <a:off x="8732520" y="3401568"/>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A9B6CB"/>
                </a:solidFill>
                <a:latin typeface="Arial" pitchFamily="34" charset="0"/>
                <a:ea typeface="Arial" pitchFamily="34" charset="-122"/>
                <a:cs typeface="Arial" pitchFamily="34" charset="-120"/>
              </a:rPr>
              <a:t>fewer claims, resolved faster, each one an evidence-based Document Studio pack</a:t>
            </a:r>
            <a:endParaRPr lang="en-US" sz="900" dirty="0"/>
          </a:p>
        </p:txBody>
      </p:sp>
      <p:sp>
        <p:nvSpPr>
          <p:cNvPr id="17" name="Shape 15"/>
          <p:cNvSpPr/>
          <p:nvPr/>
        </p:nvSpPr>
        <p:spPr>
          <a:xfrm>
            <a:off x="6537960" y="4005072"/>
            <a:ext cx="4846320" cy="0"/>
          </a:xfrm>
          <a:prstGeom prst="line">
            <a:avLst/>
          </a:prstGeom>
          <a:noFill/>
          <a:ln w="9525">
            <a:solidFill>
              <a:srgbClr val="23395C"/>
            </a:solidFill>
            <a:prstDash val="solid"/>
          </a:ln>
        </p:spPr>
      </p:sp>
      <p:sp>
        <p:nvSpPr>
          <p:cNvPr id="18" name="Text 16"/>
          <p:cNvSpPr txBox="1"/>
          <p:nvPr/>
        </p:nvSpPr>
        <p:spPr>
          <a:xfrm>
            <a:off x="6537960" y="4096512"/>
            <a:ext cx="2103120" cy="548640"/>
          </a:xfrm>
          <a:prstGeom prst="rect">
            <a:avLst/>
          </a:prstGeom>
          <a:noFill/>
          <a:ln/>
        </p:spPr>
        <p:txBody>
          <a:bodyPr wrap="square" lIns="0" tIns="0" rIns="0" bIns="0" rtlCol="0" anchor="ctr"/>
          <a:lstStyle/>
          <a:p>
            <a:pPr indent="0" marL="0">
              <a:lnSpc>
                <a:spcPts val="1200"/>
              </a:lnSpc>
              <a:buNone/>
            </a:pPr>
            <a:r>
              <a:rPr lang="en-US" sz="1050" b="1" dirty="0">
                <a:solidFill>
                  <a:srgbClr val="FFFFFF"/>
                </a:solidFill>
                <a:latin typeface="Arial" pitchFamily="34" charset="0"/>
                <a:ea typeface="Arial" pitchFamily="34" charset="-122"/>
                <a:cs typeface="Arial" pitchFamily="34" charset="-120"/>
              </a:rPr>
              <a:t>Ancillary revenue</a:t>
            </a:r>
            <a:endParaRPr lang="en-US" sz="1050" dirty="0"/>
          </a:p>
        </p:txBody>
      </p:sp>
      <p:sp>
        <p:nvSpPr>
          <p:cNvPr id="19" name="Text 17"/>
          <p:cNvSpPr txBox="1"/>
          <p:nvPr/>
        </p:nvSpPr>
        <p:spPr>
          <a:xfrm>
            <a:off x="8732520" y="4096512"/>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A9B6CB"/>
                </a:solidFill>
                <a:latin typeface="Arial" pitchFamily="34" charset="0"/>
                <a:ea typeface="Arial" pitchFamily="34" charset="-122"/>
                <a:cs typeface="Arial" pitchFamily="34" charset="-120"/>
              </a:rPr>
              <a:t>attach rates, opt-ins and revenue tracked live against this deck's model</a:t>
            </a:r>
            <a:endParaRPr lang="en-US" sz="900" dirty="0"/>
          </a:p>
        </p:txBody>
      </p:sp>
      <p:sp>
        <p:nvSpPr>
          <p:cNvPr id="20" name="Shape 18"/>
          <p:cNvSpPr/>
          <p:nvPr/>
        </p:nvSpPr>
        <p:spPr>
          <a:xfrm>
            <a:off x="6537960" y="4700016"/>
            <a:ext cx="4846320" cy="0"/>
          </a:xfrm>
          <a:prstGeom prst="line">
            <a:avLst/>
          </a:prstGeom>
          <a:noFill/>
          <a:ln w="9525">
            <a:solidFill>
              <a:srgbClr val="23395C"/>
            </a:solidFill>
            <a:prstDash val="solid"/>
          </a:ln>
        </p:spPr>
      </p:sp>
      <p:sp>
        <p:nvSpPr>
          <p:cNvPr id="21" name="Text 19"/>
          <p:cNvSpPr txBox="1"/>
          <p:nvPr/>
        </p:nvSpPr>
        <p:spPr>
          <a:xfrm>
            <a:off x="6537960" y="4791456"/>
            <a:ext cx="2103120" cy="548640"/>
          </a:xfrm>
          <a:prstGeom prst="rect">
            <a:avLst/>
          </a:prstGeom>
          <a:noFill/>
          <a:ln/>
        </p:spPr>
        <p:txBody>
          <a:bodyPr wrap="square" lIns="0" tIns="0" rIns="0" bIns="0" rtlCol="0" anchor="ctr"/>
          <a:lstStyle/>
          <a:p>
            <a:pPr indent="0" marL="0">
              <a:lnSpc>
                <a:spcPts val="1200"/>
              </a:lnSpc>
              <a:buNone/>
            </a:pPr>
            <a:r>
              <a:rPr lang="en-US" sz="1050" b="1" dirty="0">
                <a:solidFill>
                  <a:srgbClr val="FFFFFF"/>
                </a:solidFill>
                <a:latin typeface="Arial" pitchFamily="34" charset="0"/>
                <a:ea typeface="Arial" pitchFamily="34" charset="-122"/>
                <a:cs typeface="Arial" pitchFamily="34" charset="-120"/>
              </a:rPr>
              <a:t>Board visibility</a:t>
            </a:r>
            <a:endParaRPr lang="en-US" sz="1050" dirty="0"/>
          </a:p>
        </p:txBody>
      </p:sp>
      <p:sp>
        <p:nvSpPr>
          <p:cNvPr id="22" name="Text 20"/>
          <p:cNvSpPr txBox="1"/>
          <p:nvPr/>
        </p:nvSpPr>
        <p:spPr>
          <a:xfrm>
            <a:off x="8732520" y="4791456"/>
            <a:ext cx="2743200" cy="548640"/>
          </a:xfrm>
          <a:prstGeom prst="rect">
            <a:avLst/>
          </a:prstGeom>
          <a:noFill/>
          <a:ln/>
        </p:spPr>
        <p:txBody>
          <a:bodyPr wrap="square" lIns="0" tIns="0" rIns="0" bIns="0" rtlCol="0" anchor="ctr"/>
          <a:lstStyle/>
          <a:p>
            <a:pPr indent="0" marL="0">
              <a:lnSpc>
                <a:spcPts val="1100"/>
              </a:lnSpc>
              <a:buNone/>
            </a:pPr>
            <a:r>
              <a:rPr lang="en-US" sz="900" dirty="0">
                <a:solidFill>
                  <a:srgbClr val="A9B6CB"/>
                </a:solidFill>
                <a:latin typeface="Arial" pitchFamily="34" charset="0"/>
                <a:ea typeface="Arial" pitchFamily="34" charset="-122"/>
                <a:cs typeface="Arial" pitchFamily="34" charset="-120"/>
              </a:rPr>
              <a:t>one live number for baggage — exposure, recovery, revenue — with sources attached</a:t>
            </a:r>
            <a:endParaRPr lang="en-US" sz="900" dirty="0"/>
          </a:p>
        </p:txBody>
      </p:sp>
      <p:sp>
        <p:nvSpPr>
          <p:cNvPr id="23" name="Shape 21"/>
          <p:cNvSpPr/>
          <p:nvPr/>
        </p:nvSpPr>
        <p:spPr>
          <a:xfrm>
            <a:off x="548640" y="5852160"/>
            <a:ext cx="11094415" cy="475488"/>
          </a:xfrm>
          <a:prstGeom prst="rect">
            <a:avLst/>
          </a:prstGeom>
          <a:solidFill>
            <a:srgbClr val="F4F7FB"/>
          </a:solidFill>
          <a:ln/>
        </p:spPr>
      </p:sp>
      <p:sp>
        <p:nvSpPr>
          <p:cNvPr id="24" name="Text 22"/>
          <p:cNvSpPr txBox="1"/>
          <p:nvPr/>
        </p:nvSpPr>
        <p:spPr>
          <a:xfrm>
            <a:off x="777240" y="5852160"/>
            <a:ext cx="10637215" cy="475488"/>
          </a:xfrm>
          <a:prstGeom prst="rect">
            <a:avLst/>
          </a:prstGeom>
          <a:noFill/>
          <a:ln/>
        </p:spPr>
        <p:txBody>
          <a:bodyPr wrap="square" lIns="0" tIns="0" rIns="0" bIns="0" rtlCol="0" anchor="ctr"/>
          <a:lstStyle/>
          <a:p>
            <a:pPr indent="0" marL="0">
              <a:lnSpc>
                <a:spcPts val="1250"/>
              </a:lnSpc>
              <a:buNone/>
            </a:pPr>
            <a:r>
              <a:rPr lang="en-US" sz="1000" b="1" dirty="0">
                <a:solidFill>
                  <a:srgbClr val="13294B"/>
                </a:solidFill>
                <a:latin typeface="Arial" pitchFamily="34" charset="0"/>
                <a:ea typeface="Arial" pitchFamily="34" charset="-122"/>
                <a:cs typeface="Arial" pitchFamily="34" charset="-120"/>
              </a:rPr>
              <a:t>Live from Phase 1: </a:t>
            </a:r>
            <a:pPr indent="0" marL="0">
              <a:lnSpc>
                <a:spcPts val="1250"/>
              </a:lnSpc>
              <a:buNone/>
            </a:pPr>
            <a:r>
              <a:rPr lang="en-US" sz="1000" dirty="0">
                <a:solidFill>
                  <a:srgbClr val="5E6B7E"/>
                </a:solidFill>
                <a:latin typeface="Arial" pitchFamily="34" charset="0"/>
                <a:ea typeface="Arial" pitchFamily="34" charset="-122"/>
                <a:cs typeface="Arial" pitchFamily="34" charset="-120"/>
              </a:rPr>
              <a:t>the O.R. Tambo pilot ships with a working Nexas AI dashboard from day one — trained on FlySafair's own tracker data, not a demo dataset.</a:t>
            </a:r>
            <a:endParaRPr lang="en-US" sz="1000" dirty="0"/>
          </a:p>
        </p:txBody>
      </p:sp>
      <p:sp>
        <p:nvSpPr>
          <p:cNvPr id="25" name="Shape 23"/>
          <p:cNvSpPr/>
          <p:nvPr/>
        </p:nvSpPr>
        <p:spPr>
          <a:xfrm>
            <a:off x="0" y="6583680"/>
            <a:ext cx="12191695" cy="274320"/>
          </a:xfrm>
          <a:prstGeom prst="rect">
            <a:avLst/>
          </a:prstGeom>
          <a:solidFill>
            <a:srgbClr val="0B1B34"/>
          </a:solidFill>
          <a:ln/>
        </p:spPr>
      </p:sp>
      <p:sp>
        <p:nvSpPr>
          <p:cNvPr id="26" name="Text 24"/>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7" name="Text 25"/>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26 / 29</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19456"/>
          </a:xfrm>
          <a:prstGeom prst="rect">
            <a:avLst/>
          </a:prstGeom>
          <a:noFill/>
          <a:ln/>
        </p:spPr>
        <p:txBody>
          <a:bodyPr wrap="square" lIns="0" tIns="0" rIns="0" bIns="0" rtlCol="0" anchor="ctr"/>
          <a:lstStyle/>
          <a:p>
            <a:pPr indent="0" marL="0">
              <a:buNone/>
            </a:pPr>
            <a:r>
              <a:rPr lang="en-US" sz="1000" b="1" spc="200" kern="0" dirty="0">
                <a:solidFill>
                  <a:srgbClr val="F17400"/>
                </a:solidFill>
                <a:latin typeface="Arial" pitchFamily="34" charset="0"/>
                <a:ea typeface="Arial" pitchFamily="34" charset="-122"/>
                <a:cs typeface="Arial" pitchFamily="34" charset="-120"/>
              </a:rPr>
              <a:t>SECTION 07 · WHY NOW</a:t>
            </a:r>
            <a:endParaRPr lang="en-US" sz="1000" dirty="0"/>
          </a:p>
        </p:txBody>
      </p:sp>
      <p:sp>
        <p:nvSpPr>
          <p:cNvPr id="3" name="Text 1"/>
          <p:cNvSpPr txBox="1"/>
          <p:nvPr/>
        </p:nvSpPr>
        <p:spPr>
          <a:xfrm>
            <a:off x="548640" y="493776"/>
            <a:ext cx="11094415" cy="475488"/>
          </a:xfrm>
          <a:prstGeom prst="rect">
            <a:avLst/>
          </a:prstGeom>
          <a:noFill/>
          <a:ln/>
        </p:spPr>
        <p:txBody>
          <a:bodyPr wrap="square" lIns="0" tIns="0" rIns="0" bIns="0" rtlCol="0" anchor="ctr"/>
          <a:lstStyle/>
          <a:p>
            <a:pPr indent="0" marL="0">
              <a:buNone/>
            </a:pPr>
            <a:r>
              <a:rPr lang="en-US" sz="2500" b="1" dirty="0">
                <a:solidFill>
                  <a:srgbClr val="13294B"/>
                </a:solidFill>
                <a:latin typeface="Arial" pitchFamily="34" charset="0"/>
                <a:ea typeface="Arial" pitchFamily="34" charset="-122"/>
                <a:cs typeface="Arial" pitchFamily="34" charset="-120"/>
              </a:rPr>
              <a:t>A 12-month rollout, de-risked by design</a:t>
            </a:r>
            <a:endParaRPr lang="en-US" sz="2500" dirty="0"/>
          </a:p>
        </p:txBody>
      </p:sp>
      <p:sp>
        <p:nvSpPr>
          <p:cNvPr id="4" name="Text 2"/>
          <p:cNvSpPr txBox="1"/>
          <p:nvPr/>
        </p:nvSpPr>
        <p:spPr>
          <a:xfrm>
            <a:off x="548640" y="987552"/>
            <a:ext cx="11094415" cy="274320"/>
          </a:xfrm>
          <a:prstGeom prst="rect">
            <a:avLst/>
          </a:prstGeom>
          <a:noFill/>
          <a:ln/>
        </p:spPr>
        <p:txBody>
          <a:bodyPr wrap="square" lIns="0" tIns="0" rIns="0" bIns="0" rtlCol="0" anchor="ctr"/>
          <a:lstStyle/>
          <a:p>
            <a:pPr indent="0" marL="0">
              <a:buNone/>
            </a:pPr>
            <a:r>
              <a:rPr lang="en-US" sz="1150" i="1" dirty="0">
                <a:solidFill>
                  <a:srgbClr val="5E6B7E"/>
                </a:solidFill>
                <a:latin typeface="Arial" pitchFamily="34" charset="0"/>
                <a:ea typeface="Arial" pitchFamily="34" charset="-122"/>
                <a:cs typeface="Arial" pitchFamily="34" charset="-120"/>
              </a:rPr>
              <a:t>Prove it at the highest-exposure airport first — then scale with evidence, not assumptions.</a:t>
            </a:r>
            <a:endParaRPr lang="en-US" sz="1150" dirty="0"/>
          </a:p>
        </p:txBody>
      </p:sp>
      <p:sp>
        <p:nvSpPr>
          <p:cNvPr id="5" name="Shape 3"/>
          <p:cNvSpPr/>
          <p:nvPr/>
        </p:nvSpPr>
        <p:spPr>
          <a:xfrm>
            <a:off x="548640" y="1481328"/>
            <a:ext cx="2679192" cy="3520440"/>
          </a:xfrm>
          <a:prstGeom prst="rect">
            <a:avLst/>
          </a:prstGeom>
          <a:solidFill>
            <a:srgbClr val="FFFFFF"/>
          </a:solidFill>
          <a:ln w="12700">
            <a:solidFill>
              <a:srgbClr val="D9E0EA"/>
            </a:solidFill>
            <a:prstDash val="solid"/>
          </a:ln>
        </p:spPr>
      </p:sp>
      <p:sp>
        <p:nvSpPr>
          <p:cNvPr id="6" name="Shape 4"/>
          <p:cNvSpPr/>
          <p:nvPr/>
        </p:nvSpPr>
        <p:spPr>
          <a:xfrm>
            <a:off x="548640" y="1481328"/>
            <a:ext cx="2679192" cy="420624"/>
          </a:xfrm>
          <a:prstGeom prst="rect">
            <a:avLst/>
          </a:prstGeom>
          <a:solidFill>
            <a:srgbClr val="F17400"/>
          </a:solidFill>
          <a:ln/>
        </p:spPr>
      </p:sp>
      <p:sp>
        <p:nvSpPr>
          <p:cNvPr id="7" name="Text 5"/>
          <p:cNvSpPr txBox="1"/>
          <p:nvPr/>
        </p:nvSpPr>
        <p:spPr>
          <a:xfrm>
            <a:off x="548640" y="1481328"/>
            <a:ext cx="2679192" cy="42062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PHASE 1</a:t>
            </a:r>
            <a:endParaRPr lang="en-US" sz="1100" dirty="0"/>
          </a:p>
        </p:txBody>
      </p:sp>
      <p:sp>
        <p:nvSpPr>
          <p:cNvPr id="8" name="Text 6"/>
          <p:cNvSpPr txBox="1"/>
          <p:nvPr/>
        </p:nvSpPr>
        <p:spPr>
          <a:xfrm>
            <a:off x="731520" y="2029968"/>
            <a:ext cx="2286000" cy="237744"/>
          </a:xfrm>
          <a:prstGeom prst="rect">
            <a:avLst/>
          </a:prstGeom>
          <a:noFill/>
          <a:ln/>
        </p:spPr>
        <p:txBody>
          <a:bodyPr wrap="square" lIns="0" tIns="0" rIns="0" bIns="0" rtlCol="0" anchor="ctr"/>
          <a:lstStyle/>
          <a:p>
            <a:pPr indent="0" marL="0">
              <a:buNone/>
            </a:pPr>
            <a:r>
              <a:rPr lang="en-US" sz="900" b="1" spc="150" kern="0" dirty="0">
                <a:solidFill>
                  <a:srgbClr val="8A96A8"/>
                </a:solidFill>
                <a:latin typeface="Arial" pitchFamily="34" charset="0"/>
                <a:ea typeface="Arial" pitchFamily="34" charset="-122"/>
                <a:cs typeface="Arial" pitchFamily="34" charset="-120"/>
              </a:rPr>
              <a:t>MONTHS 1–3</a:t>
            </a:r>
            <a:endParaRPr lang="en-US" sz="900" dirty="0"/>
          </a:p>
        </p:txBody>
      </p:sp>
      <p:sp>
        <p:nvSpPr>
          <p:cNvPr id="9" name="Text 7"/>
          <p:cNvSpPr txBox="1"/>
          <p:nvPr/>
        </p:nvSpPr>
        <p:spPr>
          <a:xfrm>
            <a:off x="731520" y="2286000"/>
            <a:ext cx="2331720" cy="566928"/>
          </a:xfrm>
          <a:prstGeom prst="rect">
            <a:avLst/>
          </a:prstGeom>
          <a:noFill/>
          <a:ln/>
        </p:spPr>
        <p:txBody>
          <a:bodyPr wrap="square" lIns="0" tIns="0" rIns="0" bIns="0" rtlCol="0" anchor="ctr"/>
          <a:lstStyle/>
          <a:p>
            <a:pPr indent="0" marL="0">
              <a:lnSpc>
                <a:spcPts val="1600"/>
              </a:lnSpc>
              <a:buNone/>
            </a:pPr>
            <a:r>
              <a:rPr lang="en-US" sz="1450" b="1" dirty="0">
                <a:solidFill>
                  <a:srgbClr val="13294B"/>
                </a:solidFill>
                <a:latin typeface="Arial" pitchFamily="34" charset="0"/>
                <a:ea typeface="Arial" pitchFamily="34" charset="-122"/>
                <a:cs typeface="Arial" pitchFamily="34" charset="-120"/>
              </a:rPr>
              <a:t>O.R. Tambo Pilot</a:t>
            </a:r>
            <a:endParaRPr lang="en-US" sz="1450" dirty="0"/>
          </a:p>
        </p:txBody>
      </p:sp>
      <p:sp>
        <p:nvSpPr>
          <p:cNvPr id="10" name="Text 8"/>
          <p:cNvSpPr txBox="1"/>
          <p:nvPr/>
        </p:nvSpPr>
        <p:spPr>
          <a:xfrm>
            <a:off x="731520" y="2889504"/>
            <a:ext cx="2331720" cy="2011680"/>
          </a:xfrm>
          <a:prstGeom prst="rect">
            <a:avLst/>
          </a:prstGeom>
          <a:noFill/>
          <a:ln/>
        </p:spPr>
        <p:txBody>
          <a:bodyPr wrap="square" lIns="0" tIns="0" rIns="0" bIns="0" rtlCol="0" anchor="ctr"/>
          <a:lstStyle/>
          <a:p>
            <a:pPr indent="0" marL="0">
              <a:lnSpc>
                <a:spcPts val="1250"/>
              </a:lnSpc>
              <a:buNone/>
            </a:pPr>
            <a:r>
              <a:rPr lang="en-US" sz="930" dirty="0">
                <a:solidFill>
                  <a:srgbClr val="5E6B7E"/>
                </a:solidFill>
                <a:latin typeface="Arial" pitchFamily="34" charset="0"/>
                <a:ea typeface="Arial" pitchFamily="34" charset="-122"/>
                <a:cs typeface="Arial" pitchFamily="34" charset="-120"/>
              </a:rPr>
              <a:t>Vending live at JNB domestic check-in; “Digitag Protect” A/B test in the booking flow; Nexas AI dashboard live from day one. Live data from month one.</a:t>
            </a:r>
            <a:endParaRPr lang="en-US" sz="930" dirty="0"/>
          </a:p>
        </p:txBody>
      </p:sp>
      <p:sp>
        <p:nvSpPr>
          <p:cNvPr id="11" name="Shape 9"/>
          <p:cNvSpPr/>
          <p:nvPr/>
        </p:nvSpPr>
        <p:spPr>
          <a:xfrm>
            <a:off x="3390595" y="1481328"/>
            <a:ext cx="2679192" cy="3520440"/>
          </a:xfrm>
          <a:prstGeom prst="rect">
            <a:avLst/>
          </a:prstGeom>
          <a:solidFill>
            <a:srgbClr val="FFFFFF"/>
          </a:solidFill>
          <a:ln w="12700">
            <a:solidFill>
              <a:srgbClr val="D9E0EA"/>
            </a:solidFill>
            <a:prstDash val="solid"/>
          </a:ln>
        </p:spPr>
      </p:sp>
      <p:sp>
        <p:nvSpPr>
          <p:cNvPr id="12" name="Shape 10"/>
          <p:cNvSpPr/>
          <p:nvPr/>
        </p:nvSpPr>
        <p:spPr>
          <a:xfrm>
            <a:off x="3390595" y="1481328"/>
            <a:ext cx="2679192" cy="420624"/>
          </a:xfrm>
          <a:prstGeom prst="rect">
            <a:avLst/>
          </a:prstGeom>
          <a:solidFill>
            <a:srgbClr val="0B1B34"/>
          </a:solidFill>
          <a:ln/>
        </p:spPr>
      </p:sp>
      <p:sp>
        <p:nvSpPr>
          <p:cNvPr id="13" name="Text 11"/>
          <p:cNvSpPr txBox="1"/>
          <p:nvPr/>
        </p:nvSpPr>
        <p:spPr>
          <a:xfrm>
            <a:off x="3390595" y="1481328"/>
            <a:ext cx="2679192" cy="42062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PHASE 2</a:t>
            </a:r>
            <a:endParaRPr lang="en-US" sz="1100" dirty="0"/>
          </a:p>
        </p:txBody>
      </p:sp>
      <p:sp>
        <p:nvSpPr>
          <p:cNvPr id="14" name="Text 12"/>
          <p:cNvSpPr txBox="1"/>
          <p:nvPr/>
        </p:nvSpPr>
        <p:spPr>
          <a:xfrm>
            <a:off x="3573475" y="2029968"/>
            <a:ext cx="2286000" cy="237744"/>
          </a:xfrm>
          <a:prstGeom prst="rect">
            <a:avLst/>
          </a:prstGeom>
          <a:noFill/>
          <a:ln/>
        </p:spPr>
        <p:txBody>
          <a:bodyPr wrap="square" lIns="0" tIns="0" rIns="0" bIns="0" rtlCol="0" anchor="ctr"/>
          <a:lstStyle/>
          <a:p>
            <a:pPr indent="0" marL="0">
              <a:buNone/>
            </a:pPr>
            <a:r>
              <a:rPr lang="en-US" sz="900" b="1" spc="150" kern="0" dirty="0">
                <a:solidFill>
                  <a:srgbClr val="8A96A8"/>
                </a:solidFill>
                <a:latin typeface="Arial" pitchFamily="34" charset="0"/>
                <a:ea typeface="Arial" pitchFamily="34" charset="-122"/>
                <a:cs typeface="Arial" pitchFamily="34" charset="-120"/>
              </a:rPr>
              <a:t>MONTHS 4–6</a:t>
            </a:r>
            <a:endParaRPr lang="en-US" sz="900" dirty="0"/>
          </a:p>
        </p:txBody>
      </p:sp>
      <p:sp>
        <p:nvSpPr>
          <p:cNvPr id="15" name="Text 13"/>
          <p:cNvSpPr txBox="1"/>
          <p:nvPr/>
        </p:nvSpPr>
        <p:spPr>
          <a:xfrm>
            <a:off x="3573475" y="2286000"/>
            <a:ext cx="2331720" cy="566928"/>
          </a:xfrm>
          <a:prstGeom prst="rect">
            <a:avLst/>
          </a:prstGeom>
          <a:noFill/>
          <a:ln/>
        </p:spPr>
        <p:txBody>
          <a:bodyPr wrap="square" lIns="0" tIns="0" rIns="0" bIns="0" rtlCol="0" anchor="ctr"/>
          <a:lstStyle/>
          <a:p>
            <a:pPr indent="0" marL="0">
              <a:lnSpc>
                <a:spcPts val="1600"/>
              </a:lnSpc>
              <a:buNone/>
            </a:pPr>
            <a:r>
              <a:rPr lang="en-US" sz="1450" b="1" dirty="0">
                <a:solidFill>
                  <a:srgbClr val="13294B"/>
                </a:solidFill>
                <a:latin typeface="Arial" pitchFamily="34" charset="0"/>
                <a:ea typeface="Arial" pitchFamily="34" charset="-122"/>
                <a:cs typeface="Arial" pitchFamily="34" charset="-120"/>
              </a:rPr>
              <a:t>The Golden Route</a:t>
            </a:r>
            <a:endParaRPr lang="en-US" sz="1450" dirty="0"/>
          </a:p>
        </p:txBody>
      </p:sp>
      <p:sp>
        <p:nvSpPr>
          <p:cNvPr id="16" name="Text 14"/>
          <p:cNvSpPr txBox="1"/>
          <p:nvPr/>
        </p:nvSpPr>
        <p:spPr>
          <a:xfrm>
            <a:off x="3573475" y="2889504"/>
            <a:ext cx="2331720" cy="2011680"/>
          </a:xfrm>
          <a:prstGeom prst="rect">
            <a:avLst/>
          </a:prstGeom>
          <a:noFill/>
          <a:ln/>
        </p:spPr>
        <p:txBody>
          <a:bodyPr wrap="square" lIns="0" tIns="0" rIns="0" bIns="0" rtlCol="0" anchor="ctr"/>
          <a:lstStyle/>
          <a:p>
            <a:pPr indent="0" marL="0">
              <a:lnSpc>
                <a:spcPts val="1250"/>
              </a:lnSpc>
              <a:buNone/>
            </a:pPr>
            <a:r>
              <a:rPr lang="en-US" sz="930" dirty="0">
                <a:solidFill>
                  <a:srgbClr val="5E6B7E"/>
                </a:solidFill>
                <a:latin typeface="Arial" pitchFamily="34" charset="0"/>
                <a:ea typeface="Arial" pitchFamily="34" charset="-122"/>
                <a:cs typeface="Arial" pitchFamily="34" charset="-120"/>
              </a:rPr>
              <a:t>Cape Town, Durban and Lanseria stations live; ticket-flow add-on rolled out network-wide; D-Pod on spares crates and baggage carts.</a:t>
            </a:r>
            <a:endParaRPr lang="en-US" sz="930" dirty="0"/>
          </a:p>
        </p:txBody>
      </p:sp>
      <p:sp>
        <p:nvSpPr>
          <p:cNvPr id="17" name="Shape 15"/>
          <p:cNvSpPr/>
          <p:nvPr/>
        </p:nvSpPr>
        <p:spPr>
          <a:xfrm>
            <a:off x="6232550" y="1481328"/>
            <a:ext cx="2679192" cy="3520440"/>
          </a:xfrm>
          <a:prstGeom prst="rect">
            <a:avLst/>
          </a:prstGeom>
          <a:solidFill>
            <a:srgbClr val="FFFFFF"/>
          </a:solidFill>
          <a:ln w="12700">
            <a:solidFill>
              <a:srgbClr val="D9E0EA"/>
            </a:solidFill>
            <a:prstDash val="solid"/>
          </a:ln>
        </p:spPr>
      </p:sp>
      <p:sp>
        <p:nvSpPr>
          <p:cNvPr id="18" name="Shape 16"/>
          <p:cNvSpPr/>
          <p:nvPr/>
        </p:nvSpPr>
        <p:spPr>
          <a:xfrm>
            <a:off x="6232550" y="1481328"/>
            <a:ext cx="2679192" cy="420624"/>
          </a:xfrm>
          <a:prstGeom prst="rect">
            <a:avLst/>
          </a:prstGeom>
          <a:solidFill>
            <a:srgbClr val="1E8A5A"/>
          </a:solidFill>
          <a:ln/>
        </p:spPr>
      </p:sp>
      <p:sp>
        <p:nvSpPr>
          <p:cNvPr id="19" name="Text 17"/>
          <p:cNvSpPr txBox="1"/>
          <p:nvPr/>
        </p:nvSpPr>
        <p:spPr>
          <a:xfrm>
            <a:off x="6232550" y="1481328"/>
            <a:ext cx="2679192" cy="42062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PHASE 3</a:t>
            </a:r>
            <a:endParaRPr lang="en-US" sz="1100" dirty="0"/>
          </a:p>
        </p:txBody>
      </p:sp>
      <p:sp>
        <p:nvSpPr>
          <p:cNvPr id="20" name="Text 18"/>
          <p:cNvSpPr txBox="1"/>
          <p:nvPr/>
        </p:nvSpPr>
        <p:spPr>
          <a:xfrm>
            <a:off x="6415430" y="2029968"/>
            <a:ext cx="2286000" cy="237744"/>
          </a:xfrm>
          <a:prstGeom prst="rect">
            <a:avLst/>
          </a:prstGeom>
          <a:noFill/>
          <a:ln/>
        </p:spPr>
        <p:txBody>
          <a:bodyPr wrap="square" lIns="0" tIns="0" rIns="0" bIns="0" rtlCol="0" anchor="ctr"/>
          <a:lstStyle/>
          <a:p>
            <a:pPr indent="0" marL="0">
              <a:buNone/>
            </a:pPr>
            <a:r>
              <a:rPr lang="en-US" sz="900" b="1" spc="150" kern="0" dirty="0">
                <a:solidFill>
                  <a:srgbClr val="8A96A8"/>
                </a:solidFill>
                <a:latin typeface="Arial" pitchFamily="34" charset="0"/>
                <a:ea typeface="Arial" pitchFamily="34" charset="-122"/>
                <a:cs typeface="Arial" pitchFamily="34" charset="-120"/>
              </a:rPr>
              <a:t>MONTHS 7–9</a:t>
            </a:r>
            <a:endParaRPr lang="en-US" sz="900" dirty="0"/>
          </a:p>
        </p:txBody>
      </p:sp>
      <p:sp>
        <p:nvSpPr>
          <p:cNvPr id="21" name="Text 19"/>
          <p:cNvSpPr txBox="1"/>
          <p:nvPr/>
        </p:nvSpPr>
        <p:spPr>
          <a:xfrm>
            <a:off x="6415430" y="2286000"/>
            <a:ext cx="2331720" cy="566928"/>
          </a:xfrm>
          <a:prstGeom prst="rect">
            <a:avLst/>
          </a:prstGeom>
          <a:noFill/>
          <a:ln/>
        </p:spPr>
        <p:txBody>
          <a:bodyPr wrap="square" lIns="0" tIns="0" rIns="0" bIns="0" rtlCol="0" anchor="ctr"/>
          <a:lstStyle/>
          <a:p>
            <a:pPr indent="0" marL="0">
              <a:lnSpc>
                <a:spcPts val="1600"/>
              </a:lnSpc>
              <a:buNone/>
            </a:pPr>
            <a:r>
              <a:rPr lang="en-US" sz="1450" b="1" dirty="0">
                <a:solidFill>
                  <a:srgbClr val="13294B"/>
                </a:solidFill>
                <a:latin typeface="Arial" pitchFamily="34" charset="0"/>
                <a:ea typeface="Arial" pitchFamily="34" charset="-122"/>
                <a:cs typeface="Arial" pitchFamily="34" charset="-120"/>
              </a:rPr>
              <a:t>Full Network</a:t>
            </a:r>
            <a:endParaRPr lang="en-US" sz="1450" dirty="0"/>
          </a:p>
        </p:txBody>
      </p:sp>
      <p:sp>
        <p:nvSpPr>
          <p:cNvPr id="22" name="Text 20"/>
          <p:cNvSpPr txBox="1"/>
          <p:nvPr/>
        </p:nvSpPr>
        <p:spPr>
          <a:xfrm>
            <a:off x="6415430" y="2889504"/>
            <a:ext cx="2331720" cy="2011680"/>
          </a:xfrm>
          <a:prstGeom prst="rect">
            <a:avLst/>
          </a:prstGeom>
          <a:noFill/>
          <a:ln/>
        </p:spPr>
        <p:txBody>
          <a:bodyPr wrap="square" lIns="0" tIns="0" rIns="0" bIns="0" rtlCol="0" anchor="ctr"/>
          <a:lstStyle/>
          <a:p>
            <a:pPr indent="0" marL="0">
              <a:lnSpc>
                <a:spcPts val="1250"/>
              </a:lnSpc>
              <a:buNone/>
            </a:pPr>
            <a:r>
              <a:rPr lang="en-US" sz="930" dirty="0">
                <a:solidFill>
                  <a:srgbClr val="5E6B7E"/>
                </a:solidFill>
                <a:latin typeface="Arial" pitchFamily="34" charset="0"/>
                <a:ea typeface="Arial" pitchFamily="34" charset="-122"/>
                <a:cs typeface="Arial" pitchFamily="34" charset="-120"/>
              </a:rPr>
              <a:t>All nine SA airports plus Mauritius and Zanzibar; D-Card premium retail live on the JNB–CPT corridor; ±40 stations trading.</a:t>
            </a:r>
            <a:endParaRPr lang="en-US" sz="930" dirty="0"/>
          </a:p>
        </p:txBody>
      </p:sp>
      <p:sp>
        <p:nvSpPr>
          <p:cNvPr id="23" name="Shape 21"/>
          <p:cNvSpPr/>
          <p:nvPr/>
        </p:nvSpPr>
        <p:spPr>
          <a:xfrm>
            <a:off x="9074506" y="1481328"/>
            <a:ext cx="2679192" cy="3520440"/>
          </a:xfrm>
          <a:prstGeom prst="rect">
            <a:avLst/>
          </a:prstGeom>
          <a:solidFill>
            <a:srgbClr val="FFFFFF"/>
          </a:solidFill>
          <a:ln w="12700">
            <a:solidFill>
              <a:srgbClr val="D9E0EA"/>
            </a:solidFill>
            <a:prstDash val="solid"/>
          </a:ln>
        </p:spPr>
      </p:sp>
      <p:sp>
        <p:nvSpPr>
          <p:cNvPr id="24" name="Shape 22"/>
          <p:cNvSpPr/>
          <p:nvPr/>
        </p:nvSpPr>
        <p:spPr>
          <a:xfrm>
            <a:off x="9074506" y="1481328"/>
            <a:ext cx="2679192" cy="420624"/>
          </a:xfrm>
          <a:prstGeom prst="rect">
            <a:avLst/>
          </a:prstGeom>
          <a:solidFill>
            <a:srgbClr val="C0392B"/>
          </a:solidFill>
          <a:ln/>
        </p:spPr>
      </p:sp>
      <p:sp>
        <p:nvSpPr>
          <p:cNvPr id="25" name="Text 23"/>
          <p:cNvSpPr txBox="1"/>
          <p:nvPr/>
        </p:nvSpPr>
        <p:spPr>
          <a:xfrm>
            <a:off x="9074506" y="1481328"/>
            <a:ext cx="2679192" cy="420624"/>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PHASE 4</a:t>
            </a:r>
            <a:endParaRPr lang="en-US" sz="1100" dirty="0"/>
          </a:p>
        </p:txBody>
      </p:sp>
      <p:sp>
        <p:nvSpPr>
          <p:cNvPr id="26" name="Text 24"/>
          <p:cNvSpPr txBox="1"/>
          <p:nvPr/>
        </p:nvSpPr>
        <p:spPr>
          <a:xfrm>
            <a:off x="9257386" y="2029968"/>
            <a:ext cx="2286000" cy="237744"/>
          </a:xfrm>
          <a:prstGeom prst="rect">
            <a:avLst/>
          </a:prstGeom>
          <a:noFill/>
          <a:ln/>
        </p:spPr>
        <p:txBody>
          <a:bodyPr wrap="square" lIns="0" tIns="0" rIns="0" bIns="0" rtlCol="0" anchor="ctr"/>
          <a:lstStyle/>
          <a:p>
            <a:pPr indent="0" marL="0">
              <a:buNone/>
            </a:pPr>
            <a:r>
              <a:rPr lang="en-US" sz="900" b="1" spc="150" kern="0" dirty="0">
                <a:solidFill>
                  <a:srgbClr val="8A96A8"/>
                </a:solidFill>
                <a:latin typeface="Arial" pitchFamily="34" charset="0"/>
                <a:ea typeface="Arial" pitchFamily="34" charset="-122"/>
                <a:cs typeface="Arial" pitchFamily="34" charset="-120"/>
              </a:rPr>
              <a:t>MONTHS 10–12</a:t>
            </a:r>
            <a:endParaRPr lang="en-US" sz="900" dirty="0"/>
          </a:p>
        </p:txBody>
      </p:sp>
      <p:sp>
        <p:nvSpPr>
          <p:cNvPr id="27" name="Text 25"/>
          <p:cNvSpPr txBox="1"/>
          <p:nvPr/>
        </p:nvSpPr>
        <p:spPr>
          <a:xfrm>
            <a:off x="9257386" y="2286000"/>
            <a:ext cx="2331720" cy="566928"/>
          </a:xfrm>
          <a:prstGeom prst="rect">
            <a:avLst/>
          </a:prstGeom>
          <a:noFill/>
          <a:ln/>
        </p:spPr>
        <p:txBody>
          <a:bodyPr wrap="square" lIns="0" tIns="0" rIns="0" bIns="0" rtlCol="0" anchor="ctr"/>
          <a:lstStyle/>
          <a:p>
            <a:pPr indent="0" marL="0">
              <a:lnSpc>
                <a:spcPts val="1600"/>
              </a:lnSpc>
              <a:buNone/>
            </a:pPr>
            <a:r>
              <a:rPr lang="en-US" sz="1450" b="1" dirty="0">
                <a:solidFill>
                  <a:srgbClr val="13294B"/>
                </a:solidFill>
                <a:latin typeface="Arial" pitchFamily="34" charset="0"/>
                <a:ea typeface="Arial" pitchFamily="34" charset="-122"/>
                <a:cs typeface="Arial" pitchFamily="34" charset="-120"/>
              </a:rPr>
              <a:t>Intelligence Everywhere</a:t>
            </a:r>
            <a:endParaRPr lang="en-US" sz="1450" dirty="0"/>
          </a:p>
        </p:txBody>
      </p:sp>
      <p:sp>
        <p:nvSpPr>
          <p:cNvPr id="28" name="Text 26"/>
          <p:cNvSpPr txBox="1"/>
          <p:nvPr/>
        </p:nvSpPr>
        <p:spPr>
          <a:xfrm>
            <a:off x="9257386" y="2889504"/>
            <a:ext cx="2331720" cy="2011680"/>
          </a:xfrm>
          <a:prstGeom prst="rect">
            <a:avLst/>
          </a:prstGeom>
          <a:noFill/>
          <a:ln/>
        </p:spPr>
        <p:txBody>
          <a:bodyPr wrap="square" lIns="0" tIns="0" rIns="0" bIns="0" rtlCol="0" anchor="ctr"/>
          <a:lstStyle/>
          <a:p>
            <a:pPr indent="0" marL="0">
              <a:lnSpc>
                <a:spcPts val="1250"/>
              </a:lnSpc>
              <a:buNone/>
            </a:pPr>
            <a:r>
              <a:rPr lang="en-US" sz="930" dirty="0">
                <a:solidFill>
                  <a:srgbClr val="5E6B7E"/>
                </a:solidFill>
                <a:latin typeface="Arial" pitchFamily="34" charset="0"/>
                <a:ea typeface="Arial" pitchFamily="34" charset="-122"/>
                <a:cs typeface="Arial" pitchFamily="34" charset="-120"/>
              </a:rPr>
              <a:t>Nexas AI live in every division; insurer engagement on the evidence base; year-one review against every number in this deck.</a:t>
            </a:r>
            <a:endParaRPr lang="en-US" sz="930" dirty="0"/>
          </a:p>
        </p:txBody>
      </p:sp>
      <p:sp>
        <p:nvSpPr>
          <p:cNvPr id="29" name="Shape 27"/>
          <p:cNvSpPr/>
          <p:nvPr/>
        </p:nvSpPr>
        <p:spPr>
          <a:xfrm>
            <a:off x="548640" y="5349240"/>
            <a:ext cx="11094415" cy="658368"/>
          </a:xfrm>
          <a:prstGeom prst="rect">
            <a:avLst/>
          </a:prstGeom>
          <a:solidFill>
            <a:srgbClr val="0B1B34"/>
          </a:solidFill>
          <a:ln/>
        </p:spPr>
      </p:sp>
      <p:sp>
        <p:nvSpPr>
          <p:cNvPr id="30" name="Text 28"/>
          <p:cNvSpPr txBox="1"/>
          <p:nvPr/>
        </p:nvSpPr>
        <p:spPr>
          <a:xfrm>
            <a:off x="777240" y="5349240"/>
            <a:ext cx="10637215" cy="658368"/>
          </a:xfrm>
          <a:prstGeom prst="rect">
            <a:avLst/>
          </a:prstGeom>
          <a:noFill/>
          <a:ln/>
        </p:spPr>
        <p:txBody>
          <a:bodyPr wrap="square" lIns="0" tIns="0" rIns="0" bIns="0" rtlCol="0" anchor="ctr"/>
          <a:lstStyle/>
          <a:p>
            <a:pPr indent="0" marL="0">
              <a:lnSpc>
                <a:spcPts val="1300"/>
              </a:lnSpc>
              <a:buNone/>
            </a:pPr>
            <a:r>
              <a:rPr lang="en-US" sz="1000" b="1" dirty="0">
                <a:solidFill>
                  <a:srgbClr val="F17400"/>
                </a:solidFill>
                <a:latin typeface="Arial" pitchFamily="34" charset="0"/>
                <a:ea typeface="Arial" pitchFamily="34" charset="-122"/>
                <a:cs typeface="Arial" pitchFamily="34" charset="-120"/>
              </a:rPr>
              <a:t>Every phase is independently reversible </a:t>
            </a:r>
            <a:pPr indent="0" marL="0">
              <a:lnSpc>
                <a:spcPts val="1300"/>
              </a:lnSpc>
              <a:buNone/>
            </a:pPr>
            <a:r>
              <a:rPr lang="en-US" sz="1000" dirty="0">
                <a:solidFill>
                  <a:srgbClr val="A9B6CB"/>
                </a:solidFill>
                <a:latin typeface="Arial" pitchFamily="34" charset="0"/>
                <a:ea typeface="Arial" pitchFamily="34" charset="-122"/>
                <a:cs typeface="Arial" pitchFamily="34" charset="-120"/>
              </a:rPr>
              <a:t>— FlySafair validates commercial and operational assumptions with real data before committing to the next. By month 12 the network is fully live, and every figure in this deck has been tested against reality.</a:t>
            </a:r>
            <a:endParaRPr lang="en-US" sz="1000" dirty="0"/>
          </a:p>
        </p:txBody>
      </p:sp>
      <p:sp>
        <p:nvSpPr>
          <p:cNvPr id="31" name="Shape 29"/>
          <p:cNvSpPr/>
          <p:nvPr/>
        </p:nvSpPr>
        <p:spPr>
          <a:xfrm>
            <a:off x="0" y="6583680"/>
            <a:ext cx="12191695" cy="274320"/>
          </a:xfrm>
          <a:prstGeom prst="rect">
            <a:avLst/>
          </a:prstGeom>
          <a:solidFill>
            <a:srgbClr val="0B1B34"/>
          </a:solidFill>
          <a:ln/>
        </p:spPr>
      </p:sp>
      <p:sp>
        <p:nvSpPr>
          <p:cNvPr id="32" name="Text 30"/>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33" name="Text 31"/>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27 / 29</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3931920" cy="329184"/>
          </a:xfrm>
          <a:prstGeom prst="roundRect">
            <a:avLst>
              <a:gd name="adj" fmla="val 50000"/>
            </a:avLst>
          </a:prstGeom>
          <a:solidFill>
            <a:srgbClr val="0B1B34">
              <a:alpha val="0"/>
            </a:srgbClr>
          </a:solidFill>
          <a:ln w="12700">
            <a:solidFill>
              <a:srgbClr val="3D5170"/>
            </a:solidFill>
            <a:prstDash val="solid"/>
          </a:ln>
        </p:spPr>
      </p:sp>
      <p:sp>
        <p:nvSpPr>
          <p:cNvPr id="3" name="Text 1"/>
          <p:cNvSpPr txBox="1"/>
          <p:nvPr/>
        </p:nvSpPr>
        <p:spPr>
          <a:xfrm>
            <a:off x="548640" y="384048"/>
            <a:ext cx="393192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FOR THE BOARD, THE CEO, THE COO</a:t>
            </a:r>
            <a:endParaRPr lang="en-US" sz="950" dirty="0"/>
          </a:p>
        </p:txBody>
      </p:sp>
      <p:sp>
        <p:nvSpPr>
          <p:cNvPr id="4" name="Text 2"/>
          <p:cNvSpPr txBox="1"/>
          <p:nvPr/>
        </p:nvSpPr>
        <p:spPr>
          <a:xfrm>
            <a:off x="548640" y="868680"/>
            <a:ext cx="11064240" cy="868680"/>
          </a:xfrm>
          <a:prstGeom prst="rect">
            <a:avLst/>
          </a:prstGeom>
          <a:noFill/>
          <a:ln/>
        </p:spPr>
        <p:txBody>
          <a:bodyPr wrap="square" lIns="0" tIns="0" rIns="0" bIns="0" rtlCol="0" anchor="ctr"/>
          <a:lstStyle/>
          <a:p>
            <a:pPr indent="0" marL="0">
              <a:lnSpc>
                <a:spcPts val="2600"/>
              </a:lnSpc>
              <a:buNone/>
            </a:pPr>
            <a:r>
              <a:rPr lang="en-US" sz="2100" b="1" dirty="0">
                <a:solidFill>
                  <a:srgbClr val="FFFFFF"/>
                </a:solidFill>
                <a:latin typeface="Arial" pitchFamily="34" charset="0"/>
                <a:ea typeface="Arial" pitchFamily="34" charset="-122"/>
                <a:cs typeface="Arial" pitchFamily="34" charset="-120"/>
              </a:rPr>
              <a:t>This isn't a technology decision. It's a five-year bet on who owns passenger trust in South African skies.</a:t>
            </a:r>
            <a:endParaRPr lang="en-US" sz="2100" dirty="0"/>
          </a:p>
        </p:txBody>
      </p:sp>
      <p:sp>
        <p:nvSpPr>
          <p:cNvPr id="5" name="Shape 3"/>
          <p:cNvSpPr/>
          <p:nvPr/>
        </p:nvSpPr>
        <p:spPr>
          <a:xfrm>
            <a:off x="548640" y="1965960"/>
            <a:ext cx="5394960" cy="3794760"/>
          </a:xfrm>
          <a:prstGeom prst="rect">
            <a:avLst/>
          </a:prstGeom>
          <a:solidFill>
            <a:srgbClr val="113255"/>
          </a:solidFill>
          <a:ln/>
        </p:spPr>
      </p:sp>
      <p:sp>
        <p:nvSpPr>
          <p:cNvPr id="6" name="Text 4"/>
          <p:cNvSpPr txBox="1"/>
          <p:nvPr/>
        </p:nvSpPr>
        <p:spPr>
          <a:xfrm>
            <a:off x="822960" y="2148840"/>
            <a:ext cx="4846320" cy="237744"/>
          </a:xfrm>
          <a:prstGeom prst="rect">
            <a:avLst/>
          </a:prstGeom>
          <a:noFill/>
          <a:ln/>
        </p:spPr>
        <p:txBody>
          <a:bodyPr wrap="square" lIns="0" tIns="0" rIns="0" bIns="0" rtlCol="0" anchor="ctr"/>
          <a:lstStyle/>
          <a:p>
            <a:pPr indent="0" marL="0">
              <a:buNone/>
            </a:pPr>
            <a:r>
              <a:rPr lang="en-US" sz="1050" b="1" spc="200" kern="0" dirty="0">
                <a:solidFill>
                  <a:srgbClr val="A9B6CB"/>
                </a:solidFill>
                <a:latin typeface="Arial" pitchFamily="34" charset="0"/>
                <a:ea typeface="Arial" pitchFamily="34" charset="-122"/>
                <a:cs typeface="Arial" pitchFamily="34" charset="-120"/>
              </a:rPr>
              <a:t>IF NOTHING CHANGES</a:t>
            </a:r>
            <a:endParaRPr lang="en-US" sz="1050" dirty="0"/>
          </a:p>
        </p:txBody>
      </p:sp>
      <p:sp>
        <p:nvSpPr>
          <p:cNvPr id="7" name="Text 5"/>
          <p:cNvSpPr txBox="1"/>
          <p:nvPr/>
        </p:nvSpPr>
        <p:spPr>
          <a:xfrm>
            <a:off x="822960" y="2414016"/>
            <a:ext cx="48463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Five years of standing still</a:t>
            </a:r>
            <a:endParaRPr lang="en-US" sz="1400" dirty="0"/>
          </a:p>
        </p:txBody>
      </p:sp>
      <p:sp>
        <p:nvSpPr>
          <p:cNvPr id="8" name="Text 6"/>
          <p:cNvSpPr txBox="1"/>
          <p:nvPr/>
        </p:nvSpPr>
        <p:spPr>
          <a:xfrm>
            <a:off x="822960" y="2834640"/>
            <a:ext cx="4846320" cy="2834640"/>
          </a:xfrm>
          <a:prstGeom prst="rect">
            <a:avLst/>
          </a:prstGeom>
          <a:noFill/>
          <a:ln/>
        </p:spPr>
        <p:txBody>
          <a:bodyPr wrap="square" lIns="0" tIns="0" rIns="0" bIns="0" rtlCol="0" anchor="t"/>
          <a:lstStyle/>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R333M in losses, tampering and never-arrived bags keeps walking out the door, quietly</a:t>
            </a:r>
            <a:endParaRPr lang="en-US" sz="980" dirty="0"/>
          </a:p>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±78 bags a day still go dark the moment they leave the passenger's hands</a:t>
            </a:r>
            <a:endParaRPr lang="en-US" sz="980" dirty="0"/>
          </a:p>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The next viral tampering video is a matter of when — and it lands on the market leader</a:t>
            </a:r>
            <a:endParaRPr lang="en-US" sz="980" dirty="0"/>
          </a:p>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R1.77B of modelled 5-year ancillary revenue is left unbuilt</a:t>
            </a:r>
            <a:endParaRPr lang="en-US" sz="980" dirty="0"/>
          </a:p>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Another carrier claims “the airline where bags don't disappear” first</a:t>
            </a:r>
            <a:endParaRPr lang="en-US" sz="980" dirty="0"/>
          </a:p>
          <a:p>
            <a:pPr indent="0" marL="0">
              <a:lnSpc>
                <a:spcPts val="1250"/>
              </a:lnSpc>
              <a:buNone/>
            </a:pPr>
            <a:r>
              <a:rPr lang="en-US" sz="980" b="1" dirty="0">
                <a:solidFill>
                  <a:srgbClr val="E05252"/>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A9B6CB"/>
                </a:solidFill>
                <a:latin typeface="Arial" pitchFamily="34" charset="0"/>
                <a:ea typeface="Arial" pitchFamily="34" charset="-122"/>
                <a:cs typeface="Arial" pitchFamily="34" charset="-120"/>
              </a:rPr>
              <a:t>Claims keep being processed by hand — and the board only sees the cost at year-end</a:t>
            </a:r>
            <a:endParaRPr lang="en-US" sz="980" dirty="0"/>
          </a:p>
        </p:txBody>
      </p:sp>
      <p:sp>
        <p:nvSpPr>
          <p:cNvPr id="9" name="Shape 7"/>
          <p:cNvSpPr/>
          <p:nvPr/>
        </p:nvSpPr>
        <p:spPr>
          <a:xfrm>
            <a:off x="6245352" y="1965960"/>
            <a:ext cx="5394960" cy="3794760"/>
          </a:xfrm>
          <a:prstGeom prst="rect">
            <a:avLst/>
          </a:prstGeom>
          <a:solidFill>
            <a:srgbClr val="F17400"/>
          </a:solidFill>
          <a:ln/>
        </p:spPr>
      </p:sp>
      <p:sp>
        <p:nvSpPr>
          <p:cNvPr id="10" name="Text 8"/>
          <p:cNvSpPr txBox="1"/>
          <p:nvPr/>
        </p:nvSpPr>
        <p:spPr>
          <a:xfrm>
            <a:off x="6519672" y="2148840"/>
            <a:ext cx="4846320" cy="237744"/>
          </a:xfrm>
          <a:prstGeom prst="rect">
            <a:avLst/>
          </a:prstGeom>
          <a:noFill/>
          <a:ln/>
        </p:spPr>
        <p:txBody>
          <a:bodyPr wrap="square" lIns="0" tIns="0" rIns="0" bIns="0" rtlCol="0" anchor="ctr"/>
          <a:lstStyle/>
          <a:p>
            <a:pPr indent="0" marL="0">
              <a:buNone/>
            </a:pPr>
            <a:r>
              <a:rPr lang="en-US" sz="1050" b="1" spc="200" kern="0" dirty="0">
                <a:solidFill>
                  <a:srgbClr val="FFE1C4"/>
                </a:solidFill>
                <a:latin typeface="Arial" pitchFamily="34" charset="0"/>
                <a:ea typeface="Arial" pitchFamily="34" charset="-122"/>
                <a:cs typeface="Arial" pitchFamily="34" charset="-120"/>
              </a:rPr>
              <a:t>IF FLYSAFAIR ACTS NOW</a:t>
            </a:r>
            <a:endParaRPr lang="en-US" sz="1050" dirty="0"/>
          </a:p>
        </p:txBody>
      </p:sp>
      <p:sp>
        <p:nvSpPr>
          <p:cNvPr id="11" name="Text 9"/>
          <p:cNvSpPr txBox="1"/>
          <p:nvPr/>
        </p:nvSpPr>
        <p:spPr>
          <a:xfrm>
            <a:off x="6519672" y="2414016"/>
            <a:ext cx="48463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Five years of leading the market</a:t>
            </a:r>
            <a:endParaRPr lang="en-US" sz="1400" dirty="0"/>
          </a:p>
        </p:txBody>
      </p:sp>
      <p:sp>
        <p:nvSpPr>
          <p:cNvPr id="12" name="Text 10"/>
          <p:cNvSpPr txBox="1"/>
          <p:nvPr/>
        </p:nvSpPr>
        <p:spPr>
          <a:xfrm>
            <a:off x="6519672" y="2834640"/>
            <a:ext cx="4846320" cy="2834640"/>
          </a:xfrm>
          <a:prstGeom prst="rect">
            <a:avLst/>
          </a:prstGeom>
          <a:noFill/>
          <a:ln/>
        </p:spPr>
        <p:txBody>
          <a:bodyPr wrap="square" lIns="0" tIns="0" rIns="0" bIns="0" rtlCol="0" anchor="t"/>
          <a:lstStyle/>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Up to R299M recovered — the 90% cut in never-arrived bags is SITA-proven, not projected</a:t>
            </a:r>
            <a:endParaRPr lang="en-US" sz="980" dirty="0"/>
          </a:p>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R1.77B+ of new passenger-funded revenue built at a moderate 10% attach</a:t>
            </a:r>
            <a:endParaRPr lang="en-US" sz="980" dirty="0"/>
          </a:p>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Every checked bag visible from bag-drop to carousel — and every claim answered with evidence</a:t>
            </a:r>
            <a:endParaRPr lang="en-US" sz="980" dirty="0"/>
          </a:p>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The world's most on-time airline becomes the world's most transparent on baggage</a:t>
            </a:r>
            <a:endParaRPr lang="en-US" sz="980" dirty="0"/>
          </a:p>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Nexas AI working in every division, on data no competitor has</a:t>
            </a:r>
            <a:endParaRPr lang="en-US" sz="980" dirty="0"/>
          </a:p>
          <a:p>
            <a:pPr indent="0" marL="0">
              <a:lnSpc>
                <a:spcPts val="1250"/>
              </a:lnSpc>
              <a:buNone/>
            </a:pPr>
            <a:r>
              <a:rPr lang="en-US" sz="980" b="1" dirty="0">
                <a:solidFill>
                  <a:srgbClr val="FFFFFF"/>
                </a:solidFill>
                <a:latin typeface="Arial" pitchFamily="34" charset="0"/>
                <a:ea typeface="Arial" pitchFamily="34" charset="-122"/>
                <a:cs typeface="Arial" pitchFamily="34" charset="-120"/>
              </a:rPr>
              <a:t>✓  </a:t>
            </a:r>
            <a:pPr indent="0" marL="0">
              <a:lnSpc>
                <a:spcPts val="1250"/>
              </a:lnSpc>
              <a:spcAft>
                <a:spcPts val="700"/>
              </a:spcAft>
              <a:buNone/>
            </a:pPr>
            <a:r>
              <a:rPr lang="en-US" sz="980" dirty="0">
                <a:solidFill>
                  <a:srgbClr val="FFF3E8"/>
                </a:solidFill>
                <a:latin typeface="Arial" pitchFamily="34" charset="0"/>
                <a:ea typeface="Arial" pitchFamily="34" charset="-122"/>
                <a:cs typeface="Arial" pitchFamily="34" charset="-120"/>
              </a:rPr>
              <a:t>A 12-month, phase-gated rollout — reversible at every step, evidence before commitment</a:t>
            </a:r>
            <a:endParaRPr lang="en-US" sz="980" dirty="0"/>
          </a:p>
        </p:txBody>
      </p:sp>
      <p:sp>
        <p:nvSpPr>
          <p:cNvPr id="13" name="Text 11"/>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200" b="1" dirty="0">
                <a:solidFill>
                  <a:srgbClr val="F17400"/>
                </a:solidFill>
                <a:latin typeface="Arial" pitchFamily="34" charset="0"/>
                <a:ea typeface="Arial" pitchFamily="34" charset="-122"/>
                <a:cs typeface="Arial" pitchFamily="34" charset="-120"/>
              </a:rPr>
              <a:t>So the only real question left: </a:t>
            </a:r>
            <a:pPr indent="0" marL="0">
              <a:buNone/>
            </a:pPr>
            <a:r>
              <a:rPr lang="en-US" sz="1200" i="1" dirty="0">
                <a:solidFill>
                  <a:srgbClr val="A9B6CB"/>
                </a:solidFill>
                <a:latin typeface="Arial" pitchFamily="34" charset="0"/>
                <a:ea typeface="Arial" pitchFamily="34" charset="-122"/>
                <a:cs typeface="Arial" pitchFamily="34" charset="-120"/>
              </a:rPr>
              <a:t>does FlySafair spend the next five years paying for invisible bags — or being the airline that made them visible?</a:t>
            </a:r>
            <a:endParaRPr lang="en-US" sz="1200" dirty="0"/>
          </a:p>
        </p:txBody>
      </p:sp>
      <p:sp>
        <p:nvSpPr>
          <p:cNvPr id="14" name="Shape 12"/>
          <p:cNvSpPr/>
          <p:nvPr/>
        </p:nvSpPr>
        <p:spPr>
          <a:xfrm>
            <a:off x="0" y="6583680"/>
            <a:ext cx="12191695" cy="274320"/>
          </a:xfrm>
          <a:prstGeom prst="rect">
            <a:avLst/>
          </a:prstGeom>
          <a:solidFill>
            <a:srgbClr val="0E2648"/>
          </a:solidFill>
          <a:ln/>
        </p:spPr>
      </p:sp>
      <p:sp>
        <p:nvSpPr>
          <p:cNvPr id="15" name="Text 13"/>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16" name="Text 14"/>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28 / 29</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548640" y="384048"/>
            <a:ext cx="2651760" cy="329184"/>
          </a:xfrm>
          <a:prstGeom prst="roundRect">
            <a:avLst>
              <a:gd name="adj" fmla="val 50000"/>
            </a:avLst>
          </a:prstGeom>
          <a:solidFill>
            <a:srgbClr val="F17400"/>
          </a:solidFill>
          <a:ln w="12700">
            <a:solidFill>
              <a:srgbClr val="F17400"/>
            </a:solidFill>
            <a:prstDash val="solid"/>
          </a:ln>
        </p:spPr>
      </p:sp>
      <p:sp>
        <p:nvSpPr>
          <p:cNvPr id="3" name="Text 1"/>
          <p:cNvSpPr txBox="1"/>
          <p:nvPr/>
        </p:nvSpPr>
        <p:spPr>
          <a:xfrm>
            <a:off x="548640" y="384048"/>
            <a:ext cx="2651760" cy="329184"/>
          </a:xfrm>
          <a:prstGeom prst="rect">
            <a:avLst/>
          </a:prstGeom>
          <a:noFill/>
          <a:ln/>
        </p:spPr>
        <p:txBody>
          <a:bodyPr wrap="square" lIns="0" tIns="0" rIns="0" bIns="0" rtlCol="0" anchor="ctr"/>
          <a:lstStyle/>
          <a:p>
            <a:pPr algn="ctr" indent="0" marL="0">
              <a:buNone/>
            </a:pPr>
            <a:r>
              <a:rPr lang="en-US" sz="950" b="1" spc="150" kern="0" dirty="0">
                <a:solidFill>
                  <a:srgbClr val="FFFFFF"/>
                </a:solidFill>
                <a:latin typeface="Arial" pitchFamily="34" charset="0"/>
                <a:ea typeface="Arial" pitchFamily="34" charset="-122"/>
                <a:cs typeface="Arial" pitchFamily="34" charset="-120"/>
              </a:rPr>
              <a:t>READY WHEN YOU ARE</a:t>
            </a:r>
            <a:endParaRPr lang="en-US" sz="950" dirty="0"/>
          </a:p>
        </p:txBody>
      </p:sp>
      <p:sp>
        <p:nvSpPr>
          <p:cNvPr id="4" name="Text 2"/>
          <p:cNvSpPr txBox="1"/>
          <p:nvPr/>
        </p:nvSpPr>
        <p:spPr>
          <a:xfrm>
            <a:off x="548640" y="841248"/>
            <a:ext cx="10058400" cy="50292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Why Mr Digitag Man, and what happens next</a:t>
            </a:r>
            <a:endParaRPr lang="en-US" sz="2700" dirty="0"/>
          </a:p>
        </p:txBody>
      </p:sp>
      <p:sp>
        <p:nvSpPr>
          <p:cNvPr id="5" name="Text 3"/>
          <p:cNvSpPr txBox="1"/>
          <p:nvPr/>
        </p:nvSpPr>
        <p:spPr>
          <a:xfrm>
            <a:off x="548640" y="1600200"/>
            <a:ext cx="5943600" cy="3291840"/>
          </a:xfrm>
          <a:prstGeom prst="rect">
            <a:avLst/>
          </a:prstGeom>
          <a:noFill/>
          <a:ln/>
        </p:spPr>
        <p:txBody>
          <a:bodyPr wrap="square" lIns="0" tIns="0" rIns="0" bIns="0" rtlCol="0" anchor="t"/>
          <a:lstStyle/>
          <a:p>
            <a:pPr indent="0" marL="0">
              <a:lnSpc>
                <a:spcPts val="14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400"/>
              </a:lnSpc>
              <a:spcAft>
                <a:spcPts val="1000"/>
              </a:spcAft>
              <a:buNone/>
            </a:pPr>
            <a:r>
              <a:rPr lang="en-US" sz="1050" dirty="0">
                <a:solidFill>
                  <a:srgbClr val="A9B6CB"/>
                </a:solidFill>
                <a:latin typeface="Arial" pitchFamily="34" charset="0"/>
                <a:ea typeface="Arial" pitchFamily="34" charset="-122"/>
                <a:cs typeface="Arial" pitchFamily="34" charset="-120"/>
              </a:rPr>
              <a:t>17+ years of South African market experience — a local partner for a local champion, in the same time zone and the same rand</a:t>
            </a:r>
            <a:endParaRPr lang="en-US" sz="1050" dirty="0"/>
          </a:p>
          <a:p>
            <a:pPr indent="0" marL="0">
              <a:lnSpc>
                <a:spcPts val="14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400"/>
              </a:lnSpc>
              <a:spcAft>
                <a:spcPts val="1000"/>
              </a:spcAft>
              <a:buNone/>
            </a:pPr>
            <a:r>
              <a:rPr lang="en-US" sz="1050" dirty="0">
                <a:solidFill>
                  <a:srgbClr val="A9B6CB"/>
                </a:solidFill>
                <a:latin typeface="Arial" pitchFamily="34" charset="0"/>
                <a:ea typeface="Arial" pitchFamily="34" charset="-122"/>
                <a:cs typeface="Arial" pitchFamily="34" charset="-120"/>
              </a:rPr>
              <a:t>A full-ecosystem integrator, not a single-product vendor — GPS visibility alongside CCTV, access control, signage and IT under one accountable partner</a:t>
            </a:r>
            <a:endParaRPr lang="en-US" sz="1050" dirty="0"/>
          </a:p>
          <a:p>
            <a:pPr indent="0" marL="0">
              <a:lnSpc>
                <a:spcPts val="14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400"/>
              </a:lnSpc>
              <a:spcAft>
                <a:spcPts val="1000"/>
              </a:spcAft>
              <a:buNone/>
            </a:pPr>
            <a:r>
              <a:rPr lang="en-US" sz="1050" dirty="0">
                <a:solidFill>
                  <a:srgbClr val="A9B6CB"/>
                </a:solidFill>
                <a:latin typeface="Arial" pitchFamily="34" charset="0"/>
                <a:ea typeface="Arial" pitchFamily="34" charset="-122"/>
                <a:cs typeface="Arial" pitchFamily="34" charset="-120"/>
              </a:rPr>
              <a:t>Proven global technology — the crowd-find × airline-tracing ecosystem live at 36 airlines — brought to Africa's leading low-cost carrier first</a:t>
            </a:r>
            <a:endParaRPr lang="en-US" sz="1050" dirty="0"/>
          </a:p>
          <a:p>
            <a:pPr indent="0" marL="0">
              <a:lnSpc>
                <a:spcPts val="14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400"/>
              </a:lnSpc>
              <a:spcAft>
                <a:spcPts val="1000"/>
              </a:spcAft>
              <a:buNone/>
            </a:pPr>
            <a:r>
              <a:rPr lang="en-US" sz="1050" dirty="0">
                <a:solidFill>
                  <a:srgbClr val="A9B6CB"/>
                </a:solidFill>
                <a:latin typeface="Arial" pitchFamily="34" charset="0"/>
                <a:ea typeface="Arial" pitchFamily="34" charset="-122"/>
                <a:cs typeface="Arial" pitchFamily="34" charset="-120"/>
              </a:rPr>
              <a:t>Direct engineering accountability, product ownership and a single commercial counterparty — no offshore escalation chain</a:t>
            </a:r>
            <a:endParaRPr lang="en-US" sz="1050" dirty="0"/>
          </a:p>
          <a:p>
            <a:pPr indent="0" marL="0">
              <a:lnSpc>
                <a:spcPts val="1400"/>
              </a:lnSpc>
              <a:buNone/>
            </a:pPr>
            <a:r>
              <a:rPr lang="en-US" sz="1050" b="1" dirty="0">
                <a:solidFill>
                  <a:srgbClr val="F17400"/>
                </a:solidFill>
                <a:latin typeface="Arial" pitchFamily="34" charset="0"/>
                <a:ea typeface="Arial" pitchFamily="34" charset="-122"/>
                <a:cs typeface="Arial" pitchFamily="34" charset="-120"/>
              </a:rPr>
              <a:t>✓  </a:t>
            </a:r>
            <a:pPr indent="0" marL="0">
              <a:lnSpc>
                <a:spcPts val="1400"/>
              </a:lnSpc>
              <a:spcAft>
                <a:spcPts val="1000"/>
              </a:spcAft>
              <a:buNone/>
            </a:pPr>
            <a:r>
              <a:rPr lang="en-US" sz="1050" dirty="0">
                <a:solidFill>
                  <a:srgbClr val="A9B6CB"/>
                </a:solidFill>
                <a:latin typeface="Arial" pitchFamily="34" charset="0"/>
                <a:ea typeface="Arial" pitchFamily="34" charset="-122"/>
                <a:cs typeface="Arial" pitchFamily="34" charset="-120"/>
              </a:rPr>
              <a:t>Nexas AI included — ClearVision AI's 77-agent command center rides on the commercial programme, not on FlySafair's IT budget</a:t>
            </a:r>
            <a:endParaRPr lang="en-US" sz="1050" dirty="0"/>
          </a:p>
        </p:txBody>
      </p:sp>
      <p:sp>
        <p:nvSpPr>
          <p:cNvPr id="6" name="Shape 4"/>
          <p:cNvSpPr/>
          <p:nvPr/>
        </p:nvSpPr>
        <p:spPr>
          <a:xfrm>
            <a:off x="6903720" y="1600200"/>
            <a:ext cx="4736592" cy="1691640"/>
          </a:xfrm>
          <a:prstGeom prst="rect">
            <a:avLst/>
          </a:prstGeom>
          <a:solidFill>
            <a:srgbClr val="113255"/>
          </a:solidFill>
          <a:ln w="12700">
            <a:solidFill>
              <a:srgbClr val="27466E"/>
            </a:solidFill>
            <a:prstDash val="solid"/>
          </a:ln>
        </p:spPr>
      </p:sp>
      <p:sp>
        <p:nvSpPr>
          <p:cNvPr id="7" name="Text 5"/>
          <p:cNvSpPr txBox="1"/>
          <p:nvPr/>
        </p:nvSpPr>
        <p:spPr>
          <a:xfrm>
            <a:off x="7132320" y="178308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PROPOSED NEXT STEP</a:t>
            </a:r>
            <a:endParaRPr lang="en-US" sz="1000" dirty="0"/>
          </a:p>
        </p:txBody>
      </p:sp>
      <p:sp>
        <p:nvSpPr>
          <p:cNvPr id="8" name="Text 6"/>
          <p:cNvSpPr txBox="1"/>
          <p:nvPr/>
        </p:nvSpPr>
        <p:spPr>
          <a:xfrm>
            <a:off x="7132320" y="2103120"/>
            <a:ext cx="4297680" cy="1097280"/>
          </a:xfrm>
          <a:prstGeom prst="rect">
            <a:avLst/>
          </a:prstGeom>
          <a:noFill/>
          <a:ln/>
        </p:spPr>
        <p:txBody>
          <a:bodyPr wrap="square" lIns="0" tIns="0" rIns="0" bIns="0" rtlCol="0" anchor="ctr"/>
          <a:lstStyle/>
          <a:p>
            <a:pPr indent="0" marL="0">
              <a:lnSpc>
                <a:spcPts val="1350"/>
              </a:lnSpc>
              <a:buNone/>
            </a:pPr>
            <a:r>
              <a:rPr lang="en-US" sz="1000" dirty="0">
                <a:solidFill>
                  <a:srgbClr val="A9B6CB"/>
                </a:solidFill>
                <a:latin typeface="Arial" pitchFamily="34" charset="0"/>
                <a:ea typeface="Arial" pitchFamily="34" charset="-122"/>
                <a:cs typeface="Arial" pitchFamily="34" charset="-120"/>
              </a:rPr>
              <a:t>A 45-minute working session with FlySafair's commercial, ground-operations and IT teams to scope the O.R. Tambo pilot — timeline, commercial structure, success metrics and the Digitag Protect booking-flow test.</a:t>
            </a:r>
            <a:endParaRPr lang="en-US" sz="1000" dirty="0"/>
          </a:p>
        </p:txBody>
      </p:sp>
      <p:sp>
        <p:nvSpPr>
          <p:cNvPr id="9" name="Shape 7"/>
          <p:cNvSpPr/>
          <p:nvPr/>
        </p:nvSpPr>
        <p:spPr>
          <a:xfrm>
            <a:off x="6903720" y="3474720"/>
            <a:ext cx="4736592" cy="1417320"/>
          </a:xfrm>
          <a:prstGeom prst="rect">
            <a:avLst/>
          </a:prstGeom>
          <a:solidFill>
            <a:srgbClr val="113255"/>
          </a:solidFill>
          <a:ln w="12700">
            <a:solidFill>
              <a:srgbClr val="27466E"/>
            </a:solidFill>
            <a:prstDash val="solid"/>
          </a:ln>
        </p:spPr>
      </p:sp>
      <p:sp>
        <p:nvSpPr>
          <p:cNvPr id="10" name="Text 8"/>
          <p:cNvSpPr txBox="1"/>
          <p:nvPr/>
        </p:nvSpPr>
        <p:spPr>
          <a:xfrm>
            <a:off x="7132320" y="3657600"/>
            <a:ext cx="4297680" cy="237744"/>
          </a:xfrm>
          <a:prstGeom prst="rect">
            <a:avLst/>
          </a:prstGeom>
          <a:noFill/>
          <a:ln/>
        </p:spPr>
        <p:txBody>
          <a:bodyPr wrap="square" lIns="0" tIns="0" rIns="0" bIns="0" rtlCol="0" anchor="ctr"/>
          <a:lstStyle/>
          <a:p>
            <a:pPr indent="0" marL="0">
              <a:buNone/>
            </a:pPr>
            <a:r>
              <a:rPr lang="en-US" sz="1000" b="1" spc="180" kern="0" dirty="0">
                <a:solidFill>
                  <a:srgbClr val="F17400"/>
                </a:solidFill>
                <a:latin typeface="Arial" pitchFamily="34" charset="0"/>
                <a:ea typeface="Arial" pitchFamily="34" charset="-122"/>
                <a:cs typeface="Arial" pitchFamily="34" charset="-120"/>
              </a:rPr>
              <a:t>THE OPPORTUNITY ON THE TABLE</a:t>
            </a:r>
            <a:endParaRPr lang="en-US" sz="1000" dirty="0"/>
          </a:p>
        </p:txBody>
      </p:sp>
      <p:sp>
        <p:nvSpPr>
          <p:cNvPr id="11" name="Text 9"/>
          <p:cNvSpPr txBox="1"/>
          <p:nvPr/>
        </p:nvSpPr>
        <p:spPr>
          <a:xfrm>
            <a:off x="7132320" y="3950208"/>
            <a:ext cx="4297680" cy="411480"/>
          </a:xfrm>
          <a:prstGeom prst="rect">
            <a:avLst/>
          </a:prstGeom>
          <a:noFill/>
          <a:ln/>
        </p:spPr>
        <p:txBody>
          <a:bodyPr wrap="square" lIns="0" tIns="0" rIns="0" bIns="0" rtlCol="0" anchor="ctr"/>
          <a:lstStyle/>
          <a:p>
            <a:pPr indent="0" marL="0">
              <a:buNone/>
            </a:pPr>
            <a:r>
              <a:rPr lang="en-US" sz="2200" b="1" dirty="0">
                <a:solidFill>
                  <a:srgbClr val="F17400"/>
                </a:solidFill>
                <a:latin typeface="Arial" pitchFamily="34" charset="0"/>
                <a:ea typeface="Arial" pitchFamily="34" charset="-122"/>
                <a:cs typeface="Arial" pitchFamily="34" charset="-120"/>
              </a:rPr>
              <a:t>R2.07B over five years</a:t>
            </a:r>
            <a:endParaRPr lang="en-US" sz="2200" dirty="0"/>
          </a:p>
        </p:txBody>
      </p:sp>
      <p:sp>
        <p:nvSpPr>
          <p:cNvPr id="12" name="Text 10"/>
          <p:cNvSpPr txBox="1"/>
          <p:nvPr/>
        </p:nvSpPr>
        <p:spPr>
          <a:xfrm>
            <a:off x="7132320" y="4389120"/>
            <a:ext cx="4297680" cy="457200"/>
          </a:xfrm>
          <a:prstGeom prst="rect">
            <a:avLst/>
          </a:prstGeom>
          <a:noFill/>
          <a:ln/>
        </p:spPr>
        <p:txBody>
          <a:bodyPr wrap="square" lIns="0" tIns="0" rIns="0" bIns="0" rtlCol="0" anchor="ctr"/>
          <a:lstStyle/>
          <a:p>
            <a:pPr indent="0" marL="0">
              <a:lnSpc>
                <a:spcPts val="1150"/>
              </a:lnSpc>
              <a:buNone/>
            </a:pPr>
            <a:r>
              <a:rPr lang="en-US" sz="900" dirty="0">
                <a:solidFill>
                  <a:srgbClr val="A9B6CB"/>
                </a:solidFill>
                <a:latin typeface="Arial" pitchFamily="34" charset="0"/>
                <a:ea typeface="Arial" pitchFamily="34" charset="-122"/>
                <a:cs typeface="Arial" pitchFamily="34" charset="-120"/>
              </a:rPr>
              <a:t>Recovered losses plus passenger-funded revenue — for a programme that funds itself from the first sticker sold.</a:t>
            </a:r>
            <a:endParaRPr lang="en-US" sz="900" dirty="0"/>
          </a:p>
        </p:txBody>
      </p:sp>
      <p:sp>
        <p:nvSpPr>
          <p:cNvPr id="13" name="Shape 11"/>
          <p:cNvSpPr/>
          <p:nvPr/>
        </p:nvSpPr>
        <p:spPr>
          <a:xfrm>
            <a:off x="548640" y="5257800"/>
            <a:ext cx="11091672" cy="960120"/>
          </a:xfrm>
          <a:prstGeom prst="rect">
            <a:avLst/>
          </a:prstGeom>
          <a:solidFill>
            <a:srgbClr val="0E2648"/>
          </a:solidFill>
          <a:ln/>
        </p:spPr>
      </p:sp>
      <p:sp>
        <p:nvSpPr>
          <p:cNvPr id="14" name="Shape 12"/>
          <p:cNvSpPr/>
          <p:nvPr/>
        </p:nvSpPr>
        <p:spPr>
          <a:xfrm>
            <a:off x="777240" y="5504688"/>
            <a:ext cx="434340" cy="434340"/>
          </a:xfrm>
          <a:prstGeom prst="roundRect">
            <a:avLst>
              <a:gd name="adj" fmla="val 24000"/>
            </a:avLst>
          </a:prstGeom>
          <a:solidFill>
            <a:srgbClr val="F17400"/>
          </a:solidFill>
          <a:ln/>
        </p:spPr>
      </p:sp>
      <p:sp>
        <p:nvSpPr>
          <p:cNvPr id="15" name="Text 13"/>
          <p:cNvSpPr txBox="1"/>
          <p:nvPr/>
        </p:nvSpPr>
        <p:spPr>
          <a:xfrm>
            <a:off x="777240" y="5504688"/>
            <a:ext cx="434340" cy="434340"/>
          </a:xfrm>
          <a:prstGeom prst="rect">
            <a:avLst/>
          </a:prstGeom>
          <a:noFill/>
          <a:ln/>
        </p:spPr>
        <p:txBody>
          <a:bodyPr wrap="square" lIns="0" tIns="0" rIns="0" bIns="0" rtlCol="0" anchor="ctr"/>
          <a:lstStyle/>
          <a:p>
            <a:pPr algn="ctr" indent="0" marL="0">
              <a:buNone/>
            </a:pPr>
            <a:r>
              <a:rPr lang="en-US" sz="1425" b="1" dirty="0">
                <a:solidFill>
                  <a:srgbClr val="FFFFFF"/>
                </a:solidFill>
                <a:latin typeface="Arial" pitchFamily="34" charset="0"/>
                <a:ea typeface="Arial" pitchFamily="34" charset="-122"/>
                <a:cs typeface="Arial" pitchFamily="34" charset="-120"/>
              </a:rPr>
              <a:t>MD</a:t>
            </a:r>
            <a:endParaRPr lang="en-US" sz="1425" dirty="0"/>
          </a:p>
        </p:txBody>
      </p:sp>
      <p:sp>
        <p:nvSpPr>
          <p:cNvPr id="16" name="Text 14"/>
          <p:cNvSpPr txBox="1"/>
          <p:nvPr/>
        </p:nvSpPr>
        <p:spPr>
          <a:xfrm>
            <a:off x="1315822" y="5486400"/>
            <a:ext cx="3291840" cy="260604"/>
          </a:xfrm>
          <a:prstGeom prst="rect">
            <a:avLst/>
          </a:prstGeom>
          <a:noFill/>
          <a:ln/>
        </p:spPr>
        <p:txBody>
          <a:bodyPr wrap="square" lIns="0" tIns="0" rIns="0" bIns="0" rtlCol="0" anchor="ctr"/>
          <a:lstStyle/>
          <a:p>
            <a:pPr indent="0" marL="0">
              <a:buNone/>
            </a:pPr>
            <a:r>
              <a:rPr lang="en-US" sz="1330" b="1" dirty="0">
                <a:solidFill>
                  <a:srgbClr val="FFFFFF"/>
                </a:solidFill>
                <a:latin typeface="Arial" pitchFamily="34" charset="0"/>
                <a:ea typeface="Arial" pitchFamily="34" charset="-122"/>
                <a:cs typeface="Arial" pitchFamily="34" charset="-120"/>
              </a:rPr>
              <a:t>MR DIGITAG </a:t>
            </a:r>
            <a:pPr indent="0" marL="0">
              <a:buNone/>
            </a:pPr>
            <a:r>
              <a:rPr lang="en-US" sz="1330" b="1" dirty="0">
                <a:solidFill>
                  <a:srgbClr val="F17400"/>
                </a:solidFill>
                <a:latin typeface="Arial" pitchFamily="34" charset="0"/>
                <a:ea typeface="Arial" pitchFamily="34" charset="-122"/>
                <a:cs typeface="Arial" pitchFamily="34" charset="-120"/>
              </a:rPr>
              <a:t>MAN</a:t>
            </a:r>
            <a:endParaRPr lang="en-US" sz="1330" dirty="0"/>
          </a:p>
        </p:txBody>
      </p:sp>
      <p:sp>
        <p:nvSpPr>
          <p:cNvPr id="17" name="Text 15"/>
          <p:cNvSpPr txBox="1"/>
          <p:nvPr/>
        </p:nvSpPr>
        <p:spPr>
          <a:xfrm>
            <a:off x="1324508" y="5739232"/>
            <a:ext cx="3840480" cy="201168"/>
          </a:xfrm>
          <a:prstGeom prst="rect">
            <a:avLst/>
          </a:prstGeom>
          <a:noFill/>
          <a:ln/>
        </p:spPr>
        <p:txBody>
          <a:bodyPr wrap="square" lIns="0" tIns="0" rIns="0" bIns="0" rtlCol="0" anchor="ctr"/>
          <a:lstStyle/>
          <a:p>
            <a:pPr indent="0" marL="0">
              <a:buNone/>
            </a:pPr>
            <a:r>
              <a:rPr lang="en-US" sz="713" spc="160" kern="0" dirty="0">
                <a:solidFill>
                  <a:srgbClr val="7C8BA5"/>
                </a:solidFill>
                <a:latin typeface="Arial" pitchFamily="34" charset="0"/>
                <a:ea typeface="Arial" pitchFamily="34" charset="-122"/>
                <a:cs typeface="Arial" pitchFamily="34" charset="-120"/>
              </a:rPr>
              <a:t>WE ADD VALUE, SECURITY &amp; INTELLIGENCE</a:t>
            </a:r>
            <a:endParaRPr lang="en-US" sz="713" dirty="0"/>
          </a:p>
        </p:txBody>
      </p:sp>
      <p:sp>
        <p:nvSpPr>
          <p:cNvPr id="18" name="Text 16"/>
          <p:cNvSpPr txBox="1"/>
          <p:nvPr/>
        </p:nvSpPr>
        <p:spPr>
          <a:xfrm>
            <a:off x="5669280" y="5440680"/>
            <a:ext cx="5760720" cy="256032"/>
          </a:xfrm>
          <a:prstGeom prst="rect">
            <a:avLst/>
          </a:prstGeom>
          <a:noFill/>
          <a:ln/>
        </p:spPr>
        <p:txBody>
          <a:bodyPr wrap="square" lIns="0" tIns="0" rIns="0" bIns="0" rtlCol="0" anchor="ctr"/>
          <a:lstStyle/>
          <a:p>
            <a:pPr algn="r" indent="0" marL="0">
              <a:buNone/>
            </a:pPr>
            <a:r>
              <a:rPr lang="en-US" sz="950" dirty="0">
                <a:solidFill>
                  <a:srgbClr val="A9B6CB"/>
                </a:solidFill>
                <a:latin typeface="Arial" pitchFamily="34" charset="0"/>
                <a:ea typeface="Arial" pitchFamily="34" charset="-122"/>
                <a:cs typeface="Arial" pitchFamily="34" charset="-120"/>
              </a:rPr>
              <a:t>79 Bellairs Drive, Glenvista, Johannesburg South, 2091</a:t>
            </a:r>
            <a:endParaRPr lang="en-US" sz="950" dirty="0"/>
          </a:p>
        </p:txBody>
      </p:sp>
      <p:sp>
        <p:nvSpPr>
          <p:cNvPr id="19" name="Text 17"/>
          <p:cNvSpPr txBox="1"/>
          <p:nvPr/>
        </p:nvSpPr>
        <p:spPr>
          <a:xfrm>
            <a:off x="5669280" y="5715000"/>
            <a:ext cx="5760720" cy="25603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+27 68 601 8931  ·  sales@mrdigitag.co.za  ·  www.mrdigitag.co.za</a:t>
            </a:r>
            <a:endParaRPr lang="en-US" sz="950" dirty="0"/>
          </a:p>
        </p:txBody>
      </p:sp>
      <p:sp>
        <p:nvSpPr>
          <p:cNvPr id="20" name="Shape 18"/>
          <p:cNvSpPr/>
          <p:nvPr/>
        </p:nvSpPr>
        <p:spPr>
          <a:xfrm>
            <a:off x="0" y="6583680"/>
            <a:ext cx="12191695" cy="274320"/>
          </a:xfrm>
          <a:prstGeom prst="rect">
            <a:avLst/>
          </a:prstGeom>
          <a:solidFill>
            <a:srgbClr val="0E2648"/>
          </a:solidFill>
          <a:ln/>
        </p:spPr>
      </p:sp>
      <p:sp>
        <p:nvSpPr>
          <p:cNvPr id="21" name="Text 19"/>
          <p:cNvSpPr txBox="1"/>
          <p:nvPr/>
        </p:nvSpPr>
        <p:spPr>
          <a:xfrm>
            <a:off x="548640" y="6583680"/>
            <a:ext cx="8229600" cy="274320"/>
          </a:xfrm>
          <a:prstGeom prst="rect">
            <a:avLst/>
          </a:prstGeom>
          <a:noFill/>
          <a:ln/>
        </p:spPr>
        <p:txBody>
          <a:bodyPr wrap="square" lIns="0" tIns="0" rIns="0" bIns="0" rtlCol="0" anchor="ctr"/>
          <a:lstStyle/>
          <a:p>
            <a:pPr indent="0" marL="0">
              <a:buNone/>
            </a:pPr>
            <a:r>
              <a:rPr lang="en-US" sz="750" dirty="0">
                <a:solidFill>
                  <a:srgbClr val="8FA0BC"/>
                </a:solidFill>
                <a:latin typeface="Arial" pitchFamily="34" charset="0"/>
                <a:ea typeface="Arial" pitchFamily="34" charset="-122"/>
                <a:cs typeface="Arial" pitchFamily="34" charset="-120"/>
              </a:rPr>
              <a:t>MR DIGITAG MAN  |  We Add Value, Security &amp; Intelligence  |  Commercial in Confidence</a:t>
            </a:r>
            <a:endParaRPr lang="en-US" sz="750" dirty="0"/>
          </a:p>
        </p:txBody>
      </p:sp>
      <p:sp>
        <p:nvSpPr>
          <p:cNvPr id="22" name="Text 20"/>
          <p:cNvSpPr txBox="1"/>
          <p:nvPr/>
        </p:nvSpPr>
        <p:spPr>
          <a:xfrm>
            <a:off x="10545775" y="6583680"/>
            <a:ext cx="1097280" cy="274320"/>
          </a:xfrm>
          <a:prstGeom prst="rect">
            <a:avLst/>
          </a:prstGeom>
          <a:noFill/>
          <a:ln/>
        </p:spPr>
        <p:txBody>
          <a:bodyPr wrap="square" lIns="0" tIns="0" rIns="0" bIns="0" rtlCol="0" anchor="ctr"/>
          <a:lstStyle/>
          <a:p>
            <a:pPr algn="r" indent="0" marL="0">
              <a:buNone/>
            </a:pPr>
            <a:r>
              <a:rPr lang="en-US" sz="750" dirty="0">
                <a:solidFill>
                  <a:srgbClr val="8FA0BC"/>
                </a:solidFill>
                <a:latin typeface="Arial" pitchFamily="34" charset="0"/>
                <a:ea typeface="Arial" pitchFamily="34" charset="-122"/>
                <a:cs typeface="Arial" pitchFamily="34" charset="-120"/>
              </a:rPr>
              <a:t>29 / 29</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2026-08-27T23:30:49Z</dcterms:created>
  <dcterms:modified xsi:type="dcterms:W3CDTF">2026-08-27T23:30:49Z</dcterms:modified>
</cp:coreProperties>
</file>